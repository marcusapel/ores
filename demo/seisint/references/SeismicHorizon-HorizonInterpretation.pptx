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72" r:id="rId6"/>
  </p:sldMasterIdLst>
  <p:notesMasterIdLst>
    <p:notesMasterId r:id="rId23"/>
  </p:notesMasterIdLst>
  <p:sldIdLst>
    <p:sldId id="8935" r:id="rId7"/>
    <p:sldId id="269" r:id="rId8"/>
    <p:sldId id="2147478656" r:id="rId9"/>
    <p:sldId id="10290" r:id="rId10"/>
    <p:sldId id="2147478655" r:id="rId11"/>
    <p:sldId id="261" r:id="rId12"/>
    <p:sldId id="8933" r:id="rId13"/>
    <p:sldId id="258" r:id="rId14"/>
    <p:sldId id="8938" r:id="rId15"/>
    <p:sldId id="10744" r:id="rId16"/>
    <p:sldId id="10743" r:id="rId17"/>
    <p:sldId id="10736" r:id="rId18"/>
    <p:sldId id="10742" r:id="rId19"/>
    <p:sldId id="10739" r:id="rId20"/>
    <p:sldId id="257" r:id="rId21"/>
    <p:sldId id="8937" r:id="rId22"/>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FECD1F-19E8-4BEE-B574-B8C939DF7191}" v="7" dt="2025-01-21T13:43:48.8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4" d="100"/>
          <a:sy n="104" d="100"/>
        </p:scale>
        <p:origin x="114" y="7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Apel" userId="b97121e4-2d6d-4965-bf00-4795c65497f8" providerId="ADAL" clId="{3D4A0156-3B2A-471F-B39F-8BDA1B30B96B}"/>
    <pc:docChg chg="undo custSel addSld delSld modSld sldOrd">
      <pc:chgData name="Marcus Apel" userId="b97121e4-2d6d-4965-bf00-4795c65497f8" providerId="ADAL" clId="{3D4A0156-3B2A-471F-B39F-8BDA1B30B96B}" dt="2024-09-25T13:29:29.934" v="69" actId="1076"/>
      <pc:docMkLst>
        <pc:docMk/>
      </pc:docMkLst>
      <pc:sldChg chg="modSp mod">
        <pc:chgData name="Marcus Apel" userId="b97121e4-2d6d-4965-bf00-4795c65497f8" providerId="ADAL" clId="{3D4A0156-3B2A-471F-B39F-8BDA1B30B96B}" dt="2024-09-12T08:12:26.177" v="64" actId="20577"/>
        <pc:sldMkLst>
          <pc:docMk/>
          <pc:sldMk cId="3885958452" sldId="258"/>
        </pc:sldMkLst>
      </pc:sldChg>
      <pc:sldChg chg="modSp mod">
        <pc:chgData name="Marcus Apel" userId="b97121e4-2d6d-4965-bf00-4795c65497f8" providerId="ADAL" clId="{3D4A0156-3B2A-471F-B39F-8BDA1B30B96B}" dt="2024-09-12T08:23:38.614" v="66"/>
        <pc:sldMkLst>
          <pc:docMk/>
          <pc:sldMk cId="3192524316" sldId="8933"/>
        </pc:sldMkLst>
      </pc:sldChg>
      <pc:sldChg chg="modSp mod">
        <pc:chgData name="Marcus Apel" userId="b97121e4-2d6d-4965-bf00-4795c65497f8" providerId="ADAL" clId="{3D4A0156-3B2A-471F-B39F-8BDA1B30B96B}" dt="2024-09-16T09:58:48.740" v="68" actId="20577"/>
        <pc:sldMkLst>
          <pc:docMk/>
          <pc:sldMk cId="3509299233" sldId="8936"/>
        </pc:sldMkLst>
      </pc:sldChg>
      <pc:sldChg chg="modSp new mod">
        <pc:chgData name="Marcus Apel" userId="b97121e4-2d6d-4965-bf00-4795c65497f8" providerId="ADAL" clId="{3D4A0156-3B2A-471F-B39F-8BDA1B30B96B}" dt="2024-09-12T07:55:43.835" v="34" actId="6549"/>
        <pc:sldMkLst>
          <pc:docMk/>
          <pc:sldMk cId="3727406440" sldId="8937"/>
        </pc:sldMkLst>
      </pc:sldChg>
      <pc:sldChg chg="addSp delSp modSp new mod ord">
        <pc:chgData name="Marcus Apel" userId="b97121e4-2d6d-4965-bf00-4795c65497f8" providerId="ADAL" clId="{3D4A0156-3B2A-471F-B39F-8BDA1B30B96B}" dt="2024-09-25T13:29:29.934" v="69" actId="1076"/>
        <pc:sldMkLst>
          <pc:docMk/>
          <pc:sldMk cId="1699911482" sldId="8938"/>
        </pc:sldMkLst>
      </pc:sldChg>
      <pc:sldChg chg="add">
        <pc:chgData name="Marcus Apel" userId="b97121e4-2d6d-4965-bf00-4795c65497f8" providerId="ADAL" clId="{3D4A0156-3B2A-471F-B39F-8BDA1B30B96B}" dt="2024-09-12T08:01:23.164" v="35"/>
        <pc:sldMkLst>
          <pc:docMk/>
          <pc:sldMk cId="601724253" sldId="10736"/>
        </pc:sldMkLst>
      </pc:sldChg>
      <pc:sldChg chg="add">
        <pc:chgData name="Marcus Apel" userId="b97121e4-2d6d-4965-bf00-4795c65497f8" providerId="ADAL" clId="{3D4A0156-3B2A-471F-B39F-8BDA1B30B96B}" dt="2024-09-12T08:01:23.164" v="35"/>
        <pc:sldMkLst>
          <pc:docMk/>
          <pc:sldMk cId="4262761040" sldId="10739"/>
        </pc:sldMkLst>
      </pc:sldChg>
      <pc:sldChg chg="add del">
        <pc:chgData name="Marcus Apel" userId="b97121e4-2d6d-4965-bf00-4795c65497f8" providerId="ADAL" clId="{3D4A0156-3B2A-471F-B39F-8BDA1B30B96B}" dt="2024-09-12T08:27:27.039" v="67" actId="47"/>
        <pc:sldMkLst>
          <pc:docMk/>
          <pc:sldMk cId="1999283789" sldId="10740"/>
        </pc:sldMkLst>
      </pc:sldChg>
      <pc:sldChg chg="modSp add mod">
        <pc:chgData name="Marcus Apel" userId="b97121e4-2d6d-4965-bf00-4795c65497f8" providerId="ADAL" clId="{3D4A0156-3B2A-471F-B39F-8BDA1B30B96B}" dt="2024-09-12T08:01:23.227" v="36" actId="27636"/>
        <pc:sldMkLst>
          <pc:docMk/>
          <pc:sldMk cId="338908718" sldId="10742"/>
        </pc:sldMkLst>
      </pc:sldChg>
    </pc:docChg>
  </pc:docChgLst>
  <pc:docChgLst>
    <pc:chgData name="Marcus Apel" userId="b97121e4-2d6d-4965-bf00-4795c65497f8" providerId="ADAL" clId="{DAB789B9-825A-4FD2-B4D1-AE08BA7B50CC}"/>
    <pc:docChg chg="undo custSel addSld delSld modSld sldOrd">
      <pc:chgData name="Marcus Apel" userId="b97121e4-2d6d-4965-bf00-4795c65497f8" providerId="ADAL" clId="{DAB789B9-825A-4FD2-B4D1-AE08BA7B50CC}" dt="2024-10-18T14:35:47.318" v="1212" actId="20577"/>
      <pc:docMkLst>
        <pc:docMk/>
      </pc:docMkLst>
      <pc:sldChg chg="modSp mod">
        <pc:chgData name="Marcus Apel" userId="b97121e4-2d6d-4965-bf00-4795c65497f8" providerId="ADAL" clId="{DAB789B9-825A-4FD2-B4D1-AE08BA7B50CC}" dt="2024-10-15T13:22:59.790" v="1071" actId="20577"/>
        <pc:sldMkLst>
          <pc:docMk/>
          <pc:sldMk cId="3292975618" sldId="257"/>
        </pc:sldMkLst>
      </pc:sldChg>
      <pc:sldChg chg="delSp modSp mod">
        <pc:chgData name="Marcus Apel" userId="b97121e4-2d6d-4965-bf00-4795c65497f8" providerId="ADAL" clId="{DAB789B9-825A-4FD2-B4D1-AE08BA7B50CC}" dt="2024-10-18T14:35:47.260" v="1210" actId="14100"/>
        <pc:sldMkLst>
          <pc:docMk/>
          <pc:sldMk cId="3885958452" sldId="258"/>
        </pc:sldMkLst>
      </pc:sldChg>
      <pc:sldChg chg="modSp mod">
        <pc:chgData name="Marcus Apel" userId="b97121e4-2d6d-4965-bf00-4795c65497f8" providerId="ADAL" clId="{DAB789B9-825A-4FD2-B4D1-AE08BA7B50CC}" dt="2024-10-15T13:20:58.933" v="1054" actId="404"/>
        <pc:sldMkLst>
          <pc:docMk/>
          <pc:sldMk cId="3192524316" sldId="8933"/>
        </pc:sldMkLst>
      </pc:sldChg>
      <pc:sldChg chg="addSp delSp modSp mod">
        <pc:chgData name="Marcus Apel" userId="b97121e4-2d6d-4965-bf00-4795c65497f8" providerId="ADAL" clId="{DAB789B9-825A-4FD2-B4D1-AE08BA7B50CC}" dt="2024-10-18T14:35:47.318" v="1212" actId="20577"/>
        <pc:sldMkLst>
          <pc:docMk/>
          <pc:sldMk cId="98663546" sldId="8935"/>
        </pc:sldMkLst>
      </pc:sldChg>
      <pc:sldChg chg="del">
        <pc:chgData name="Marcus Apel" userId="b97121e4-2d6d-4965-bf00-4795c65497f8" providerId="ADAL" clId="{DAB789B9-825A-4FD2-B4D1-AE08BA7B50CC}" dt="2024-10-11T08:35:21.667" v="84" actId="47"/>
        <pc:sldMkLst>
          <pc:docMk/>
          <pc:sldMk cId="3509299233" sldId="8936"/>
        </pc:sldMkLst>
      </pc:sldChg>
      <pc:sldChg chg="ord">
        <pc:chgData name="Marcus Apel" userId="b97121e4-2d6d-4965-bf00-4795c65497f8" providerId="ADAL" clId="{DAB789B9-825A-4FD2-B4D1-AE08BA7B50CC}" dt="2024-10-15T13:22:09.961" v="1061"/>
        <pc:sldMkLst>
          <pc:docMk/>
          <pc:sldMk cId="1699911482" sldId="8938"/>
        </pc:sldMkLst>
      </pc:sldChg>
      <pc:sldChg chg="modSp mod">
        <pc:chgData name="Marcus Apel" userId="b97121e4-2d6d-4965-bf00-4795c65497f8" providerId="ADAL" clId="{DAB789B9-825A-4FD2-B4D1-AE08BA7B50CC}" dt="2024-10-15T13:21:46.178" v="1059" actId="1076"/>
        <pc:sldMkLst>
          <pc:docMk/>
          <pc:sldMk cId="4262761040" sldId="10739"/>
        </pc:sldMkLst>
      </pc:sldChg>
      <pc:sldChg chg="modSp new mod ord setBg">
        <pc:chgData name="Marcus Apel" userId="b97121e4-2d6d-4965-bf00-4795c65497f8" providerId="ADAL" clId="{DAB789B9-825A-4FD2-B4D1-AE08BA7B50CC}" dt="2024-10-15T13:22:18.554" v="1063"/>
        <pc:sldMkLst>
          <pc:docMk/>
          <pc:sldMk cId="1567872457" sldId="10743"/>
        </pc:sldMkLst>
      </pc:sldChg>
      <pc:sldChg chg="modSp new mod ord">
        <pc:chgData name="Marcus Apel" userId="b97121e4-2d6d-4965-bf00-4795c65497f8" providerId="ADAL" clId="{DAB789B9-825A-4FD2-B4D1-AE08BA7B50CC}" dt="2024-10-15T13:19:43.630" v="1014" actId="403"/>
        <pc:sldMkLst>
          <pc:docMk/>
          <pc:sldMk cId="2954038823" sldId="10744"/>
        </pc:sldMkLst>
      </pc:sldChg>
    </pc:docChg>
  </pc:docChgLst>
  <pc:docChgLst>
    <pc:chgData name="Marcus Apel" userId="b97121e4-2d6d-4965-bf00-4795c65497f8" providerId="ADAL" clId="{CFFECD1F-19E8-4BEE-B574-B8C939DF7191}"/>
    <pc:docChg chg="custSel addSld delSld modSld sldOrd">
      <pc:chgData name="Marcus Apel" userId="b97121e4-2d6d-4965-bf00-4795c65497f8" providerId="ADAL" clId="{CFFECD1F-19E8-4BEE-B574-B8C939DF7191}" dt="2025-02-06T12:53:26.102" v="305" actId="20577"/>
      <pc:docMkLst>
        <pc:docMk/>
      </pc:docMkLst>
      <pc:sldChg chg="modSp mod">
        <pc:chgData name="Marcus Apel" userId="b97121e4-2d6d-4965-bf00-4795c65497f8" providerId="ADAL" clId="{CFFECD1F-19E8-4BEE-B574-B8C939DF7191}" dt="2025-01-21T14:26:22.805" v="304" actId="20577"/>
        <pc:sldMkLst>
          <pc:docMk/>
          <pc:sldMk cId="3885958452" sldId="258"/>
        </pc:sldMkLst>
        <pc:spChg chg="mod">
          <ac:chgData name="Marcus Apel" userId="b97121e4-2d6d-4965-bf00-4795c65497f8" providerId="ADAL" clId="{CFFECD1F-19E8-4BEE-B574-B8C939DF7191}" dt="2024-12-12T09:02:22.324" v="182" actId="20577"/>
          <ac:spMkLst>
            <pc:docMk/>
            <pc:sldMk cId="3885958452" sldId="258"/>
            <ac:spMk id="4" creationId="{479BAB39-F4EF-4B83-AD4A-9FBD5878B5E3}"/>
          </ac:spMkLst>
        </pc:spChg>
        <pc:spChg chg="mod">
          <ac:chgData name="Marcus Apel" userId="b97121e4-2d6d-4965-bf00-4795c65497f8" providerId="ADAL" clId="{CFFECD1F-19E8-4BEE-B574-B8C939DF7191}" dt="2024-12-12T09:02:29.625" v="183" actId="14100"/>
          <ac:spMkLst>
            <pc:docMk/>
            <pc:sldMk cId="3885958452" sldId="258"/>
            <ac:spMk id="41" creationId="{35347326-309B-4A9D-B12C-C4FABC487AFE}"/>
          </ac:spMkLst>
        </pc:spChg>
        <pc:spChg chg="mod">
          <ac:chgData name="Marcus Apel" userId="b97121e4-2d6d-4965-bf00-4795c65497f8" providerId="ADAL" clId="{CFFECD1F-19E8-4BEE-B574-B8C939DF7191}" dt="2025-01-21T14:26:22.805" v="304" actId="20577"/>
          <ac:spMkLst>
            <pc:docMk/>
            <pc:sldMk cId="3885958452" sldId="258"/>
            <ac:spMk id="84" creationId="{D5D0B2B6-7D59-48CD-B706-CCCD8F1C3FDB}"/>
          </ac:spMkLst>
        </pc:spChg>
        <pc:cxnChg chg="mod">
          <ac:chgData name="Marcus Apel" userId="b97121e4-2d6d-4965-bf00-4795c65497f8" providerId="ADAL" clId="{CFFECD1F-19E8-4BEE-B574-B8C939DF7191}" dt="2024-12-12T09:02:29.625" v="183" actId="14100"/>
          <ac:cxnSpMkLst>
            <pc:docMk/>
            <pc:sldMk cId="3885958452" sldId="258"/>
            <ac:cxnSpMk id="51" creationId="{D206C5C6-D450-4A00-A76C-6D07129501B1}"/>
          </ac:cxnSpMkLst>
        </pc:cxnChg>
      </pc:sldChg>
      <pc:sldChg chg="modSp add mod ord">
        <pc:chgData name="Marcus Apel" userId="b97121e4-2d6d-4965-bf00-4795c65497f8" providerId="ADAL" clId="{CFFECD1F-19E8-4BEE-B574-B8C939DF7191}" dt="2025-01-21T13:44:07.088" v="303" actId="20577"/>
        <pc:sldMkLst>
          <pc:docMk/>
          <pc:sldMk cId="3541714235" sldId="269"/>
        </pc:sldMkLst>
        <pc:spChg chg="mod">
          <ac:chgData name="Marcus Apel" userId="b97121e4-2d6d-4965-bf00-4795c65497f8" providerId="ADAL" clId="{CFFECD1F-19E8-4BEE-B574-B8C939DF7191}" dt="2024-12-02T11:00:30.169" v="52" actId="27636"/>
          <ac:spMkLst>
            <pc:docMk/>
            <pc:sldMk cId="3541714235" sldId="269"/>
            <ac:spMk id="2" creationId="{E47ACFD7-1AFA-AA2C-70E1-D9576F4ED0E7}"/>
          </ac:spMkLst>
        </pc:spChg>
        <pc:graphicFrameChg chg="mod modGraphic">
          <ac:chgData name="Marcus Apel" userId="b97121e4-2d6d-4965-bf00-4795c65497f8" providerId="ADAL" clId="{CFFECD1F-19E8-4BEE-B574-B8C939DF7191}" dt="2025-01-21T13:44:07.088" v="303" actId="20577"/>
          <ac:graphicFrameMkLst>
            <pc:docMk/>
            <pc:sldMk cId="3541714235" sldId="269"/>
            <ac:graphicFrameMk id="4" creationId="{F8F96457-F217-9557-9A48-FF060E324FF8}"/>
          </ac:graphicFrameMkLst>
        </pc:graphicFrameChg>
      </pc:sldChg>
      <pc:sldChg chg="modSp mod">
        <pc:chgData name="Marcus Apel" userId="b97121e4-2d6d-4965-bf00-4795c65497f8" providerId="ADAL" clId="{CFFECD1F-19E8-4BEE-B574-B8C939DF7191}" dt="2024-12-12T08:59:02.845" v="178" actId="20577"/>
        <pc:sldMkLst>
          <pc:docMk/>
          <pc:sldMk cId="3192524316" sldId="8933"/>
        </pc:sldMkLst>
        <pc:spChg chg="mod">
          <ac:chgData name="Marcus Apel" userId="b97121e4-2d6d-4965-bf00-4795c65497f8" providerId="ADAL" clId="{CFFECD1F-19E8-4BEE-B574-B8C939DF7191}" dt="2024-12-12T08:57:55.052" v="128" actId="20577"/>
          <ac:spMkLst>
            <pc:docMk/>
            <pc:sldMk cId="3192524316" sldId="8933"/>
            <ac:spMk id="19" creationId="{41F1592A-6071-4055-B29C-955CCE0A15AC}"/>
          </ac:spMkLst>
        </pc:spChg>
        <pc:spChg chg="mod">
          <ac:chgData name="Marcus Apel" userId="b97121e4-2d6d-4965-bf00-4795c65497f8" providerId="ADAL" clId="{CFFECD1F-19E8-4BEE-B574-B8C939DF7191}" dt="2024-12-12T08:59:02.845" v="178" actId="20577"/>
          <ac:spMkLst>
            <pc:docMk/>
            <pc:sldMk cId="3192524316" sldId="8933"/>
            <ac:spMk id="20" creationId="{9E0385AF-AB7F-4131-B09B-436434D22292}"/>
          </ac:spMkLst>
        </pc:spChg>
      </pc:sldChg>
      <pc:sldChg chg="modSp mod">
        <pc:chgData name="Marcus Apel" userId="b97121e4-2d6d-4965-bf00-4795c65497f8" providerId="ADAL" clId="{CFFECD1F-19E8-4BEE-B574-B8C939DF7191}" dt="2024-12-10T12:02:21.514" v="82" actId="20577"/>
        <pc:sldMkLst>
          <pc:docMk/>
          <pc:sldMk cId="98663546" sldId="8935"/>
        </pc:sldMkLst>
        <pc:spChg chg="mod">
          <ac:chgData name="Marcus Apel" userId="b97121e4-2d6d-4965-bf00-4795c65497f8" providerId="ADAL" clId="{CFFECD1F-19E8-4BEE-B574-B8C939DF7191}" dt="2024-12-10T12:02:21.514" v="82" actId="20577"/>
          <ac:spMkLst>
            <pc:docMk/>
            <pc:sldMk cId="98663546" sldId="8935"/>
            <ac:spMk id="4" creationId="{5426C821-DC7A-4187-9B18-5E47CD3E9871}"/>
          </ac:spMkLst>
        </pc:spChg>
      </pc:sldChg>
      <pc:sldChg chg="delSp add del mod">
        <pc:chgData name="Marcus Apel" userId="b97121e4-2d6d-4965-bf00-4795c65497f8" providerId="ADAL" clId="{CFFECD1F-19E8-4BEE-B574-B8C939DF7191}" dt="2025-01-16T08:48:32.437" v="191" actId="47"/>
        <pc:sldMkLst>
          <pc:docMk/>
          <pc:sldMk cId="895494508" sldId="10289"/>
        </pc:sldMkLst>
      </pc:sldChg>
      <pc:sldChg chg="delSp modSp add mod">
        <pc:chgData name="Marcus Apel" userId="b97121e4-2d6d-4965-bf00-4795c65497f8" providerId="ADAL" clId="{CFFECD1F-19E8-4BEE-B574-B8C939DF7191}" dt="2025-01-20T11:57:28.527" v="209" actId="6549"/>
        <pc:sldMkLst>
          <pc:docMk/>
          <pc:sldMk cId="2360213913" sldId="10290"/>
        </pc:sldMkLst>
        <pc:spChg chg="mod">
          <ac:chgData name="Marcus Apel" userId="b97121e4-2d6d-4965-bf00-4795c65497f8" providerId="ADAL" clId="{CFFECD1F-19E8-4BEE-B574-B8C939DF7191}" dt="2025-01-20T11:57:28.527" v="209" actId="6549"/>
          <ac:spMkLst>
            <pc:docMk/>
            <pc:sldMk cId="2360213913" sldId="10290"/>
            <ac:spMk id="6" creationId="{FD0D75F5-96D1-9616-191A-87C1A215527E}"/>
          </ac:spMkLst>
        </pc:spChg>
        <pc:spChg chg="mod">
          <ac:chgData name="Marcus Apel" userId="b97121e4-2d6d-4965-bf00-4795c65497f8" providerId="ADAL" clId="{CFFECD1F-19E8-4BEE-B574-B8C939DF7191}" dt="2025-01-20T11:57:23.840" v="208" actId="20577"/>
          <ac:spMkLst>
            <pc:docMk/>
            <pc:sldMk cId="2360213913" sldId="10290"/>
            <ac:spMk id="8" creationId="{BE30B005-4348-2068-1593-2EB9988AF7A2}"/>
          </ac:spMkLst>
        </pc:spChg>
      </pc:sldChg>
      <pc:sldChg chg="new del">
        <pc:chgData name="Marcus Apel" userId="b97121e4-2d6d-4965-bf00-4795c65497f8" providerId="ADAL" clId="{CFFECD1F-19E8-4BEE-B574-B8C939DF7191}" dt="2024-12-02T10:57:56.672" v="2" actId="47"/>
        <pc:sldMkLst>
          <pc:docMk/>
          <pc:sldMk cId="1511901041" sldId="10745"/>
        </pc:sldMkLst>
      </pc:sldChg>
      <pc:sldChg chg="modSp new del mod ord">
        <pc:chgData name="Marcus Apel" userId="b97121e4-2d6d-4965-bf00-4795c65497f8" providerId="ADAL" clId="{CFFECD1F-19E8-4BEE-B574-B8C939DF7191}" dt="2024-12-02T12:27:45.439" v="58" actId="47"/>
        <pc:sldMkLst>
          <pc:docMk/>
          <pc:sldMk cId="3107105016" sldId="10745"/>
        </pc:sldMkLst>
      </pc:sldChg>
      <pc:sldChg chg="new del">
        <pc:chgData name="Marcus Apel" userId="b97121e4-2d6d-4965-bf00-4795c65497f8" providerId="ADAL" clId="{CFFECD1F-19E8-4BEE-B574-B8C939DF7191}" dt="2024-12-02T10:57:57.541" v="3" actId="47"/>
        <pc:sldMkLst>
          <pc:docMk/>
          <pc:sldMk cId="4017788934" sldId="10746"/>
        </pc:sldMkLst>
      </pc:sldChg>
      <pc:sldChg chg="addSp modSp add mod">
        <pc:chgData name="Marcus Apel" userId="b97121e4-2d6d-4965-bf00-4795c65497f8" providerId="ADAL" clId="{CFFECD1F-19E8-4BEE-B574-B8C939DF7191}" dt="2024-12-02T12:29:44.019" v="81" actId="164"/>
        <pc:sldMkLst>
          <pc:docMk/>
          <pc:sldMk cId="444830816" sldId="2147478655"/>
        </pc:sldMkLst>
        <pc:spChg chg="add mod">
          <ac:chgData name="Marcus Apel" userId="b97121e4-2d6d-4965-bf00-4795c65497f8" providerId="ADAL" clId="{CFFECD1F-19E8-4BEE-B574-B8C939DF7191}" dt="2024-12-02T12:29:44.019" v="81" actId="164"/>
          <ac:spMkLst>
            <pc:docMk/>
            <pc:sldMk cId="444830816" sldId="2147478655"/>
            <ac:spMk id="3" creationId="{547A0345-88D5-B07C-D5A3-7A661D8D9A2E}"/>
          </ac:spMkLst>
        </pc:spChg>
        <pc:grpChg chg="add mod">
          <ac:chgData name="Marcus Apel" userId="b97121e4-2d6d-4965-bf00-4795c65497f8" providerId="ADAL" clId="{CFFECD1F-19E8-4BEE-B574-B8C939DF7191}" dt="2024-12-02T12:29:44.019" v="81" actId="164"/>
          <ac:grpSpMkLst>
            <pc:docMk/>
            <pc:sldMk cId="444830816" sldId="2147478655"/>
            <ac:grpSpMk id="4" creationId="{4CBAD39E-972F-D03D-BFA1-CD8A0335284A}"/>
          </ac:grpSpMkLst>
        </pc:grpChg>
        <pc:picChg chg="mod">
          <ac:chgData name="Marcus Apel" userId="b97121e4-2d6d-4965-bf00-4795c65497f8" providerId="ADAL" clId="{CFFECD1F-19E8-4BEE-B574-B8C939DF7191}" dt="2024-12-02T12:29:44.019" v="81" actId="164"/>
          <ac:picMkLst>
            <pc:docMk/>
            <pc:sldMk cId="444830816" sldId="2147478655"/>
            <ac:picMk id="12" creationId="{65EE3115-823B-CF3D-973F-6B2B655AA595}"/>
          </ac:picMkLst>
        </pc:picChg>
      </pc:sldChg>
      <pc:sldChg chg="delSp modSp add mod">
        <pc:chgData name="Marcus Apel" userId="b97121e4-2d6d-4965-bf00-4795c65497f8" providerId="ADAL" clId="{CFFECD1F-19E8-4BEE-B574-B8C939DF7191}" dt="2025-02-06T12:53:26.102" v="305" actId="20577"/>
        <pc:sldMkLst>
          <pc:docMk/>
          <pc:sldMk cId="748954440" sldId="2147478656"/>
        </pc:sldMkLst>
        <pc:spChg chg="mod">
          <ac:chgData name="Marcus Apel" userId="b97121e4-2d6d-4965-bf00-4795c65497f8" providerId="ADAL" clId="{CFFECD1F-19E8-4BEE-B574-B8C939DF7191}" dt="2025-02-06T12:53:26.102" v="305" actId="20577"/>
          <ac:spMkLst>
            <pc:docMk/>
            <pc:sldMk cId="748954440" sldId="2147478656"/>
            <ac:spMk id="9" creationId="{CA6B5B5D-F522-7060-4ED2-AA5E8E65F065}"/>
          </ac:spMkLst>
        </pc:spChg>
        <pc:spChg chg="mod">
          <ac:chgData name="Marcus Apel" userId="b97121e4-2d6d-4965-bf00-4795c65497f8" providerId="ADAL" clId="{CFFECD1F-19E8-4BEE-B574-B8C939DF7191}" dt="2025-01-20T12:32:23.614" v="259" actId="6549"/>
          <ac:spMkLst>
            <pc:docMk/>
            <pc:sldMk cId="748954440" sldId="2147478656"/>
            <ac:spMk id="11" creationId="{FFCBCCAC-4E4D-0B13-FC6D-7A942D0C4E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6D2359A9-7263-4755-972D-39A4888A4586}" type="datetimeFigureOut">
              <a:rPr lang="en-US" smtClean="0"/>
              <a:t>2/6/2025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ED6B17AC-EE9F-4928-BF0A-336DC8EF1AFC}" type="slidenum">
              <a:rPr lang="en-US" smtClean="0"/>
              <a:t>‹#›</a:t>
            </a:fld>
            <a:endParaRPr lang="en-US"/>
          </a:p>
        </p:txBody>
      </p:sp>
    </p:spTree>
    <p:extLst>
      <p:ext uri="{BB962C8B-B14F-4D97-AF65-F5344CB8AC3E}">
        <p14:creationId xmlns:p14="http://schemas.microsoft.com/office/powerpoint/2010/main" val="1185773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463040" rtl="0" eaLnBrk="1" fontAlgn="auto" latinLnBrk="0" hangingPunct="1">
              <a:lnSpc>
                <a:spcPct val="100000"/>
              </a:lnSpc>
              <a:spcBef>
                <a:spcPts val="0"/>
              </a:spcBef>
              <a:spcAft>
                <a:spcPts val="0"/>
              </a:spcAft>
              <a:buClrTx/>
              <a:buSzTx/>
              <a:buFontTx/>
              <a:buNone/>
              <a:tabLst/>
              <a:defRPr/>
            </a:pPr>
            <a:fld id="{59421096-40DC-4CF7-A270-C43201F0ED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46304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983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dirty="0"/>
              <a:t>After February 1</a:t>
            </a:r>
            <a:r>
              <a:rPr lang="en-GB" baseline="30000" dirty="0"/>
              <a:t>st</a:t>
            </a:r>
            <a:r>
              <a:rPr lang="en-GB" dirty="0"/>
              <a:t>. We set out on a new task. To share seismic interpretation data through RDDMS.</a:t>
            </a:r>
          </a:p>
          <a:p>
            <a:pPr marL="0" indent="0">
              <a:buFontTx/>
              <a:buNone/>
            </a:pPr>
            <a:endParaRPr lang="en-GB" dirty="0"/>
          </a:p>
          <a:p>
            <a:pPr marL="0" indent="0">
              <a:buFontTx/>
              <a:buNone/>
            </a:pPr>
            <a:r>
              <a:rPr lang="en-GB" dirty="0"/>
              <a:t>RDDMS is currently an experimental feature in the community version of OSDU, and not yet available in ADME. Therefore, Microsoft set up a standalone version of RDDMS, so that we could start on the functional testing. </a:t>
            </a:r>
          </a:p>
          <a:p>
            <a:pPr marL="0" indent="0">
              <a:buFontTx/>
              <a:buNone/>
            </a:pPr>
            <a:endParaRPr lang="en-GB" dirty="0"/>
          </a:p>
          <a:p>
            <a:pPr marL="0" indent="0">
              <a:buFontTx/>
              <a:buNone/>
            </a:pPr>
            <a:r>
              <a:rPr lang="en-GB" dirty="0"/>
              <a:t>This is when we onboarded AspenTech and set a new goal – share surfaces through RDDMS before April 1st. </a:t>
            </a:r>
            <a:br>
              <a:rPr lang="en-GB" dirty="0"/>
            </a:br>
            <a:br>
              <a:rPr lang="en-GB" dirty="0"/>
            </a:br>
            <a:r>
              <a:rPr lang="en-GB" dirty="0"/>
              <a:t>Did we make it? </a:t>
            </a:r>
          </a:p>
          <a:p>
            <a:pPr marL="0" indent="0">
              <a:buFontTx/>
              <a:buNone/>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AF23C-C7DB-451B-8C7C-02946486AEC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3862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 Id="rId5" Type="http://schemas.openxmlformats.org/officeDocument/2006/relationships/image" Target="../media/image1.pn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657A5-BC67-4531-A08C-B4718B5AE9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47E34B-ADFF-4540-85AD-383198753B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9DC115-D464-4AA2-859A-BB2ECA0A1FF7}"/>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5" name="Footer Placeholder 4">
            <a:extLst>
              <a:ext uri="{FF2B5EF4-FFF2-40B4-BE49-F238E27FC236}">
                <a16:creationId xmlns:a16="http://schemas.microsoft.com/office/drawing/2014/main" id="{4D1D0895-F766-41EF-A552-363412FD1A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C0F25-85A0-44CD-BED3-7310EE35F470}"/>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3698976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ED038-D8A7-449B-8EC9-5A7E19B55D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D7F43A-80DD-4347-AF54-444E72983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F5194-FF1E-4753-8288-58E93A09D96D}"/>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5" name="Footer Placeholder 4">
            <a:extLst>
              <a:ext uri="{FF2B5EF4-FFF2-40B4-BE49-F238E27FC236}">
                <a16:creationId xmlns:a16="http://schemas.microsoft.com/office/drawing/2014/main" id="{7A4FC8C8-2AD6-4B3A-8E52-46311798BB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0DFACA-25C5-4C83-BB2F-0FBABACF5B65}"/>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1116132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6CEF9-CCF5-4F4C-89E0-924E390829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B4D894-475F-46F5-8FC3-63BC8E7E78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888AD4-D4D0-4E76-AE7D-E7047FE29DDC}"/>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5" name="Footer Placeholder 4">
            <a:extLst>
              <a:ext uri="{FF2B5EF4-FFF2-40B4-BE49-F238E27FC236}">
                <a16:creationId xmlns:a16="http://schemas.microsoft.com/office/drawing/2014/main" id="{B6B2E527-A42D-402B-9E76-AC5497844B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5CA5CA-9ED6-44A6-AF1D-30121FD2E236}"/>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364596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42C34-58D7-4061-8365-881E6D875F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FA6BBE-ED99-4434-B94B-1EE926412D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8D9518-18E6-42FF-A678-DE5FC2E904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12B98C-4E89-4742-9FF7-E161E3C9E8DB}"/>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6" name="Footer Placeholder 5">
            <a:extLst>
              <a:ext uri="{FF2B5EF4-FFF2-40B4-BE49-F238E27FC236}">
                <a16:creationId xmlns:a16="http://schemas.microsoft.com/office/drawing/2014/main" id="{F88B1E10-1CEC-4F84-9351-F1E7C3B6FF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D556FC-511E-4415-8A9C-F88DED9385E2}"/>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2067812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D2A0-1C8B-483B-8D14-33711499F8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929B7D-D7DC-4922-9E5F-935FF64F3E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0ECF11-0E96-4C86-BB09-D3242B55C0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10751B-E7C8-411D-AB43-F23EA5AB1E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D186E1-05A3-4FAD-AC62-3654109EEB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CA4C49-E973-4CFA-8E9E-C08EE6C39D6D}"/>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8" name="Footer Placeholder 7">
            <a:extLst>
              <a:ext uri="{FF2B5EF4-FFF2-40B4-BE49-F238E27FC236}">
                <a16:creationId xmlns:a16="http://schemas.microsoft.com/office/drawing/2014/main" id="{DE6E218E-D5D4-4F64-8A04-53DCC0605E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2FBEC3-8371-4B70-82BB-B4C323B74425}"/>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2857301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BB400-A70E-4DC9-926C-0DE3D2D797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2D9543-9943-4346-B359-ED0BFE2B31C5}"/>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4" name="Footer Placeholder 3">
            <a:extLst>
              <a:ext uri="{FF2B5EF4-FFF2-40B4-BE49-F238E27FC236}">
                <a16:creationId xmlns:a16="http://schemas.microsoft.com/office/drawing/2014/main" id="{BC10F5B9-C772-4277-971F-590B4BDEFB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C81CDF-3821-429C-84D9-ADA435AF2F50}"/>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2981674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155B13-B02A-4D6B-A647-E21E50CD3E4E}"/>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3" name="Footer Placeholder 2">
            <a:extLst>
              <a:ext uri="{FF2B5EF4-FFF2-40B4-BE49-F238E27FC236}">
                <a16:creationId xmlns:a16="http://schemas.microsoft.com/office/drawing/2014/main" id="{E2E8AC37-6D92-4541-B6B1-A83F945F7C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094DF4-444E-42A2-8CBD-30442B7BDF37}"/>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250401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39724-9BAB-47B1-9E87-508159ADE7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7FCE7D-8784-494D-A8D2-3B1F8C72E1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5F3783-E49A-4910-873B-1F3C08FDE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6DEF73-DCF5-4814-9B52-DAF67F1539BD}"/>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6" name="Footer Placeholder 5">
            <a:extLst>
              <a:ext uri="{FF2B5EF4-FFF2-40B4-BE49-F238E27FC236}">
                <a16:creationId xmlns:a16="http://schemas.microsoft.com/office/drawing/2014/main" id="{00A3BE9B-BF2B-4AF2-AE23-D1C0ACF210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CA52F-ABC6-4490-B1C3-3401B4768B1E}"/>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545754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DB913-16D0-40B2-9C83-FFC9E641E0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E8F4C3-2181-45CE-B657-3B5F185B47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7608FD-7ED5-4B50-8702-F0FF2F21C6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D8D003-BAC2-42A5-8BA2-8D28ABD261EC}"/>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6" name="Footer Placeholder 5">
            <a:extLst>
              <a:ext uri="{FF2B5EF4-FFF2-40B4-BE49-F238E27FC236}">
                <a16:creationId xmlns:a16="http://schemas.microsoft.com/office/drawing/2014/main" id="{FED9D6C9-A3E8-4417-915F-A10BC62009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BA5419-D4B2-4D1C-9CDE-091FFFEF4974}"/>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218135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6A3DB-2AF1-4E00-A659-AECFC83793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52DBA7-7B06-43B7-9DFC-0A94590CEC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5A5707-3707-44B0-BB1D-B184389E3EEC}"/>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5" name="Footer Placeholder 4">
            <a:extLst>
              <a:ext uri="{FF2B5EF4-FFF2-40B4-BE49-F238E27FC236}">
                <a16:creationId xmlns:a16="http://schemas.microsoft.com/office/drawing/2014/main" id="{C74C5DA5-0FC9-4A05-BC4B-6E732426C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67E9E1-72F8-4477-8F12-EB845AB67C67}"/>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147906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B8D48C-75B7-4821-AC81-1DF8B3931C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2ACAAF-01A3-49F6-B01E-4026E4D400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C3103B-F246-4D3C-9589-1F23F77B3A04}"/>
              </a:ext>
            </a:extLst>
          </p:cNvPr>
          <p:cNvSpPr>
            <a:spLocks noGrp="1"/>
          </p:cNvSpPr>
          <p:nvPr>
            <p:ph type="dt" sz="half" idx="10"/>
          </p:nvPr>
        </p:nvSpPr>
        <p:spPr/>
        <p:txBody>
          <a:bodyPr/>
          <a:lstStyle/>
          <a:p>
            <a:fld id="{CDAA22C7-915D-49DD-937D-C72B4DC73115}" type="datetimeFigureOut">
              <a:rPr lang="en-US" smtClean="0"/>
              <a:t>2/6/2025</a:t>
            </a:fld>
            <a:endParaRPr lang="en-US"/>
          </a:p>
        </p:txBody>
      </p:sp>
      <p:sp>
        <p:nvSpPr>
          <p:cNvPr id="5" name="Footer Placeholder 4">
            <a:extLst>
              <a:ext uri="{FF2B5EF4-FFF2-40B4-BE49-F238E27FC236}">
                <a16:creationId xmlns:a16="http://schemas.microsoft.com/office/drawing/2014/main" id="{C657062D-542A-4B8C-B34C-C03C23A86D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3B2F6-A66A-45F8-B9F0-602FEB80CF38}"/>
              </a:ext>
            </a:extLst>
          </p:cNvPr>
          <p:cNvSpPr>
            <a:spLocks noGrp="1"/>
          </p:cNvSpPr>
          <p:nvPr>
            <p:ph type="sldNum" sz="quarter" idx="12"/>
          </p:nvPr>
        </p:nvSpPr>
        <p:spPr/>
        <p:txBody>
          <a:bodyPr/>
          <a:lstStyle/>
          <a:p>
            <a:fld id="{4DDB2934-E464-477B-A764-669ADA9C2391}" type="slidenum">
              <a:rPr lang="en-US" smtClean="0"/>
              <a:t>‹#›</a:t>
            </a:fld>
            <a:endParaRPr lang="en-US"/>
          </a:p>
        </p:txBody>
      </p:sp>
    </p:spTree>
    <p:extLst>
      <p:ext uri="{BB962C8B-B14F-4D97-AF65-F5344CB8AC3E}">
        <p14:creationId xmlns:p14="http://schemas.microsoft.com/office/powerpoint/2010/main" val="4226090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14" name="Group 13"/>
          <p:cNvGrpSpPr/>
          <p:nvPr userDrawn="1"/>
        </p:nvGrpSpPr>
        <p:grpSpPr>
          <a:xfrm>
            <a:off x="163493" y="0"/>
            <a:ext cx="12028507" cy="6858000"/>
            <a:chOff x="0" y="0"/>
            <a:chExt cx="9144000" cy="6858000"/>
          </a:xfrm>
        </p:grpSpPr>
        <p:pic>
          <p:nvPicPr>
            <p:cNvPr id="8" name="Picture 7" descr="iStock_000026889829_Full.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pic>
          <p:nvPicPr>
            <p:cNvPr id="13" name="Picture 12" descr="OpenGroup_O_Purple.png"/>
            <p:cNvPicPr>
              <a:picLocks noChangeAspect="1"/>
            </p:cNvPicPr>
            <p:nvPr userDrawn="1"/>
          </p:nvPicPr>
          <p:blipFill rotWithShape="1">
            <a:blip r:embed="rId3" cstate="print">
              <a:grayscl/>
              <a:alphaModFix amt="10000"/>
              <a:extLst>
                <a:ext uri="{28A0092B-C50C-407E-A947-70E740481C1C}">
                  <a14:useLocalDpi xmlns:a14="http://schemas.microsoft.com/office/drawing/2010/main"/>
                </a:ext>
              </a:extLst>
            </a:blip>
            <a:srcRect l="-143" t="-4471" r="8077" b="4641"/>
            <a:stretch/>
          </p:blipFill>
          <p:spPr>
            <a:xfrm>
              <a:off x="4200144" y="310104"/>
              <a:ext cx="4943856" cy="6527800"/>
            </a:xfrm>
            <a:prstGeom prst="rect">
              <a:avLst/>
            </a:prstGeom>
          </p:spPr>
        </p:pic>
      </p:grpSp>
      <p:pic>
        <p:nvPicPr>
          <p:cNvPr id="12" name="Picture 11" descr="tog-cmyk.png"/>
          <p:cNvPicPr>
            <a:picLocks noChangeAspect="1"/>
          </p:cNvPicPr>
          <p:nvPr userDrawn="1"/>
        </p:nvPicPr>
        <p:blipFill>
          <a:blip r:embed="rId4"/>
          <a:stretch>
            <a:fillRect/>
          </a:stretch>
        </p:blipFill>
        <p:spPr>
          <a:xfrm>
            <a:off x="312385" y="181583"/>
            <a:ext cx="1960703" cy="1178539"/>
          </a:xfrm>
          <a:prstGeom prst="rect">
            <a:avLst/>
          </a:prstGeom>
        </p:spPr>
      </p:pic>
      <p:pic>
        <p:nvPicPr>
          <p:cNvPr id="15" name="7A01CB94-0562-4695-BAB5-9169043FC443" descr="BC60FF1A-5785-44E8-8643-517435B53B0F@home">
            <a:extLst>
              <a:ext uri="{FF2B5EF4-FFF2-40B4-BE49-F238E27FC236}">
                <a16:creationId xmlns:a16="http://schemas.microsoft.com/office/drawing/2014/main" id="{7944C38D-EC0C-49B9-A7A5-18AF95ED3820}"/>
              </a:ext>
            </a:extLst>
          </p:cNvPr>
          <p:cNvPicPr>
            <a:picLocks noChangeAspect="1" noChangeArrowheads="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65333" y="6215495"/>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7404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8" name="Group 7"/>
          <p:cNvGrpSpPr/>
          <p:nvPr userDrawn="1"/>
        </p:nvGrpSpPr>
        <p:grpSpPr>
          <a:xfrm>
            <a:off x="2" y="0"/>
            <a:ext cx="12309085" cy="6858000"/>
            <a:chOff x="-24029" y="0"/>
            <a:chExt cx="9168029" cy="6858000"/>
          </a:xfrm>
        </p:grpSpPr>
        <p:pic>
          <p:nvPicPr>
            <p:cNvPr id="7" name="Picture 6" descr="iStock_000024285973_XXXLarg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029" y="0"/>
              <a:ext cx="9168029" cy="6858000"/>
            </a:xfrm>
            <a:prstGeom prst="rect">
              <a:avLst/>
            </a:prstGeom>
          </p:spPr>
        </p:pic>
        <p:pic>
          <p:nvPicPr>
            <p:cNvPr id="6" name="Picture 5" descr="OpenGroup_O_White.png"/>
            <p:cNvPicPr>
              <a:picLocks noChangeAspect="1"/>
            </p:cNvPicPr>
            <p:nvPr userDrawn="1"/>
          </p:nvPicPr>
          <p:blipFill rotWithShape="1">
            <a:blip r:embed="rId3" cstate="print">
              <a:alphaModFix amt="50000"/>
              <a:extLst>
                <a:ext uri="{28A0092B-C50C-407E-A947-70E740481C1C}">
                  <a14:useLocalDpi xmlns:a14="http://schemas.microsoft.com/office/drawing/2010/main"/>
                </a:ext>
              </a:extLst>
            </a:blip>
            <a:srcRect r="8333" b="4527"/>
            <a:stretch/>
          </p:blipFill>
          <p:spPr>
            <a:xfrm>
              <a:off x="4207933" y="597718"/>
              <a:ext cx="4936067" cy="6260282"/>
            </a:xfrm>
            <a:prstGeom prst="rect">
              <a:avLst/>
            </a:prstGeom>
            <a:effectLst>
              <a:outerShdw blurRad="758825" dir="2700000" algn="tl" rotWithShape="0">
                <a:schemeClr val="accent1">
                  <a:alpha val="13000"/>
                </a:schemeClr>
              </a:outerShdw>
            </a:effectLst>
          </p:spPr>
        </p:pic>
      </p:grpSp>
      <p:pic>
        <p:nvPicPr>
          <p:cNvPr id="13" name="Picture 12" descr="tog-cmyk.png"/>
          <p:cNvPicPr>
            <a:picLocks noChangeAspect="1"/>
          </p:cNvPicPr>
          <p:nvPr userDrawn="1"/>
        </p:nvPicPr>
        <p:blipFill>
          <a:blip r:embed="rId4"/>
          <a:stretch>
            <a:fillRect/>
          </a:stretch>
        </p:blipFill>
        <p:spPr>
          <a:xfrm>
            <a:off x="312385" y="181583"/>
            <a:ext cx="1960703" cy="1178539"/>
          </a:xfrm>
          <a:prstGeom prst="rect">
            <a:avLst/>
          </a:prstGeom>
        </p:spPr>
      </p:pic>
      <p:pic>
        <p:nvPicPr>
          <p:cNvPr id="9" name="7A01CB94-0562-4695-BAB5-9169043FC443" descr="BC60FF1A-5785-44E8-8643-517435B53B0F@home">
            <a:extLst>
              <a:ext uri="{FF2B5EF4-FFF2-40B4-BE49-F238E27FC236}">
                <a16:creationId xmlns:a16="http://schemas.microsoft.com/office/drawing/2014/main" id="{5ADADD2F-1B59-4410-974C-E8F8B7D44884}"/>
              </a:ext>
            </a:extLst>
          </p:cNvPr>
          <p:cNvPicPr>
            <a:picLocks noChangeAspect="1" noChangeArrowheads="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65333" y="6215495"/>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9210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14" name="Group 13"/>
          <p:cNvGrpSpPr/>
          <p:nvPr userDrawn="1"/>
        </p:nvGrpSpPr>
        <p:grpSpPr>
          <a:xfrm>
            <a:off x="0" y="2"/>
            <a:ext cx="12192000" cy="6857999"/>
            <a:chOff x="0" y="0"/>
            <a:chExt cx="9144000" cy="6857999"/>
          </a:xfrm>
        </p:grpSpPr>
        <p:sp>
          <p:nvSpPr>
            <p:cNvPr id="7" name="Rectangle 6"/>
            <p:cNvSpPr/>
            <p:nvPr userDrawn="1"/>
          </p:nvSpPr>
          <p:spPr>
            <a:xfrm>
              <a:off x="0" y="0"/>
              <a:ext cx="9144000" cy="6857999"/>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cxnSp>
          <p:nvCxnSpPr>
            <p:cNvPr id="9" name="Straight Connector 8"/>
            <p:cNvCxnSpPr/>
            <p:nvPr userDrawn="1"/>
          </p:nvCxnSpPr>
          <p:spPr>
            <a:xfrm>
              <a:off x="448733" y="6486955"/>
              <a:ext cx="7704667" cy="0"/>
            </a:xfrm>
            <a:prstGeom prst="line">
              <a:avLst/>
            </a:prstGeom>
            <a:ln w="635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userDrawn="1"/>
          </p:nvSpPr>
          <p:spPr>
            <a:xfrm>
              <a:off x="364063" y="6486952"/>
              <a:ext cx="2421466" cy="256545"/>
            </a:xfrm>
            <a:prstGeom prst="rect">
              <a:avLst/>
            </a:prstGeom>
            <a:noFill/>
          </p:spPr>
          <p:txBody>
            <a:bodyPr wrap="square" rtlCol="0">
              <a:spAutoFit/>
            </a:bodyPr>
            <a:lstStyle/>
            <a:p>
              <a:r>
                <a:rPr lang="en-GB" sz="1067" dirty="0">
                  <a:solidFill>
                    <a:srgbClr val="FFFFFF"/>
                  </a:solidFill>
                  <a:latin typeface="Arial" charset="0"/>
                </a:rPr>
                <a:t>Copyright </a:t>
              </a:r>
              <a:r>
                <a:rPr lang="en-GB" sz="1067" dirty="0">
                  <a:solidFill>
                    <a:srgbClr val="FFFFFF"/>
                  </a:solidFill>
                  <a:latin typeface="Arial" charset="0"/>
                  <a:cs typeface="Calibri" charset="0"/>
                </a:rPr>
                <a:t>© </a:t>
              </a:r>
              <a:r>
                <a:rPr lang="en-GB" sz="1067" dirty="0">
                  <a:solidFill>
                    <a:srgbClr val="FFFFFF"/>
                  </a:solidFill>
                  <a:latin typeface="Arial" charset="0"/>
                </a:rPr>
                <a:t>The Open Group 2019</a:t>
              </a:r>
            </a:p>
          </p:txBody>
        </p:sp>
      </p:grpSp>
      <p:sp>
        <p:nvSpPr>
          <p:cNvPr id="12" name="Slide Number Placeholder 5"/>
          <p:cNvSpPr>
            <a:spLocks noGrp="1"/>
          </p:cNvSpPr>
          <p:nvPr>
            <p:ph type="sldNum" sz="quarter" idx="12"/>
          </p:nvPr>
        </p:nvSpPr>
        <p:spPr>
          <a:xfrm>
            <a:off x="10033909" y="6214358"/>
            <a:ext cx="683419" cy="365125"/>
          </a:xfrm>
          <a:prstGeom prst="rect">
            <a:avLst/>
          </a:prstGeom>
        </p:spPr>
        <p:txBody>
          <a:bodyPr/>
          <a:lstStyle>
            <a:lvl1pPr algn="ctr">
              <a:defRPr>
                <a:solidFill>
                  <a:schemeClr val="accent1"/>
                </a:solidFill>
              </a:defRPr>
            </a:lvl1pPr>
          </a:lstStyle>
          <a:p>
            <a:fld id="{4BBDA901-AC44-DA44-B86F-73C28EB4CF87}" type="slidenum">
              <a:rPr lang="en-GB" smtClean="0"/>
              <a:pPr/>
              <a:t>‹#›</a:t>
            </a:fld>
            <a:endParaRPr lang="en-GB" dirty="0"/>
          </a:p>
        </p:txBody>
      </p:sp>
      <p:sp>
        <p:nvSpPr>
          <p:cNvPr id="2" name="Title 1"/>
          <p:cNvSpPr>
            <a:spLocks noGrp="1"/>
          </p:cNvSpPr>
          <p:nvPr>
            <p:ph type="ctrTitle" hasCustomPrompt="1"/>
          </p:nvPr>
        </p:nvSpPr>
        <p:spPr>
          <a:xfrm>
            <a:off x="540174" y="2572217"/>
            <a:ext cx="7408985" cy="884079"/>
          </a:xfrm>
        </p:spPr>
        <p:txBody>
          <a:bodyPr>
            <a:normAutofit/>
          </a:bodyPr>
          <a:lstStyle>
            <a:lvl1pPr>
              <a:defRPr sz="5333" baseline="0">
                <a:solidFill>
                  <a:schemeClr val="bg1"/>
                </a:solidFill>
              </a:defRPr>
            </a:lvl1pPr>
          </a:lstStyle>
          <a:p>
            <a:r>
              <a:rPr lang="en-GB" dirty="0"/>
              <a:t>Divider Title</a:t>
            </a:r>
            <a:endParaRPr lang="en-US" dirty="0"/>
          </a:p>
        </p:txBody>
      </p:sp>
      <p:pic>
        <p:nvPicPr>
          <p:cNvPr id="13" name="7A01CB94-0562-4695-BAB5-9169043FC443" descr="BC60FF1A-5785-44E8-8643-517435B53B0F@home">
            <a:extLst>
              <a:ext uri="{FF2B5EF4-FFF2-40B4-BE49-F238E27FC236}">
                <a16:creationId xmlns:a16="http://schemas.microsoft.com/office/drawing/2014/main" id="{D4C70607-63BD-47CF-82FF-ECEC23DB8677}"/>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17328" y="6121127"/>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6243553"/>
      </p:ext>
    </p:extLst>
  </p:cSld>
  <p:clrMapOvr>
    <a:masterClrMapping/>
  </p:clrMapOvr>
  <p:extLst>
    <p:ext uri="{DCECCB84-F9BA-43D5-87BE-67443E8EF086}">
      <p15:sldGuideLst xmlns:p15="http://schemas.microsoft.com/office/powerpoint/2012/main">
        <p15:guide id="1" orient="horz" pos="4201">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733" b="1">
                <a:solidFill>
                  <a:schemeClr val="accent1"/>
                </a:solidFill>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defRPr sz="3200">
                <a:solidFill>
                  <a:schemeClr val="tx2"/>
                </a:solidFill>
                <a:latin typeface="Arial" panose="020B0604020202020204" pitchFamily="34" charset="0"/>
                <a:cs typeface="Arial" panose="020B0604020202020204" pitchFamily="34" charset="0"/>
              </a:defRPr>
            </a:lvl1pPr>
            <a:lvl2pPr>
              <a:defRPr sz="2667">
                <a:solidFill>
                  <a:schemeClr val="tx2"/>
                </a:solidFill>
                <a:latin typeface="Arial" panose="020B0604020202020204" pitchFamily="34" charset="0"/>
                <a:cs typeface="Arial" panose="020B0604020202020204" pitchFamily="34" charset="0"/>
              </a:defRPr>
            </a:lvl2pPr>
            <a:lvl3pPr>
              <a:defRPr sz="2400">
                <a:solidFill>
                  <a:schemeClr val="tx2"/>
                </a:solidFill>
                <a:latin typeface="Arial" panose="020B0604020202020204" pitchFamily="34"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1867">
                <a:solidFill>
                  <a:schemeClr val="tx2"/>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8" name="Straight Connector 7"/>
          <p:cNvCxnSpPr/>
          <p:nvPr userDrawn="1"/>
        </p:nvCxnSpPr>
        <p:spPr>
          <a:xfrm>
            <a:off x="544722" y="6476907"/>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userDrawn="1"/>
        </p:nvSpPr>
        <p:spPr>
          <a:xfrm>
            <a:off x="431827" y="6476903"/>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a:spLocks noGrp="1"/>
          </p:cNvSpPr>
          <p:nvPr>
            <p:ph type="sldNum" sz="quarter" idx="12"/>
          </p:nvPr>
        </p:nvSpPr>
        <p:spPr>
          <a:xfrm>
            <a:off x="9188217" y="6218236"/>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56513673"/>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733" b="1">
                <a:solidFill>
                  <a:schemeClr val="accent1"/>
                </a:solidFill>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defRPr sz="3200">
                <a:solidFill>
                  <a:schemeClr val="tx2"/>
                </a:solidFill>
                <a:latin typeface="Arial" panose="020B0604020202020204" pitchFamily="34" charset="0"/>
                <a:cs typeface="Arial" panose="020B0604020202020204" pitchFamily="34" charset="0"/>
              </a:defRPr>
            </a:lvl1pPr>
            <a:lvl2pPr>
              <a:defRPr sz="2667">
                <a:solidFill>
                  <a:schemeClr val="tx2"/>
                </a:solidFill>
                <a:latin typeface="Arial" panose="020B0604020202020204" pitchFamily="34" charset="0"/>
                <a:cs typeface="Arial" panose="020B0604020202020204" pitchFamily="34" charset="0"/>
              </a:defRPr>
            </a:lvl2pPr>
            <a:lvl3pPr>
              <a:defRPr sz="2400">
                <a:solidFill>
                  <a:schemeClr val="tx2"/>
                </a:solidFill>
                <a:latin typeface="Arial" panose="020B0604020202020204" pitchFamily="34"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1867">
                <a:solidFill>
                  <a:schemeClr val="tx2"/>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8" name="Straight Connector 7"/>
          <p:cNvCxnSpPr/>
          <p:nvPr userDrawn="1"/>
        </p:nvCxnSpPr>
        <p:spPr>
          <a:xfrm>
            <a:off x="544722" y="6486956"/>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userDrawn="1"/>
        </p:nvSpPr>
        <p:spPr>
          <a:xfrm>
            <a:off x="431827" y="6486954"/>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a:spLocks noGrp="1"/>
          </p:cNvSpPr>
          <p:nvPr>
            <p:ph type="sldNum" sz="quarter" idx="12"/>
          </p:nvPr>
        </p:nvSpPr>
        <p:spPr>
          <a:xfrm>
            <a:off x="9213976" y="6204547"/>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2016064642"/>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733" b="1">
                <a:solidFill>
                  <a:schemeClr val="accent1"/>
                </a:solidFill>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defRPr sz="3200">
                <a:solidFill>
                  <a:schemeClr val="tx2"/>
                </a:solidFill>
                <a:latin typeface="Arial" panose="020B0604020202020204" pitchFamily="34" charset="0"/>
                <a:cs typeface="Arial" panose="020B0604020202020204" pitchFamily="34" charset="0"/>
              </a:defRPr>
            </a:lvl1pPr>
            <a:lvl2pPr>
              <a:defRPr sz="2667">
                <a:solidFill>
                  <a:schemeClr val="tx2"/>
                </a:solidFill>
                <a:latin typeface="Arial" panose="020B0604020202020204" pitchFamily="34" charset="0"/>
                <a:cs typeface="Arial" panose="020B0604020202020204" pitchFamily="34" charset="0"/>
              </a:defRPr>
            </a:lvl2pPr>
            <a:lvl3pPr>
              <a:defRPr sz="2400">
                <a:solidFill>
                  <a:schemeClr val="tx2"/>
                </a:solidFill>
                <a:latin typeface="Arial" panose="020B0604020202020204" pitchFamily="34"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1867">
                <a:solidFill>
                  <a:schemeClr val="tx2"/>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p:cNvSpPr>
            <a:spLocks noGrp="1"/>
          </p:cNvSpPr>
          <p:nvPr>
            <p:ph type="sldNum" sz="quarter" idx="12"/>
          </p:nvPr>
        </p:nvSpPr>
        <p:spPr>
          <a:xfrm>
            <a:off x="9239733" y="6204547"/>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cxnSp>
        <p:nvCxnSpPr>
          <p:cNvPr id="8" name="Straight Connector 7"/>
          <p:cNvCxnSpPr/>
          <p:nvPr userDrawn="1"/>
        </p:nvCxnSpPr>
        <p:spPr>
          <a:xfrm>
            <a:off x="544722" y="6486952"/>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userDrawn="1"/>
        </p:nvSpPr>
        <p:spPr>
          <a:xfrm>
            <a:off x="431827" y="6486950"/>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pic>
        <p:nvPicPr>
          <p:cNvPr id="15" name="Picture 14" descr="OpenGroup_O_Purple.png"/>
          <p:cNvPicPr>
            <a:picLocks noChangeAspect="1"/>
          </p:cNvPicPr>
          <p:nvPr userDrawn="1"/>
        </p:nvPicPr>
        <p:blipFill rotWithShape="1">
          <a:blip r:embed="rId2" cstate="print">
            <a:grayscl/>
            <a:alphaModFix amt="10000"/>
            <a:extLst>
              <a:ext uri="{28A0092B-C50C-407E-A947-70E740481C1C}">
                <a14:useLocalDpi xmlns:a14="http://schemas.microsoft.com/office/drawing/2010/main"/>
              </a:ext>
            </a:extLst>
          </a:blip>
          <a:srcRect l="-143" t="-4471" r="8077" b="4641"/>
          <a:stretch/>
        </p:blipFill>
        <p:spPr>
          <a:xfrm>
            <a:off x="7080234" y="22935"/>
            <a:ext cx="5004300" cy="6607644"/>
          </a:xfrm>
          <a:prstGeom prst="rect">
            <a:avLst/>
          </a:prstGeom>
        </p:spPr>
      </p:pic>
    </p:spTree>
    <p:extLst>
      <p:ext uri="{BB962C8B-B14F-4D97-AF65-F5344CB8AC3E}">
        <p14:creationId xmlns:p14="http://schemas.microsoft.com/office/powerpoint/2010/main" val="4215450404"/>
      </p:ext>
    </p:extLst>
  </p:cSld>
  <p:clrMapOvr>
    <a:masterClrMapping/>
  </p:clrMapOvr>
  <p:extLst>
    <p:ext uri="{DCECCB84-F9BA-43D5-87BE-67443E8EF086}">
      <p15:sldGuideLst xmlns:p15="http://schemas.microsoft.com/office/powerpoint/2012/main">
        <p15:guide id="1" orient="horz" pos="4201">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defTabSz="609585" rtl="0" eaLnBrk="1" latinLnBrk="0" hangingPunct="1">
              <a:spcBef>
                <a:spcPct val="0"/>
              </a:spcBef>
              <a:buNone/>
              <a:defRPr lang="en-US" sz="3733" b="1" kern="1200" dirty="0">
                <a:solidFill>
                  <a:schemeClr val="accent1"/>
                </a:solidFill>
                <a:latin typeface="Arial" panose="020B0604020202020204" pitchFamily="34" charset="0"/>
                <a:ea typeface="+mj-ea"/>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normAutofit/>
          </a:bodyPr>
          <a:lstStyle>
            <a:lvl1pPr algn="l" defTabSz="609585" rtl="0" eaLnBrk="1" latinLnBrk="0" hangingPunct="1">
              <a:spcBef>
                <a:spcPct val="20000"/>
              </a:spcBef>
              <a:buFont typeface="Arial"/>
              <a:defRPr lang="en-GB" sz="3200" kern="1200" dirty="0">
                <a:solidFill>
                  <a:schemeClr val="tx2"/>
                </a:solidFill>
                <a:latin typeface="Arial" panose="020B0604020202020204" pitchFamily="34" charset="0"/>
                <a:ea typeface="+mn-ea"/>
                <a:cs typeface="Arial" panose="020B0604020202020204" pitchFamily="34" charset="0"/>
              </a:defRPr>
            </a:lvl1pPr>
            <a:lvl2pPr algn="l" defTabSz="609585" rtl="0" eaLnBrk="1" latinLnBrk="0" hangingPunct="1">
              <a:spcBef>
                <a:spcPct val="20000"/>
              </a:spcBef>
              <a:buFont typeface="Arial"/>
              <a:defRPr lang="en-GB" sz="2667" kern="1200" dirty="0">
                <a:solidFill>
                  <a:schemeClr val="tx2"/>
                </a:solidFill>
                <a:latin typeface="Arial" panose="020B0604020202020204" pitchFamily="34" charset="0"/>
                <a:ea typeface="+mn-ea"/>
                <a:cs typeface="Arial" panose="020B0604020202020204" pitchFamily="34" charset="0"/>
              </a:defRPr>
            </a:lvl2pPr>
            <a:lvl3pPr algn="l" defTabSz="609585" rtl="0" eaLnBrk="1" latinLnBrk="0" hangingPunct="1">
              <a:spcBef>
                <a:spcPct val="20000"/>
              </a:spcBef>
              <a:buFont typeface="Arial"/>
              <a:defRPr lang="en-GB" sz="2400" kern="1200" dirty="0">
                <a:solidFill>
                  <a:schemeClr val="tx2"/>
                </a:solidFill>
                <a:latin typeface="Arial" panose="020B0604020202020204" pitchFamily="34" charset="0"/>
                <a:ea typeface="+mn-ea"/>
                <a:cs typeface="Arial" panose="020B0604020202020204" pitchFamily="34" charset="0"/>
              </a:defRPr>
            </a:lvl3pPr>
            <a:lvl4pPr algn="l" defTabSz="609585" rtl="0" eaLnBrk="1" latinLnBrk="0" hangingPunct="1">
              <a:spcBef>
                <a:spcPct val="20000"/>
              </a:spcBef>
              <a:buFont typeface="Arial"/>
              <a:defRPr lang="en-GB" sz="2133" kern="1200" dirty="0">
                <a:solidFill>
                  <a:schemeClr val="tx2"/>
                </a:solidFill>
                <a:latin typeface="Arial" panose="020B0604020202020204" pitchFamily="34" charset="0"/>
                <a:ea typeface="+mn-ea"/>
                <a:cs typeface="Arial" panose="020B0604020202020204" pitchFamily="34" charset="0"/>
              </a:defRPr>
            </a:lvl4pPr>
            <a:lvl5pPr algn="l" defTabSz="609585" rtl="0" eaLnBrk="1" latinLnBrk="0" hangingPunct="1">
              <a:spcBef>
                <a:spcPct val="20000"/>
              </a:spcBef>
              <a:buFont typeface="Arial"/>
              <a:defRPr lang="en-US" sz="1867" kern="1200" dirty="0">
                <a:solidFill>
                  <a:schemeClr val="tx2"/>
                </a:solidFill>
                <a:latin typeface="Arial" panose="020B0604020202020204" pitchFamily="34" charset="0"/>
                <a:ea typeface="+mn-ea"/>
                <a:cs typeface="Arial" panose="020B0604020202020204" pitchFamily="34" charset="0"/>
              </a:defRPr>
            </a:lvl5pPr>
            <a:lvl6pPr>
              <a:defRPr sz="2400"/>
            </a:lvl6pPr>
            <a:lvl7pPr>
              <a:defRPr sz="2400"/>
            </a:lvl7pPr>
            <a:lvl8pPr>
              <a:defRPr sz="2400"/>
            </a:lvl8pPr>
            <a:lvl9pPr>
              <a:defRPr sz="24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6197600" y="1600201"/>
            <a:ext cx="5384800" cy="4525963"/>
          </a:xfrm>
        </p:spPr>
        <p:txBody>
          <a:bodyPr>
            <a:normAutofit/>
          </a:bodyPr>
          <a:lstStyle>
            <a:lvl1pPr algn="l" defTabSz="609585" rtl="0" eaLnBrk="1" latinLnBrk="0" hangingPunct="1">
              <a:spcBef>
                <a:spcPct val="20000"/>
              </a:spcBef>
              <a:buFont typeface="Arial"/>
              <a:defRPr lang="en-GB" sz="3200" kern="1200" dirty="0">
                <a:solidFill>
                  <a:schemeClr val="tx2"/>
                </a:solidFill>
                <a:latin typeface="Arial" panose="020B0604020202020204" pitchFamily="34" charset="0"/>
                <a:ea typeface="+mn-ea"/>
                <a:cs typeface="Arial" panose="020B0604020202020204" pitchFamily="34" charset="0"/>
              </a:defRPr>
            </a:lvl1pPr>
            <a:lvl2pPr algn="l" defTabSz="609585" rtl="0" eaLnBrk="1" latinLnBrk="0" hangingPunct="1">
              <a:spcBef>
                <a:spcPct val="20000"/>
              </a:spcBef>
              <a:buFont typeface="Arial"/>
              <a:defRPr lang="en-GB" sz="2667" kern="1200" dirty="0">
                <a:solidFill>
                  <a:schemeClr val="tx2"/>
                </a:solidFill>
                <a:latin typeface="Arial" panose="020B0604020202020204" pitchFamily="34" charset="0"/>
                <a:ea typeface="+mn-ea"/>
                <a:cs typeface="Arial" panose="020B0604020202020204" pitchFamily="34" charset="0"/>
              </a:defRPr>
            </a:lvl2pPr>
            <a:lvl3pPr algn="l" defTabSz="609585" rtl="0" eaLnBrk="1" latinLnBrk="0" hangingPunct="1">
              <a:spcBef>
                <a:spcPct val="20000"/>
              </a:spcBef>
              <a:buFont typeface="Arial"/>
              <a:defRPr lang="en-GB" sz="2400" kern="1200" dirty="0">
                <a:solidFill>
                  <a:schemeClr val="tx2"/>
                </a:solidFill>
                <a:latin typeface="Arial" panose="020B0604020202020204" pitchFamily="34" charset="0"/>
                <a:ea typeface="+mn-ea"/>
                <a:cs typeface="Arial" panose="020B0604020202020204" pitchFamily="34" charset="0"/>
              </a:defRPr>
            </a:lvl3pPr>
            <a:lvl4pPr algn="l" defTabSz="609585" rtl="0" eaLnBrk="1" latinLnBrk="0" hangingPunct="1">
              <a:spcBef>
                <a:spcPct val="20000"/>
              </a:spcBef>
              <a:buFont typeface="Arial"/>
              <a:defRPr lang="en-GB" sz="2133" kern="1200" dirty="0">
                <a:solidFill>
                  <a:schemeClr val="tx2"/>
                </a:solidFill>
                <a:latin typeface="Arial" panose="020B0604020202020204" pitchFamily="34" charset="0"/>
                <a:ea typeface="+mn-ea"/>
                <a:cs typeface="Arial" panose="020B0604020202020204" pitchFamily="34" charset="0"/>
              </a:defRPr>
            </a:lvl4pPr>
            <a:lvl5pPr algn="l" defTabSz="609585" rtl="0" eaLnBrk="1" latinLnBrk="0" hangingPunct="1">
              <a:spcBef>
                <a:spcPct val="20000"/>
              </a:spcBef>
              <a:buFont typeface="Arial"/>
              <a:defRPr lang="en-US" sz="1867" kern="1200" dirty="0">
                <a:solidFill>
                  <a:schemeClr val="tx2"/>
                </a:solidFill>
                <a:latin typeface="Arial" panose="020B0604020202020204" pitchFamily="34" charset="0"/>
                <a:ea typeface="+mn-ea"/>
                <a:cs typeface="Arial" panose="020B0604020202020204" pitchFamily="34" charset="0"/>
              </a:defRPr>
            </a:lvl5pPr>
            <a:lvl6pPr>
              <a:defRPr sz="2400"/>
            </a:lvl6pPr>
            <a:lvl7pPr>
              <a:defRPr sz="2400"/>
            </a:lvl7pPr>
            <a:lvl8pPr>
              <a:defRPr sz="2400"/>
            </a:lvl8pPr>
            <a:lvl9pPr>
              <a:defRPr sz="24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TextBox 8"/>
          <p:cNvSpPr txBox="1"/>
          <p:nvPr userDrawn="1"/>
        </p:nvSpPr>
        <p:spPr>
          <a:xfrm>
            <a:off x="485418" y="6486954"/>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cxnSp>
        <p:nvCxnSpPr>
          <p:cNvPr id="11" name="Straight Connector 10"/>
          <p:cNvCxnSpPr/>
          <p:nvPr userDrawn="1"/>
        </p:nvCxnSpPr>
        <p:spPr>
          <a:xfrm>
            <a:off x="544722" y="6486956"/>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4" name="Slide Number Placeholder 5"/>
          <p:cNvSpPr>
            <a:spLocks noGrp="1"/>
          </p:cNvSpPr>
          <p:nvPr>
            <p:ph type="sldNum" sz="quarter" idx="12"/>
          </p:nvPr>
        </p:nvSpPr>
        <p:spPr>
          <a:xfrm>
            <a:off x="9205389" y="6200136"/>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841764218"/>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defTabSz="609585" rtl="0" eaLnBrk="1" latinLnBrk="0" hangingPunct="1">
              <a:spcBef>
                <a:spcPct val="0"/>
              </a:spcBef>
              <a:buNone/>
              <a:defRPr lang="en-US" sz="3733" b="1" kern="1200" dirty="0">
                <a:solidFill>
                  <a:schemeClr val="accent1"/>
                </a:solidFill>
                <a:latin typeface="Arial" panose="020B0604020202020204" pitchFamily="34" charset="0"/>
                <a:ea typeface="+mj-ea"/>
                <a:cs typeface="Arial" panose="020B0604020202020204" pitchFamily="34" charset="0"/>
              </a:defRPr>
            </a:lvl1pPr>
          </a:lstStyle>
          <a:p>
            <a:r>
              <a:rPr lang="en-GB" dirty="0"/>
              <a:t>Click to edit Master title style</a:t>
            </a:r>
            <a:endParaRPr lang="en-US" dirty="0"/>
          </a:p>
        </p:txBody>
      </p:sp>
      <p:cxnSp>
        <p:nvCxnSpPr>
          <p:cNvPr id="6" name="Straight Connector 5"/>
          <p:cNvCxnSpPr/>
          <p:nvPr userDrawn="1"/>
        </p:nvCxnSpPr>
        <p:spPr>
          <a:xfrm>
            <a:off x="598313" y="6497004"/>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userDrawn="1"/>
        </p:nvSpPr>
        <p:spPr>
          <a:xfrm>
            <a:off x="485418" y="6497002"/>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a:spLocks noGrp="1"/>
          </p:cNvSpPr>
          <p:nvPr>
            <p:ph type="sldNum" sz="quarter" idx="12"/>
          </p:nvPr>
        </p:nvSpPr>
        <p:spPr>
          <a:xfrm>
            <a:off x="9248320" y="6218236"/>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11838900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cxnSp>
        <p:nvCxnSpPr>
          <p:cNvPr id="5" name="Straight Connector 4"/>
          <p:cNvCxnSpPr/>
          <p:nvPr userDrawn="1"/>
        </p:nvCxnSpPr>
        <p:spPr>
          <a:xfrm>
            <a:off x="598313" y="6486956"/>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userDrawn="1"/>
        </p:nvSpPr>
        <p:spPr>
          <a:xfrm>
            <a:off x="485418" y="6486954"/>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txBox="1">
            <a:spLocks/>
          </p:cNvSpPr>
          <p:nvPr userDrawn="1"/>
        </p:nvSpPr>
        <p:spPr>
          <a:xfrm>
            <a:off x="9256905" y="6185342"/>
            <a:ext cx="2844800" cy="365125"/>
          </a:xfrm>
          <a:prstGeom prst="rect">
            <a:avLst/>
          </a:prstGeom>
        </p:spPr>
        <p:txBody>
          <a:bodyPr/>
          <a:lstStyle>
            <a:defPPr>
              <a:defRPr lang="en-US"/>
            </a:defPPr>
            <a:lvl1pPr marL="0" algn="ctr" defTabSz="457200" rtl="0" eaLnBrk="1" latinLnBrk="0" hangingPunct="1">
              <a:defRPr sz="1800" kern="1200">
                <a:solidFill>
                  <a:schemeClr val="bg2">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BBDA901-AC44-DA44-B86F-73C28EB4CF87}" type="slidenum">
              <a:rPr lang="en-GB" sz="1333" smtClean="0">
                <a:latin typeface="Arial" panose="020B0604020202020204" pitchFamily="34" charset="0"/>
                <a:cs typeface="Arial" panose="020B0604020202020204" pitchFamily="34" charset="0"/>
              </a:rPr>
              <a:pPr/>
              <a:t>‹#›</a:t>
            </a:fld>
            <a:endParaRPr lang="en-GB" sz="133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6959158"/>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cxnSp>
        <p:nvCxnSpPr>
          <p:cNvPr id="5" name="Straight Connector 4"/>
          <p:cNvCxnSpPr/>
          <p:nvPr userDrawn="1"/>
        </p:nvCxnSpPr>
        <p:spPr>
          <a:xfrm>
            <a:off x="598313" y="6486955"/>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userDrawn="1"/>
        </p:nvSpPr>
        <p:spPr>
          <a:xfrm>
            <a:off x="485418" y="6486951"/>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9" name="Slide Number Placeholder 5"/>
          <p:cNvSpPr>
            <a:spLocks noGrp="1"/>
          </p:cNvSpPr>
          <p:nvPr>
            <p:ph type="sldNum" sz="quarter" idx="12"/>
          </p:nvPr>
        </p:nvSpPr>
        <p:spPr>
          <a:xfrm>
            <a:off x="9256904" y="6200252"/>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2548632100"/>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14" name="Group 13"/>
          <p:cNvGrpSpPr/>
          <p:nvPr userDrawn="1"/>
        </p:nvGrpSpPr>
        <p:grpSpPr>
          <a:xfrm>
            <a:off x="0" y="2"/>
            <a:ext cx="12192000" cy="6857999"/>
            <a:chOff x="0" y="0"/>
            <a:chExt cx="9144000" cy="6857999"/>
          </a:xfrm>
        </p:grpSpPr>
        <p:sp>
          <p:nvSpPr>
            <p:cNvPr id="7" name="Rectangle 6"/>
            <p:cNvSpPr/>
            <p:nvPr userDrawn="1"/>
          </p:nvSpPr>
          <p:spPr>
            <a:xfrm>
              <a:off x="0" y="0"/>
              <a:ext cx="9144000" cy="6857999"/>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cxnSp>
          <p:nvCxnSpPr>
            <p:cNvPr id="9" name="Straight Connector 8"/>
            <p:cNvCxnSpPr/>
            <p:nvPr userDrawn="1"/>
          </p:nvCxnSpPr>
          <p:spPr>
            <a:xfrm>
              <a:off x="448733" y="6486955"/>
              <a:ext cx="7704667" cy="0"/>
            </a:xfrm>
            <a:prstGeom prst="line">
              <a:avLst/>
            </a:prstGeom>
            <a:ln w="635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userDrawn="1"/>
          </p:nvSpPr>
          <p:spPr>
            <a:xfrm>
              <a:off x="364063" y="6486952"/>
              <a:ext cx="2421466" cy="256545"/>
            </a:xfrm>
            <a:prstGeom prst="rect">
              <a:avLst/>
            </a:prstGeom>
            <a:noFill/>
          </p:spPr>
          <p:txBody>
            <a:bodyPr wrap="square" rtlCol="0">
              <a:spAutoFit/>
            </a:bodyPr>
            <a:lstStyle/>
            <a:p>
              <a:r>
                <a:rPr lang="en-GB" sz="1067" dirty="0">
                  <a:solidFill>
                    <a:srgbClr val="FFFFFF"/>
                  </a:solidFill>
                  <a:latin typeface="Arial" charset="0"/>
                </a:rPr>
                <a:t>Copyright </a:t>
              </a:r>
              <a:r>
                <a:rPr lang="en-GB" sz="1067" dirty="0">
                  <a:solidFill>
                    <a:srgbClr val="FFFFFF"/>
                  </a:solidFill>
                  <a:latin typeface="Arial" charset="0"/>
                  <a:cs typeface="Calibri" charset="0"/>
                </a:rPr>
                <a:t>© </a:t>
              </a:r>
              <a:r>
                <a:rPr lang="en-GB" sz="1067" dirty="0">
                  <a:solidFill>
                    <a:srgbClr val="FFFFFF"/>
                  </a:solidFill>
                  <a:latin typeface="Arial" charset="0"/>
                </a:rPr>
                <a:t>The Open Group 2019</a:t>
              </a:r>
            </a:p>
          </p:txBody>
        </p:sp>
      </p:grpSp>
      <p:sp>
        <p:nvSpPr>
          <p:cNvPr id="12" name="Slide Number Placeholder 5"/>
          <p:cNvSpPr>
            <a:spLocks noGrp="1"/>
          </p:cNvSpPr>
          <p:nvPr>
            <p:ph type="sldNum" sz="quarter" idx="12"/>
          </p:nvPr>
        </p:nvSpPr>
        <p:spPr>
          <a:xfrm>
            <a:off x="10033909" y="6214358"/>
            <a:ext cx="683419" cy="365125"/>
          </a:xfrm>
          <a:prstGeom prst="rect">
            <a:avLst/>
          </a:prstGeom>
        </p:spPr>
        <p:txBody>
          <a:bodyPr/>
          <a:lstStyle>
            <a:lvl1pPr algn="ctr">
              <a:defRPr>
                <a:solidFill>
                  <a:schemeClr val="accent1"/>
                </a:solidFill>
              </a:defRPr>
            </a:lvl1pPr>
          </a:lstStyle>
          <a:p>
            <a:fld id="{4BBDA901-AC44-DA44-B86F-73C28EB4CF87}" type="slidenum">
              <a:rPr lang="en-GB" smtClean="0"/>
              <a:pPr/>
              <a:t>‹#›</a:t>
            </a:fld>
            <a:endParaRPr lang="en-GB" dirty="0"/>
          </a:p>
        </p:txBody>
      </p:sp>
      <p:sp>
        <p:nvSpPr>
          <p:cNvPr id="2" name="Title 1"/>
          <p:cNvSpPr>
            <a:spLocks noGrp="1"/>
          </p:cNvSpPr>
          <p:nvPr>
            <p:ph type="ctrTitle" hasCustomPrompt="1"/>
          </p:nvPr>
        </p:nvSpPr>
        <p:spPr>
          <a:xfrm>
            <a:off x="540174" y="2572217"/>
            <a:ext cx="7408985" cy="884079"/>
          </a:xfrm>
        </p:spPr>
        <p:txBody>
          <a:bodyPr>
            <a:normAutofit/>
          </a:bodyPr>
          <a:lstStyle>
            <a:lvl1pPr>
              <a:defRPr sz="5333" baseline="0">
                <a:solidFill>
                  <a:schemeClr val="bg1"/>
                </a:solidFill>
              </a:defRPr>
            </a:lvl1pPr>
          </a:lstStyle>
          <a:p>
            <a:r>
              <a:rPr lang="en-GB" dirty="0"/>
              <a:t>Divider Title</a:t>
            </a:r>
            <a:endParaRPr lang="en-US" dirty="0"/>
          </a:p>
        </p:txBody>
      </p:sp>
      <p:pic>
        <p:nvPicPr>
          <p:cNvPr id="13" name="7A01CB94-0562-4695-BAB5-9169043FC443" descr="BC60FF1A-5785-44E8-8643-517435B53B0F@home">
            <a:extLst>
              <a:ext uri="{FF2B5EF4-FFF2-40B4-BE49-F238E27FC236}">
                <a16:creationId xmlns:a16="http://schemas.microsoft.com/office/drawing/2014/main" id="{D4C70607-63BD-47CF-82FF-ECEC23DB8677}"/>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17328" y="6121127"/>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2232375"/>
      </p:ext>
    </p:extLst>
  </p:cSld>
  <p:clrMapOvr>
    <a:masterClrMapping/>
  </p:clrMapOvr>
  <p:extLst>
    <p:ext uri="{DCECCB84-F9BA-43D5-87BE-67443E8EF086}">
      <p15:sldGuideLst xmlns:p15="http://schemas.microsoft.com/office/powerpoint/2012/main">
        <p15:guide id="1" orient="horz" pos="4201">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p:txBody>
          <a:bodyPr/>
          <a:lstStyle>
            <a:lvl1pPr>
              <a:defRPr/>
            </a:lvl1pPr>
          </a:lstStyle>
          <a:p>
            <a:r>
              <a:rPr lang="en-US"/>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4495800"/>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213721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3" name="Picture 12" descr="OpenGroup_O_Purple.png"/>
          <p:cNvPicPr>
            <a:picLocks noChangeAspect="1"/>
          </p:cNvPicPr>
          <p:nvPr userDrawn="1"/>
        </p:nvPicPr>
        <p:blipFill rotWithShape="1">
          <a:blip r:embed="rId2" cstate="print">
            <a:grayscl/>
            <a:alphaModFix amt="10000"/>
            <a:extLst>
              <a:ext uri="{28A0092B-C50C-407E-A947-70E740481C1C}">
                <a14:useLocalDpi xmlns:a14="http://schemas.microsoft.com/office/drawing/2010/main"/>
              </a:ext>
            </a:extLst>
          </a:blip>
          <a:srcRect l="-143" t="-4471" r="8077" b="4641"/>
          <a:stretch/>
        </p:blipFill>
        <p:spPr>
          <a:xfrm>
            <a:off x="5581121" y="310104"/>
            <a:ext cx="6503413" cy="6527800"/>
          </a:xfrm>
          <a:prstGeom prst="rect">
            <a:avLst/>
          </a:prstGeom>
        </p:spPr>
      </p:pic>
      <p:pic>
        <p:nvPicPr>
          <p:cNvPr id="12" name="Picture 11" descr="tog-cmyk.png"/>
          <p:cNvPicPr>
            <a:picLocks noChangeAspect="1"/>
          </p:cNvPicPr>
          <p:nvPr userDrawn="1"/>
        </p:nvPicPr>
        <p:blipFill>
          <a:blip r:embed="rId3"/>
          <a:stretch>
            <a:fillRect/>
          </a:stretch>
        </p:blipFill>
        <p:spPr>
          <a:xfrm>
            <a:off x="312385" y="181584"/>
            <a:ext cx="1960703" cy="1178539"/>
          </a:xfrm>
          <a:prstGeom prst="rect">
            <a:avLst/>
          </a:prstGeom>
        </p:spPr>
      </p:pic>
      <p:pic>
        <p:nvPicPr>
          <p:cNvPr id="15" name="7A01CB94-0562-4695-BAB5-9169043FC443" descr="BC60FF1A-5785-44E8-8643-517435B53B0F@home">
            <a:extLst>
              <a:ext uri="{FF2B5EF4-FFF2-40B4-BE49-F238E27FC236}">
                <a16:creationId xmlns:a16="http://schemas.microsoft.com/office/drawing/2014/main" id="{7944C38D-EC0C-49B9-A7A5-18AF95ED3820}"/>
              </a:ext>
            </a:extLst>
          </p:cNvPr>
          <p:cNvPicPr>
            <a:picLocks noChangeAspect="1" noChangeArrowheads="1"/>
          </p:cNvPicPr>
          <p:nvPr userDrawn="1"/>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65333" y="6215495"/>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19691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8" name="Group 7"/>
          <p:cNvGrpSpPr/>
          <p:nvPr userDrawn="1"/>
        </p:nvGrpSpPr>
        <p:grpSpPr>
          <a:xfrm>
            <a:off x="3" y="0"/>
            <a:ext cx="12309085" cy="6858000"/>
            <a:chOff x="-24029" y="0"/>
            <a:chExt cx="9168029" cy="6858000"/>
          </a:xfrm>
        </p:grpSpPr>
        <p:pic>
          <p:nvPicPr>
            <p:cNvPr id="7" name="Picture 6" descr="iStock_000024285973_XXXLarg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029" y="0"/>
              <a:ext cx="9168029" cy="6858000"/>
            </a:xfrm>
            <a:prstGeom prst="rect">
              <a:avLst/>
            </a:prstGeom>
          </p:spPr>
        </p:pic>
        <p:pic>
          <p:nvPicPr>
            <p:cNvPr id="6" name="Picture 5" descr="OpenGroup_O_White.png"/>
            <p:cNvPicPr>
              <a:picLocks noChangeAspect="1"/>
            </p:cNvPicPr>
            <p:nvPr userDrawn="1"/>
          </p:nvPicPr>
          <p:blipFill rotWithShape="1">
            <a:blip r:embed="rId3" cstate="print">
              <a:alphaModFix amt="50000"/>
              <a:extLst>
                <a:ext uri="{28A0092B-C50C-407E-A947-70E740481C1C}">
                  <a14:useLocalDpi xmlns:a14="http://schemas.microsoft.com/office/drawing/2010/main"/>
                </a:ext>
              </a:extLst>
            </a:blip>
            <a:srcRect r="8333" b="4527"/>
            <a:stretch/>
          </p:blipFill>
          <p:spPr>
            <a:xfrm>
              <a:off x="4207933" y="597718"/>
              <a:ext cx="4936067" cy="6260282"/>
            </a:xfrm>
            <a:prstGeom prst="rect">
              <a:avLst/>
            </a:prstGeom>
            <a:effectLst>
              <a:outerShdw blurRad="758825" dir="2700000" algn="tl" rotWithShape="0">
                <a:schemeClr val="accent1">
                  <a:alpha val="13000"/>
                </a:schemeClr>
              </a:outerShdw>
            </a:effectLst>
          </p:spPr>
        </p:pic>
      </p:grpSp>
      <p:pic>
        <p:nvPicPr>
          <p:cNvPr id="13" name="Picture 12" descr="tog-cmyk.png"/>
          <p:cNvPicPr>
            <a:picLocks noChangeAspect="1"/>
          </p:cNvPicPr>
          <p:nvPr userDrawn="1"/>
        </p:nvPicPr>
        <p:blipFill>
          <a:blip r:embed="rId4"/>
          <a:stretch>
            <a:fillRect/>
          </a:stretch>
        </p:blipFill>
        <p:spPr>
          <a:xfrm>
            <a:off x="312385" y="181584"/>
            <a:ext cx="1960703" cy="1178539"/>
          </a:xfrm>
          <a:prstGeom prst="rect">
            <a:avLst/>
          </a:prstGeom>
        </p:spPr>
      </p:pic>
      <p:pic>
        <p:nvPicPr>
          <p:cNvPr id="9" name="7A01CB94-0562-4695-BAB5-9169043FC443" descr="BC60FF1A-5785-44E8-8643-517435B53B0F@home">
            <a:extLst>
              <a:ext uri="{FF2B5EF4-FFF2-40B4-BE49-F238E27FC236}">
                <a16:creationId xmlns:a16="http://schemas.microsoft.com/office/drawing/2014/main" id="{5ADADD2F-1B59-4410-974C-E8F8B7D44884}"/>
              </a:ext>
            </a:extLst>
          </p:cNvPr>
          <p:cNvPicPr>
            <a:picLocks noChangeAspect="1" noChangeArrowheads="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65333" y="6215495"/>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05096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14" name="Group 13"/>
          <p:cNvGrpSpPr/>
          <p:nvPr userDrawn="1"/>
        </p:nvGrpSpPr>
        <p:grpSpPr>
          <a:xfrm>
            <a:off x="0" y="3"/>
            <a:ext cx="12192000" cy="6857999"/>
            <a:chOff x="0" y="0"/>
            <a:chExt cx="9144000" cy="6857999"/>
          </a:xfrm>
        </p:grpSpPr>
        <p:sp>
          <p:nvSpPr>
            <p:cNvPr id="7" name="Rectangle 6"/>
            <p:cNvSpPr/>
            <p:nvPr userDrawn="1"/>
          </p:nvSpPr>
          <p:spPr>
            <a:xfrm>
              <a:off x="0" y="0"/>
              <a:ext cx="9144000" cy="6857999"/>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cxnSp>
          <p:nvCxnSpPr>
            <p:cNvPr id="9" name="Straight Connector 8"/>
            <p:cNvCxnSpPr/>
            <p:nvPr userDrawn="1"/>
          </p:nvCxnSpPr>
          <p:spPr>
            <a:xfrm>
              <a:off x="448733" y="6486955"/>
              <a:ext cx="7704667" cy="0"/>
            </a:xfrm>
            <a:prstGeom prst="line">
              <a:avLst/>
            </a:prstGeom>
            <a:ln w="635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userDrawn="1"/>
          </p:nvSpPr>
          <p:spPr>
            <a:xfrm>
              <a:off x="364063" y="6486952"/>
              <a:ext cx="2421466" cy="256545"/>
            </a:xfrm>
            <a:prstGeom prst="rect">
              <a:avLst/>
            </a:prstGeom>
            <a:noFill/>
          </p:spPr>
          <p:txBody>
            <a:bodyPr wrap="square" rtlCol="0">
              <a:spAutoFit/>
            </a:bodyPr>
            <a:lstStyle/>
            <a:p>
              <a:r>
                <a:rPr lang="en-GB" sz="1067" dirty="0">
                  <a:solidFill>
                    <a:srgbClr val="FFFFFF"/>
                  </a:solidFill>
                  <a:latin typeface="Arial" charset="0"/>
                </a:rPr>
                <a:t>Copyright </a:t>
              </a:r>
              <a:r>
                <a:rPr lang="en-GB" sz="1067" dirty="0">
                  <a:solidFill>
                    <a:srgbClr val="FFFFFF"/>
                  </a:solidFill>
                  <a:latin typeface="Arial" charset="0"/>
                  <a:cs typeface="Calibri" charset="0"/>
                </a:rPr>
                <a:t>© </a:t>
              </a:r>
              <a:r>
                <a:rPr lang="en-GB" sz="1067" dirty="0">
                  <a:solidFill>
                    <a:srgbClr val="FFFFFF"/>
                  </a:solidFill>
                  <a:latin typeface="Arial" charset="0"/>
                </a:rPr>
                <a:t>The Open Group 2019</a:t>
              </a:r>
            </a:p>
          </p:txBody>
        </p:sp>
      </p:grpSp>
      <p:sp>
        <p:nvSpPr>
          <p:cNvPr id="12" name="Slide Number Placeholder 5"/>
          <p:cNvSpPr>
            <a:spLocks noGrp="1"/>
          </p:cNvSpPr>
          <p:nvPr>
            <p:ph type="sldNum" sz="quarter" idx="12"/>
          </p:nvPr>
        </p:nvSpPr>
        <p:spPr>
          <a:xfrm>
            <a:off x="10033910" y="6214358"/>
            <a:ext cx="683419" cy="365125"/>
          </a:xfrm>
          <a:prstGeom prst="rect">
            <a:avLst/>
          </a:prstGeom>
        </p:spPr>
        <p:txBody>
          <a:bodyPr/>
          <a:lstStyle>
            <a:lvl1pPr algn="ctr">
              <a:defRPr>
                <a:solidFill>
                  <a:schemeClr val="accent1"/>
                </a:solidFill>
              </a:defRPr>
            </a:lvl1pPr>
          </a:lstStyle>
          <a:p>
            <a:fld id="{4BBDA901-AC44-DA44-B86F-73C28EB4CF87}" type="slidenum">
              <a:rPr lang="en-GB" smtClean="0"/>
              <a:pPr/>
              <a:t>‹#›</a:t>
            </a:fld>
            <a:endParaRPr lang="en-GB" dirty="0"/>
          </a:p>
        </p:txBody>
      </p:sp>
      <p:sp>
        <p:nvSpPr>
          <p:cNvPr id="2" name="Title 1"/>
          <p:cNvSpPr>
            <a:spLocks noGrp="1"/>
          </p:cNvSpPr>
          <p:nvPr>
            <p:ph type="ctrTitle" hasCustomPrompt="1"/>
          </p:nvPr>
        </p:nvSpPr>
        <p:spPr>
          <a:xfrm>
            <a:off x="540174" y="2572218"/>
            <a:ext cx="7408985" cy="884079"/>
          </a:xfrm>
        </p:spPr>
        <p:txBody>
          <a:bodyPr>
            <a:normAutofit/>
          </a:bodyPr>
          <a:lstStyle>
            <a:lvl1pPr>
              <a:defRPr sz="5333" baseline="0">
                <a:solidFill>
                  <a:schemeClr val="bg1"/>
                </a:solidFill>
              </a:defRPr>
            </a:lvl1pPr>
          </a:lstStyle>
          <a:p>
            <a:r>
              <a:rPr lang="en-GB" dirty="0"/>
              <a:t>Divider Title</a:t>
            </a:r>
            <a:endParaRPr lang="en-US" dirty="0"/>
          </a:p>
        </p:txBody>
      </p:sp>
      <p:pic>
        <p:nvPicPr>
          <p:cNvPr id="13" name="7A01CB94-0562-4695-BAB5-9169043FC443" descr="BC60FF1A-5785-44E8-8643-517435B53B0F@home">
            <a:extLst>
              <a:ext uri="{FF2B5EF4-FFF2-40B4-BE49-F238E27FC236}">
                <a16:creationId xmlns:a16="http://schemas.microsoft.com/office/drawing/2014/main" id="{D4C70607-63BD-47CF-82FF-ECEC23DB8677}"/>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17328" y="6121127"/>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3574015"/>
      </p:ext>
    </p:extLst>
  </p:cSld>
  <p:clrMapOvr>
    <a:masterClrMapping/>
  </p:clrMapOvr>
  <p:extLst>
    <p:ext uri="{DCECCB84-F9BA-43D5-87BE-67443E8EF086}">
      <p15:sldGuideLst xmlns:p15="http://schemas.microsoft.com/office/powerpoint/2012/main">
        <p15:guide id="1" orient="horz" pos="4201">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733" b="1">
                <a:solidFill>
                  <a:schemeClr val="accent1"/>
                </a:solidFill>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defRPr sz="3200">
                <a:solidFill>
                  <a:schemeClr val="tx2"/>
                </a:solidFill>
                <a:latin typeface="Arial" panose="020B0604020202020204" pitchFamily="34" charset="0"/>
                <a:cs typeface="Arial" panose="020B0604020202020204" pitchFamily="34" charset="0"/>
              </a:defRPr>
            </a:lvl1pPr>
            <a:lvl2pPr>
              <a:defRPr sz="2667">
                <a:solidFill>
                  <a:schemeClr val="tx2"/>
                </a:solidFill>
                <a:latin typeface="Arial" panose="020B0604020202020204" pitchFamily="34" charset="0"/>
                <a:cs typeface="Arial" panose="020B0604020202020204" pitchFamily="34" charset="0"/>
              </a:defRPr>
            </a:lvl2pPr>
            <a:lvl3pPr>
              <a:defRPr sz="2400">
                <a:solidFill>
                  <a:schemeClr val="tx2"/>
                </a:solidFill>
                <a:latin typeface="Arial" panose="020B0604020202020204" pitchFamily="34"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1867">
                <a:solidFill>
                  <a:schemeClr val="tx2"/>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8" name="Straight Connector 7"/>
          <p:cNvCxnSpPr/>
          <p:nvPr userDrawn="1"/>
        </p:nvCxnSpPr>
        <p:spPr>
          <a:xfrm>
            <a:off x="544723" y="6476907"/>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userDrawn="1"/>
        </p:nvSpPr>
        <p:spPr>
          <a:xfrm>
            <a:off x="431828" y="6476904"/>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a:spLocks noGrp="1"/>
          </p:cNvSpPr>
          <p:nvPr>
            <p:ph type="sldNum" sz="quarter" idx="12"/>
          </p:nvPr>
        </p:nvSpPr>
        <p:spPr>
          <a:xfrm>
            <a:off x="9188217" y="6218237"/>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613617416"/>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733" b="1">
                <a:solidFill>
                  <a:schemeClr val="accent1"/>
                </a:solidFill>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defRPr sz="3200">
                <a:solidFill>
                  <a:schemeClr val="tx2"/>
                </a:solidFill>
                <a:latin typeface="Arial" panose="020B0604020202020204" pitchFamily="34" charset="0"/>
                <a:cs typeface="Arial" panose="020B0604020202020204" pitchFamily="34" charset="0"/>
              </a:defRPr>
            </a:lvl1pPr>
            <a:lvl2pPr>
              <a:defRPr sz="2667">
                <a:solidFill>
                  <a:schemeClr val="tx2"/>
                </a:solidFill>
                <a:latin typeface="Arial" panose="020B0604020202020204" pitchFamily="34" charset="0"/>
                <a:cs typeface="Arial" panose="020B0604020202020204" pitchFamily="34" charset="0"/>
              </a:defRPr>
            </a:lvl2pPr>
            <a:lvl3pPr>
              <a:defRPr sz="2400">
                <a:solidFill>
                  <a:schemeClr val="tx2"/>
                </a:solidFill>
                <a:latin typeface="Arial" panose="020B0604020202020204" pitchFamily="34"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1867">
                <a:solidFill>
                  <a:schemeClr val="tx2"/>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8" name="Straight Connector 7"/>
          <p:cNvCxnSpPr/>
          <p:nvPr userDrawn="1"/>
        </p:nvCxnSpPr>
        <p:spPr>
          <a:xfrm>
            <a:off x="544723" y="6486956"/>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userDrawn="1"/>
        </p:nvSpPr>
        <p:spPr>
          <a:xfrm>
            <a:off x="431828" y="6486954"/>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a:spLocks noGrp="1"/>
          </p:cNvSpPr>
          <p:nvPr>
            <p:ph type="sldNum" sz="quarter" idx="12"/>
          </p:nvPr>
        </p:nvSpPr>
        <p:spPr>
          <a:xfrm>
            <a:off x="9213976" y="6204548"/>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378756157"/>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733" b="1">
                <a:solidFill>
                  <a:schemeClr val="accent1"/>
                </a:solidFill>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defRPr sz="3200">
                <a:solidFill>
                  <a:schemeClr val="tx2"/>
                </a:solidFill>
                <a:latin typeface="Arial" panose="020B0604020202020204" pitchFamily="34" charset="0"/>
                <a:cs typeface="Arial" panose="020B0604020202020204" pitchFamily="34" charset="0"/>
              </a:defRPr>
            </a:lvl1pPr>
            <a:lvl2pPr>
              <a:defRPr sz="2667">
                <a:solidFill>
                  <a:schemeClr val="tx2"/>
                </a:solidFill>
                <a:latin typeface="Arial" panose="020B0604020202020204" pitchFamily="34" charset="0"/>
                <a:cs typeface="Arial" panose="020B0604020202020204" pitchFamily="34" charset="0"/>
              </a:defRPr>
            </a:lvl2pPr>
            <a:lvl3pPr>
              <a:defRPr sz="2400">
                <a:solidFill>
                  <a:schemeClr val="tx2"/>
                </a:solidFill>
                <a:latin typeface="Arial" panose="020B0604020202020204" pitchFamily="34"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1867">
                <a:solidFill>
                  <a:schemeClr val="tx2"/>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p:cNvSpPr>
            <a:spLocks noGrp="1"/>
          </p:cNvSpPr>
          <p:nvPr>
            <p:ph type="sldNum" sz="quarter" idx="12"/>
          </p:nvPr>
        </p:nvSpPr>
        <p:spPr>
          <a:xfrm>
            <a:off x="9239733" y="6204548"/>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cxnSp>
        <p:nvCxnSpPr>
          <p:cNvPr id="8" name="Straight Connector 7"/>
          <p:cNvCxnSpPr/>
          <p:nvPr userDrawn="1"/>
        </p:nvCxnSpPr>
        <p:spPr>
          <a:xfrm>
            <a:off x="544723" y="6486952"/>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userDrawn="1"/>
        </p:nvSpPr>
        <p:spPr>
          <a:xfrm>
            <a:off x="431828" y="6486950"/>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pic>
        <p:nvPicPr>
          <p:cNvPr id="15" name="Picture 14" descr="OpenGroup_O_Purple.png"/>
          <p:cNvPicPr>
            <a:picLocks noChangeAspect="1"/>
          </p:cNvPicPr>
          <p:nvPr userDrawn="1"/>
        </p:nvPicPr>
        <p:blipFill rotWithShape="1">
          <a:blip r:embed="rId2" cstate="print">
            <a:grayscl/>
            <a:alphaModFix amt="10000"/>
            <a:extLst>
              <a:ext uri="{28A0092B-C50C-407E-A947-70E740481C1C}">
                <a14:useLocalDpi xmlns:a14="http://schemas.microsoft.com/office/drawing/2010/main"/>
              </a:ext>
            </a:extLst>
          </a:blip>
          <a:srcRect l="-143" t="-4471" r="8077" b="4641"/>
          <a:stretch/>
        </p:blipFill>
        <p:spPr>
          <a:xfrm>
            <a:off x="7080234" y="22936"/>
            <a:ext cx="5004300" cy="6607644"/>
          </a:xfrm>
          <a:prstGeom prst="rect">
            <a:avLst/>
          </a:prstGeom>
        </p:spPr>
      </p:pic>
    </p:spTree>
    <p:extLst>
      <p:ext uri="{BB962C8B-B14F-4D97-AF65-F5344CB8AC3E}">
        <p14:creationId xmlns:p14="http://schemas.microsoft.com/office/powerpoint/2010/main" val="3009217083"/>
      </p:ext>
    </p:extLst>
  </p:cSld>
  <p:clrMapOvr>
    <a:masterClrMapping/>
  </p:clrMapOvr>
  <p:extLst>
    <p:ext uri="{DCECCB84-F9BA-43D5-87BE-67443E8EF086}">
      <p15:sldGuideLst xmlns:p15="http://schemas.microsoft.com/office/powerpoint/2012/main">
        <p15:guide id="1" orient="horz" pos="4201">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defTabSz="609561" rtl="0" eaLnBrk="1" latinLnBrk="0" hangingPunct="1">
              <a:spcBef>
                <a:spcPct val="0"/>
              </a:spcBef>
              <a:buNone/>
              <a:defRPr lang="en-US" sz="3733" b="1" kern="1200" dirty="0">
                <a:solidFill>
                  <a:schemeClr val="accent1"/>
                </a:solidFill>
                <a:latin typeface="Arial" panose="020B0604020202020204" pitchFamily="34" charset="0"/>
                <a:ea typeface="+mj-ea"/>
                <a:cs typeface="Arial" panose="020B0604020202020204" pitchFamily="34" charset="0"/>
              </a:defRPr>
            </a:lvl1pPr>
          </a:lstStyle>
          <a:p>
            <a:r>
              <a:rPr lang="en-GB" dirty="0"/>
              <a:t>Click to edit Master title style</a:t>
            </a:r>
            <a:endParaRPr lang="en-US" dirty="0"/>
          </a:p>
        </p:txBody>
      </p:sp>
      <p:sp>
        <p:nvSpPr>
          <p:cNvPr id="3" name="Content Placeholder 2"/>
          <p:cNvSpPr>
            <a:spLocks noGrp="1"/>
          </p:cNvSpPr>
          <p:nvPr>
            <p:ph sz="half" idx="1"/>
          </p:nvPr>
        </p:nvSpPr>
        <p:spPr>
          <a:xfrm>
            <a:off x="609600" y="1600202"/>
            <a:ext cx="5384800" cy="4525963"/>
          </a:xfrm>
        </p:spPr>
        <p:txBody>
          <a:bodyPr>
            <a:normAutofit/>
          </a:bodyPr>
          <a:lstStyle>
            <a:lvl1pPr algn="l" defTabSz="609561" rtl="0" eaLnBrk="1" latinLnBrk="0" hangingPunct="1">
              <a:spcBef>
                <a:spcPct val="20000"/>
              </a:spcBef>
              <a:buFont typeface="Arial"/>
              <a:defRPr lang="en-GB" sz="3200" kern="1200" dirty="0">
                <a:solidFill>
                  <a:schemeClr val="tx2"/>
                </a:solidFill>
                <a:latin typeface="Arial" panose="020B0604020202020204" pitchFamily="34" charset="0"/>
                <a:ea typeface="+mn-ea"/>
                <a:cs typeface="Arial" panose="020B0604020202020204" pitchFamily="34" charset="0"/>
              </a:defRPr>
            </a:lvl1pPr>
            <a:lvl2pPr algn="l" defTabSz="609561" rtl="0" eaLnBrk="1" latinLnBrk="0" hangingPunct="1">
              <a:spcBef>
                <a:spcPct val="20000"/>
              </a:spcBef>
              <a:buFont typeface="Arial"/>
              <a:defRPr lang="en-GB" sz="2667" kern="1200" dirty="0">
                <a:solidFill>
                  <a:schemeClr val="tx2"/>
                </a:solidFill>
                <a:latin typeface="Arial" panose="020B0604020202020204" pitchFamily="34" charset="0"/>
                <a:ea typeface="+mn-ea"/>
                <a:cs typeface="Arial" panose="020B0604020202020204" pitchFamily="34" charset="0"/>
              </a:defRPr>
            </a:lvl2pPr>
            <a:lvl3pPr algn="l" defTabSz="609561" rtl="0" eaLnBrk="1" latinLnBrk="0" hangingPunct="1">
              <a:spcBef>
                <a:spcPct val="20000"/>
              </a:spcBef>
              <a:buFont typeface="Arial"/>
              <a:defRPr lang="en-GB" sz="2400" kern="1200" dirty="0">
                <a:solidFill>
                  <a:schemeClr val="tx2"/>
                </a:solidFill>
                <a:latin typeface="Arial" panose="020B0604020202020204" pitchFamily="34" charset="0"/>
                <a:ea typeface="+mn-ea"/>
                <a:cs typeface="Arial" panose="020B0604020202020204" pitchFamily="34" charset="0"/>
              </a:defRPr>
            </a:lvl3pPr>
            <a:lvl4pPr algn="l" defTabSz="609561" rtl="0" eaLnBrk="1" latinLnBrk="0" hangingPunct="1">
              <a:spcBef>
                <a:spcPct val="20000"/>
              </a:spcBef>
              <a:buFont typeface="Arial"/>
              <a:defRPr lang="en-GB" sz="2133" kern="1200" dirty="0">
                <a:solidFill>
                  <a:schemeClr val="tx2"/>
                </a:solidFill>
                <a:latin typeface="Arial" panose="020B0604020202020204" pitchFamily="34" charset="0"/>
                <a:ea typeface="+mn-ea"/>
                <a:cs typeface="Arial" panose="020B0604020202020204" pitchFamily="34" charset="0"/>
              </a:defRPr>
            </a:lvl4pPr>
            <a:lvl5pPr algn="l" defTabSz="609561" rtl="0" eaLnBrk="1" latinLnBrk="0" hangingPunct="1">
              <a:spcBef>
                <a:spcPct val="20000"/>
              </a:spcBef>
              <a:buFont typeface="Arial"/>
              <a:defRPr lang="en-US" sz="1867" kern="1200" dirty="0">
                <a:solidFill>
                  <a:schemeClr val="tx2"/>
                </a:solidFill>
                <a:latin typeface="Arial" panose="020B0604020202020204" pitchFamily="34" charset="0"/>
                <a:ea typeface="+mn-ea"/>
                <a:cs typeface="Arial" panose="020B0604020202020204" pitchFamily="34" charset="0"/>
              </a:defRPr>
            </a:lvl5pPr>
            <a:lvl6pPr>
              <a:defRPr sz="2400"/>
            </a:lvl6pPr>
            <a:lvl7pPr>
              <a:defRPr sz="2400"/>
            </a:lvl7pPr>
            <a:lvl8pPr>
              <a:defRPr sz="2400"/>
            </a:lvl8pPr>
            <a:lvl9pPr>
              <a:defRPr sz="24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6197600" y="1600202"/>
            <a:ext cx="5384800" cy="4525963"/>
          </a:xfrm>
        </p:spPr>
        <p:txBody>
          <a:bodyPr>
            <a:normAutofit/>
          </a:bodyPr>
          <a:lstStyle>
            <a:lvl1pPr algn="l" defTabSz="609561" rtl="0" eaLnBrk="1" latinLnBrk="0" hangingPunct="1">
              <a:spcBef>
                <a:spcPct val="20000"/>
              </a:spcBef>
              <a:buFont typeface="Arial"/>
              <a:defRPr lang="en-GB" sz="3200" kern="1200" dirty="0">
                <a:solidFill>
                  <a:schemeClr val="tx2"/>
                </a:solidFill>
                <a:latin typeface="Arial" panose="020B0604020202020204" pitchFamily="34" charset="0"/>
                <a:ea typeface="+mn-ea"/>
                <a:cs typeface="Arial" panose="020B0604020202020204" pitchFamily="34" charset="0"/>
              </a:defRPr>
            </a:lvl1pPr>
            <a:lvl2pPr algn="l" defTabSz="609561" rtl="0" eaLnBrk="1" latinLnBrk="0" hangingPunct="1">
              <a:spcBef>
                <a:spcPct val="20000"/>
              </a:spcBef>
              <a:buFont typeface="Arial"/>
              <a:defRPr lang="en-GB" sz="2667" kern="1200" dirty="0">
                <a:solidFill>
                  <a:schemeClr val="tx2"/>
                </a:solidFill>
                <a:latin typeface="Arial" panose="020B0604020202020204" pitchFamily="34" charset="0"/>
                <a:ea typeface="+mn-ea"/>
                <a:cs typeface="Arial" panose="020B0604020202020204" pitchFamily="34" charset="0"/>
              </a:defRPr>
            </a:lvl2pPr>
            <a:lvl3pPr algn="l" defTabSz="609561" rtl="0" eaLnBrk="1" latinLnBrk="0" hangingPunct="1">
              <a:spcBef>
                <a:spcPct val="20000"/>
              </a:spcBef>
              <a:buFont typeface="Arial"/>
              <a:defRPr lang="en-GB" sz="2400" kern="1200" dirty="0">
                <a:solidFill>
                  <a:schemeClr val="tx2"/>
                </a:solidFill>
                <a:latin typeface="Arial" panose="020B0604020202020204" pitchFamily="34" charset="0"/>
                <a:ea typeface="+mn-ea"/>
                <a:cs typeface="Arial" panose="020B0604020202020204" pitchFamily="34" charset="0"/>
              </a:defRPr>
            </a:lvl3pPr>
            <a:lvl4pPr algn="l" defTabSz="609561" rtl="0" eaLnBrk="1" latinLnBrk="0" hangingPunct="1">
              <a:spcBef>
                <a:spcPct val="20000"/>
              </a:spcBef>
              <a:buFont typeface="Arial"/>
              <a:defRPr lang="en-GB" sz="2133" kern="1200" dirty="0">
                <a:solidFill>
                  <a:schemeClr val="tx2"/>
                </a:solidFill>
                <a:latin typeface="Arial" panose="020B0604020202020204" pitchFamily="34" charset="0"/>
                <a:ea typeface="+mn-ea"/>
                <a:cs typeface="Arial" panose="020B0604020202020204" pitchFamily="34" charset="0"/>
              </a:defRPr>
            </a:lvl4pPr>
            <a:lvl5pPr algn="l" defTabSz="609561" rtl="0" eaLnBrk="1" latinLnBrk="0" hangingPunct="1">
              <a:spcBef>
                <a:spcPct val="20000"/>
              </a:spcBef>
              <a:buFont typeface="Arial"/>
              <a:defRPr lang="en-US" sz="1867" kern="1200" dirty="0">
                <a:solidFill>
                  <a:schemeClr val="tx2"/>
                </a:solidFill>
                <a:latin typeface="Arial" panose="020B0604020202020204" pitchFamily="34" charset="0"/>
                <a:ea typeface="+mn-ea"/>
                <a:cs typeface="Arial" panose="020B0604020202020204" pitchFamily="34" charset="0"/>
              </a:defRPr>
            </a:lvl5pPr>
            <a:lvl6pPr>
              <a:defRPr sz="2400"/>
            </a:lvl6pPr>
            <a:lvl7pPr>
              <a:defRPr sz="2400"/>
            </a:lvl7pPr>
            <a:lvl8pPr>
              <a:defRPr sz="2400"/>
            </a:lvl8pPr>
            <a:lvl9pPr>
              <a:defRPr sz="24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TextBox 8"/>
          <p:cNvSpPr txBox="1"/>
          <p:nvPr userDrawn="1"/>
        </p:nvSpPr>
        <p:spPr>
          <a:xfrm>
            <a:off x="485419" y="6486954"/>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cxnSp>
        <p:nvCxnSpPr>
          <p:cNvPr id="11" name="Straight Connector 10"/>
          <p:cNvCxnSpPr/>
          <p:nvPr userDrawn="1"/>
        </p:nvCxnSpPr>
        <p:spPr>
          <a:xfrm>
            <a:off x="544723" y="6486956"/>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4" name="Slide Number Placeholder 5"/>
          <p:cNvSpPr>
            <a:spLocks noGrp="1"/>
          </p:cNvSpPr>
          <p:nvPr>
            <p:ph type="sldNum" sz="quarter" idx="12"/>
          </p:nvPr>
        </p:nvSpPr>
        <p:spPr>
          <a:xfrm>
            <a:off x="9205389" y="6200137"/>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575642088"/>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defTabSz="609561" rtl="0" eaLnBrk="1" latinLnBrk="0" hangingPunct="1">
              <a:spcBef>
                <a:spcPct val="0"/>
              </a:spcBef>
              <a:buNone/>
              <a:defRPr lang="en-US" sz="3733" b="1" kern="1200" dirty="0">
                <a:solidFill>
                  <a:schemeClr val="accent1"/>
                </a:solidFill>
                <a:latin typeface="Arial" panose="020B0604020202020204" pitchFamily="34" charset="0"/>
                <a:ea typeface="+mj-ea"/>
                <a:cs typeface="Arial" panose="020B0604020202020204" pitchFamily="34" charset="0"/>
              </a:defRPr>
            </a:lvl1pPr>
          </a:lstStyle>
          <a:p>
            <a:r>
              <a:rPr lang="en-GB" dirty="0"/>
              <a:t>Click to edit Master title style</a:t>
            </a:r>
            <a:endParaRPr lang="en-US" dirty="0"/>
          </a:p>
        </p:txBody>
      </p:sp>
      <p:cxnSp>
        <p:nvCxnSpPr>
          <p:cNvPr id="6" name="Straight Connector 5"/>
          <p:cNvCxnSpPr/>
          <p:nvPr userDrawn="1"/>
        </p:nvCxnSpPr>
        <p:spPr>
          <a:xfrm>
            <a:off x="598314" y="6497004"/>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userDrawn="1"/>
        </p:nvSpPr>
        <p:spPr>
          <a:xfrm>
            <a:off x="485419" y="6497002"/>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a:spLocks noGrp="1"/>
          </p:cNvSpPr>
          <p:nvPr>
            <p:ph type="sldNum" sz="quarter" idx="12"/>
          </p:nvPr>
        </p:nvSpPr>
        <p:spPr>
          <a:xfrm>
            <a:off x="9248320" y="6218237"/>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39789387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cxnSp>
        <p:nvCxnSpPr>
          <p:cNvPr id="5" name="Straight Connector 4"/>
          <p:cNvCxnSpPr/>
          <p:nvPr userDrawn="1"/>
        </p:nvCxnSpPr>
        <p:spPr>
          <a:xfrm>
            <a:off x="598314" y="6486956"/>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userDrawn="1"/>
        </p:nvSpPr>
        <p:spPr>
          <a:xfrm>
            <a:off x="485419" y="6486954"/>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10" name="Slide Number Placeholder 5"/>
          <p:cNvSpPr txBox="1">
            <a:spLocks/>
          </p:cNvSpPr>
          <p:nvPr userDrawn="1"/>
        </p:nvSpPr>
        <p:spPr>
          <a:xfrm>
            <a:off x="9256905" y="6185343"/>
            <a:ext cx="2844800" cy="365125"/>
          </a:xfrm>
          <a:prstGeom prst="rect">
            <a:avLst/>
          </a:prstGeom>
        </p:spPr>
        <p:txBody>
          <a:bodyPr/>
          <a:lstStyle>
            <a:defPPr>
              <a:defRPr lang="en-US"/>
            </a:defPPr>
            <a:lvl1pPr marL="0" algn="ctr" defTabSz="457200" rtl="0" eaLnBrk="1" latinLnBrk="0" hangingPunct="1">
              <a:defRPr sz="1800" kern="1200">
                <a:solidFill>
                  <a:schemeClr val="bg2">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BBDA901-AC44-DA44-B86F-73C28EB4CF87}" type="slidenum">
              <a:rPr lang="en-GB" sz="1333" smtClean="0">
                <a:latin typeface="Arial" panose="020B0604020202020204" pitchFamily="34" charset="0"/>
                <a:cs typeface="Arial" panose="020B0604020202020204" pitchFamily="34" charset="0"/>
              </a:rPr>
              <a:pPr/>
              <a:t>‹#›</a:t>
            </a:fld>
            <a:endParaRPr lang="en-GB" sz="133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2562039"/>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cxnSp>
        <p:nvCxnSpPr>
          <p:cNvPr id="5" name="Straight Connector 4"/>
          <p:cNvCxnSpPr/>
          <p:nvPr userDrawn="1"/>
        </p:nvCxnSpPr>
        <p:spPr>
          <a:xfrm>
            <a:off x="598314" y="6486955"/>
            <a:ext cx="10272889" cy="0"/>
          </a:xfrm>
          <a:prstGeom prst="line">
            <a:avLst/>
          </a:prstGeom>
          <a:ln w="63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userDrawn="1"/>
        </p:nvSpPr>
        <p:spPr>
          <a:xfrm>
            <a:off x="485419" y="6486951"/>
            <a:ext cx="3228621" cy="256545"/>
          </a:xfrm>
          <a:prstGeom prst="rect">
            <a:avLst/>
          </a:prstGeom>
          <a:noFill/>
        </p:spPr>
        <p:txBody>
          <a:bodyPr wrap="square" rtlCol="0">
            <a:spAutoFit/>
          </a:bodyPr>
          <a:lstStyle/>
          <a:p>
            <a:r>
              <a:rPr lang="en-GB" sz="1067" dirty="0">
                <a:solidFill>
                  <a:schemeClr val="bg2">
                    <a:lumMod val="75000"/>
                  </a:schemeClr>
                </a:solidFill>
                <a:latin typeface="Arial" charset="0"/>
              </a:rPr>
              <a:t>Copyright </a:t>
            </a:r>
            <a:r>
              <a:rPr lang="en-GB" sz="1067" dirty="0">
                <a:solidFill>
                  <a:schemeClr val="bg2">
                    <a:lumMod val="75000"/>
                  </a:schemeClr>
                </a:solidFill>
                <a:latin typeface="Arial" charset="0"/>
                <a:cs typeface="Calibri" charset="0"/>
              </a:rPr>
              <a:t>© </a:t>
            </a:r>
            <a:r>
              <a:rPr lang="en-GB" sz="1067" dirty="0">
                <a:solidFill>
                  <a:schemeClr val="bg2">
                    <a:lumMod val="75000"/>
                  </a:schemeClr>
                </a:solidFill>
                <a:latin typeface="Arial" charset="0"/>
              </a:rPr>
              <a:t>The Open Group 2019</a:t>
            </a:r>
          </a:p>
        </p:txBody>
      </p:sp>
      <p:sp>
        <p:nvSpPr>
          <p:cNvPr id="9" name="Slide Number Placeholder 5"/>
          <p:cNvSpPr>
            <a:spLocks noGrp="1"/>
          </p:cNvSpPr>
          <p:nvPr>
            <p:ph type="sldNum" sz="quarter" idx="12"/>
          </p:nvPr>
        </p:nvSpPr>
        <p:spPr>
          <a:xfrm>
            <a:off x="9256904" y="6200253"/>
            <a:ext cx="2844800" cy="365125"/>
          </a:xfrm>
          <a:prstGeom prst="rect">
            <a:avLst/>
          </a:prstGeom>
        </p:spPr>
        <p:txBody>
          <a:bodyPr/>
          <a:lstStyle>
            <a:lvl1pPr algn="ctr">
              <a:defRPr>
                <a:solidFill>
                  <a:schemeClr val="bg2">
                    <a:lumMod val="75000"/>
                  </a:schemeClr>
                </a:solidFill>
              </a:defRPr>
            </a:lvl1pPr>
          </a:lstStyle>
          <a:p>
            <a:fld id="{4BBDA901-AC44-DA44-B86F-73C28EB4CF87}" type="slidenum">
              <a:rPr lang="en-GB" smtClean="0"/>
              <a:pPr/>
              <a:t>‹#›</a:t>
            </a:fld>
            <a:endParaRPr lang="en-GB" dirty="0"/>
          </a:p>
        </p:txBody>
      </p:sp>
    </p:spTree>
    <p:extLst>
      <p:ext uri="{BB962C8B-B14F-4D97-AF65-F5344CB8AC3E}">
        <p14:creationId xmlns:p14="http://schemas.microsoft.com/office/powerpoint/2010/main" val="3490300068"/>
      </p:ext>
    </p:extLst>
  </p:cSld>
  <p:clrMapOvr>
    <a:masterClrMapping/>
  </p:clrMapOvr>
  <p:extLst>
    <p:ext uri="{DCECCB84-F9BA-43D5-87BE-67443E8EF086}">
      <p15:sldGuideLst xmlns:p15="http://schemas.microsoft.com/office/powerpoint/2012/main">
        <p15:guide id="1" orient="horz" pos="42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14" name="Group 13"/>
          <p:cNvGrpSpPr/>
          <p:nvPr userDrawn="1"/>
        </p:nvGrpSpPr>
        <p:grpSpPr>
          <a:xfrm>
            <a:off x="0" y="3"/>
            <a:ext cx="12192000" cy="6857999"/>
            <a:chOff x="0" y="0"/>
            <a:chExt cx="9144000" cy="6857999"/>
          </a:xfrm>
        </p:grpSpPr>
        <p:sp>
          <p:nvSpPr>
            <p:cNvPr id="7" name="Rectangle 6"/>
            <p:cNvSpPr/>
            <p:nvPr userDrawn="1"/>
          </p:nvSpPr>
          <p:spPr>
            <a:xfrm>
              <a:off x="0" y="0"/>
              <a:ext cx="9144000" cy="6857999"/>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cxnSp>
          <p:nvCxnSpPr>
            <p:cNvPr id="9" name="Straight Connector 8"/>
            <p:cNvCxnSpPr/>
            <p:nvPr userDrawn="1"/>
          </p:nvCxnSpPr>
          <p:spPr>
            <a:xfrm>
              <a:off x="448733" y="6486955"/>
              <a:ext cx="7704667" cy="0"/>
            </a:xfrm>
            <a:prstGeom prst="line">
              <a:avLst/>
            </a:prstGeom>
            <a:ln w="635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userDrawn="1"/>
          </p:nvSpPr>
          <p:spPr>
            <a:xfrm>
              <a:off x="364063" y="6486952"/>
              <a:ext cx="2421466" cy="256545"/>
            </a:xfrm>
            <a:prstGeom prst="rect">
              <a:avLst/>
            </a:prstGeom>
            <a:noFill/>
          </p:spPr>
          <p:txBody>
            <a:bodyPr wrap="square" rtlCol="0">
              <a:spAutoFit/>
            </a:bodyPr>
            <a:lstStyle/>
            <a:p>
              <a:r>
                <a:rPr lang="en-GB" sz="1067" dirty="0">
                  <a:solidFill>
                    <a:srgbClr val="FFFFFF"/>
                  </a:solidFill>
                  <a:latin typeface="Arial" charset="0"/>
                </a:rPr>
                <a:t>Copyright </a:t>
              </a:r>
              <a:r>
                <a:rPr lang="en-GB" sz="1067" dirty="0">
                  <a:solidFill>
                    <a:srgbClr val="FFFFFF"/>
                  </a:solidFill>
                  <a:latin typeface="Arial" charset="0"/>
                  <a:cs typeface="Calibri" charset="0"/>
                </a:rPr>
                <a:t>© </a:t>
              </a:r>
              <a:r>
                <a:rPr lang="en-GB" sz="1067" dirty="0">
                  <a:solidFill>
                    <a:srgbClr val="FFFFFF"/>
                  </a:solidFill>
                  <a:latin typeface="Arial" charset="0"/>
                </a:rPr>
                <a:t>The Open Group 2019</a:t>
              </a:r>
            </a:p>
          </p:txBody>
        </p:sp>
      </p:grpSp>
      <p:sp>
        <p:nvSpPr>
          <p:cNvPr id="12" name="Slide Number Placeholder 5"/>
          <p:cNvSpPr>
            <a:spLocks noGrp="1"/>
          </p:cNvSpPr>
          <p:nvPr>
            <p:ph type="sldNum" sz="quarter" idx="12"/>
          </p:nvPr>
        </p:nvSpPr>
        <p:spPr>
          <a:xfrm>
            <a:off x="10033910" y="6214358"/>
            <a:ext cx="683419" cy="365125"/>
          </a:xfrm>
          <a:prstGeom prst="rect">
            <a:avLst/>
          </a:prstGeom>
        </p:spPr>
        <p:txBody>
          <a:bodyPr/>
          <a:lstStyle>
            <a:lvl1pPr algn="ctr">
              <a:defRPr>
                <a:solidFill>
                  <a:schemeClr val="accent1"/>
                </a:solidFill>
              </a:defRPr>
            </a:lvl1pPr>
          </a:lstStyle>
          <a:p>
            <a:fld id="{4BBDA901-AC44-DA44-B86F-73C28EB4CF87}" type="slidenum">
              <a:rPr lang="en-GB" smtClean="0"/>
              <a:pPr/>
              <a:t>‹#›</a:t>
            </a:fld>
            <a:endParaRPr lang="en-GB" dirty="0"/>
          </a:p>
        </p:txBody>
      </p:sp>
      <p:sp>
        <p:nvSpPr>
          <p:cNvPr id="2" name="Title 1"/>
          <p:cNvSpPr>
            <a:spLocks noGrp="1"/>
          </p:cNvSpPr>
          <p:nvPr>
            <p:ph type="ctrTitle" hasCustomPrompt="1"/>
          </p:nvPr>
        </p:nvSpPr>
        <p:spPr>
          <a:xfrm>
            <a:off x="540174" y="2572218"/>
            <a:ext cx="7408985" cy="884079"/>
          </a:xfrm>
        </p:spPr>
        <p:txBody>
          <a:bodyPr>
            <a:normAutofit/>
          </a:bodyPr>
          <a:lstStyle>
            <a:lvl1pPr>
              <a:defRPr sz="5333" baseline="0">
                <a:solidFill>
                  <a:schemeClr val="bg1"/>
                </a:solidFill>
              </a:defRPr>
            </a:lvl1pPr>
          </a:lstStyle>
          <a:p>
            <a:r>
              <a:rPr lang="en-GB" dirty="0"/>
              <a:t>Divider Title</a:t>
            </a:r>
            <a:endParaRPr lang="en-US" dirty="0"/>
          </a:p>
        </p:txBody>
      </p:sp>
      <p:pic>
        <p:nvPicPr>
          <p:cNvPr id="13" name="7A01CB94-0562-4695-BAB5-9169043FC443" descr="BC60FF1A-5785-44E8-8643-517435B53B0F@home">
            <a:extLst>
              <a:ext uri="{FF2B5EF4-FFF2-40B4-BE49-F238E27FC236}">
                <a16:creationId xmlns:a16="http://schemas.microsoft.com/office/drawing/2014/main" id="{D4C70607-63BD-47CF-82FF-ECEC23DB8677}"/>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17328" y="6121127"/>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9853969"/>
      </p:ext>
    </p:extLst>
  </p:cSld>
  <p:clrMapOvr>
    <a:masterClrMapping/>
  </p:clrMapOvr>
  <p:extLst>
    <p:ext uri="{DCECCB84-F9BA-43D5-87BE-67443E8EF086}">
      <p15:sldGuideLst xmlns:p15="http://schemas.microsoft.com/office/powerpoint/2012/main">
        <p15:guide id="1" orient="horz" pos="4201">
          <p15:clr>
            <a:srgbClr val="FBAE40"/>
          </p15:clr>
        </p15:guide>
        <p15:guide id="2" pos="28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cSld name="Content Slide - Color Watermar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3"/>
          </p:nvPr>
        </p:nvSpPr>
        <p:spPr>
          <a:xfrm>
            <a:off x="609600" y="1636776"/>
            <a:ext cx="10972800" cy="4700016"/>
          </a:xfrm>
        </p:spPr>
        <p:txBody>
          <a:bodyPr/>
          <a:lstStyle>
            <a:lvl1pPr>
              <a:lnSpc>
                <a:spcPct val="100000"/>
              </a:lnSpc>
              <a:defRPr sz="2800"/>
            </a:lvl1pPr>
            <a:lvl2pPr>
              <a:lnSpc>
                <a:spcPct val="100000"/>
              </a:lnSpc>
              <a:defRPr sz="2400"/>
            </a:lvl2pPr>
            <a:lvl3pPr>
              <a:lnSpc>
                <a:spcPct val="100000"/>
              </a:lnSpc>
              <a:defRPr/>
            </a:lvl3pPr>
            <a:lvl4pPr>
              <a:lnSpc>
                <a:spcPct val="100000"/>
              </a:lnSpc>
              <a:defRPr/>
            </a:lvl4pPr>
            <a:lvl5pPr marL="2438302"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7" name="Picture 6" descr="Single Logo_Color.png"/>
          <p:cNvPicPr>
            <a:picLocks noChangeAspect="1"/>
          </p:cNvPicPr>
          <p:nvPr userDrawn="1"/>
        </p:nvPicPr>
        <p:blipFill>
          <a:blip r:embed="rId2">
            <a:lum bright="3000"/>
            <a:alphaModFix amt="3000"/>
          </a:blip>
          <a:srcRect t="6759" b="3086"/>
          <a:stretch>
            <a:fillRect/>
          </a:stretch>
        </p:blipFill>
        <p:spPr>
          <a:xfrm>
            <a:off x="4880435" y="0"/>
            <a:ext cx="7302500" cy="6858000"/>
          </a:xfrm>
          <a:prstGeom prst="rect">
            <a:avLst/>
          </a:prstGeom>
        </p:spPr>
      </p:pic>
      <p:cxnSp>
        <p:nvCxnSpPr>
          <p:cNvPr id="8" name="Straight Connector 7"/>
          <p:cNvCxnSpPr/>
          <p:nvPr userDrawn="1"/>
        </p:nvCxnSpPr>
        <p:spPr>
          <a:xfrm>
            <a:off x="0" y="1188006"/>
            <a:ext cx="12192000" cy="1588"/>
          </a:xfrm>
          <a:prstGeom prst="line">
            <a:avLst/>
          </a:prstGeom>
          <a:ln w="38100" cap="flat" cmpd="sng" algn="ctr">
            <a:solidFill>
              <a:schemeClr val="bg1">
                <a:lumMod val="7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userDrawn="1"/>
        </p:nvCxnSpPr>
        <p:spPr>
          <a:xfrm>
            <a:off x="0" y="1120272"/>
            <a:ext cx="12192000" cy="1588"/>
          </a:xfrm>
          <a:prstGeom prst="line">
            <a:avLst/>
          </a:prstGeom>
          <a:ln w="38100" cap="flat" cmpd="sng" algn="ctr">
            <a:solidFill>
              <a:srgbClr val="C5452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userDrawn="1"/>
        </p:nvGrpSpPr>
        <p:grpSpPr>
          <a:xfrm>
            <a:off x="9931397" y="988755"/>
            <a:ext cx="2002367" cy="330776"/>
            <a:chOff x="9931396" y="977325"/>
            <a:chExt cx="2002367" cy="330776"/>
          </a:xfrm>
        </p:grpSpPr>
        <p:grpSp>
          <p:nvGrpSpPr>
            <p:cNvPr id="11" name="Group 23"/>
            <p:cNvGrpSpPr/>
            <p:nvPr userDrawn="1"/>
          </p:nvGrpSpPr>
          <p:grpSpPr>
            <a:xfrm>
              <a:off x="9931396" y="1003300"/>
              <a:ext cx="2002367" cy="304801"/>
              <a:chOff x="9931396" y="1003300"/>
              <a:chExt cx="2002367" cy="304801"/>
            </a:xfrm>
          </p:grpSpPr>
          <p:sp>
            <p:nvSpPr>
              <p:cNvPr id="14" name="Chevron 13"/>
              <p:cNvSpPr/>
              <p:nvPr userDrawn="1"/>
            </p:nvSpPr>
            <p:spPr>
              <a:xfrm>
                <a:off x="9931396" y="1003300"/>
                <a:ext cx="1769538" cy="304800"/>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00">
                  <a:solidFill>
                    <a:schemeClr val="tx1"/>
                  </a:solidFill>
                </a:endParaRPr>
              </a:p>
            </p:txBody>
          </p:sp>
          <p:sp>
            <p:nvSpPr>
              <p:cNvPr id="15" name="Rectangle 14"/>
              <p:cNvSpPr/>
              <p:nvPr userDrawn="1"/>
            </p:nvSpPr>
            <p:spPr>
              <a:xfrm>
                <a:off x="11633197" y="1003301"/>
                <a:ext cx="300566" cy="30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00"/>
              </a:p>
            </p:txBody>
          </p:sp>
        </p:grpSp>
        <p:pic>
          <p:nvPicPr>
            <p:cNvPr id="13" name="Picture 12" descr="Energistics_Logo.jpg"/>
            <p:cNvPicPr>
              <a:picLocks noChangeAspect="1"/>
            </p:cNvPicPr>
            <p:nvPr userDrawn="1"/>
          </p:nvPicPr>
          <p:blipFill>
            <a:blip r:embed="rId3">
              <a:clrChange>
                <a:clrFrom>
                  <a:srgbClr val="FFFFFF"/>
                </a:clrFrom>
                <a:clrTo>
                  <a:srgbClr val="FFFFFF">
                    <a:alpha val="0"/>
                  </a:srgbClr>
                </a:clrTo>
              </a:clrChange>
            </a:blip>
            <a:stretch>
              <a:fillRect/>
            </a:stretch>
          </p:blipFill>
          <p:spPr>
            <a:xfrm>
              <a:off x="10024534" y="977325"/>
              <a:ext cx="1845734" cy="326544"/>
            </a:xfrm>
            <a:prstGeom prst="rect">
              <a:avLst/>
            </a:prstGeom>
          </p:spPr>
        </p:pic>
      </p:grpSp>
      <p:sp>
        <p:nvSpPr>
          <p:cNvPr id="20" name="Slide Number Placeholder 19"/>
          <p:cNvSpPr>
            <a:spLocks noGrp="1"/>
          </p:cNvSpPr>
          <p:nvPr>
            <p:ph type="sldNum" sz="quarter" idx="15"/>
          </p:nvPr>
        </p:nvSpPr>
        <p:spPr/>
        <p:txBody>
          <a:bodyPr/>
          <a:lstStyle/>
          <a:p>
            <a:fld id="{1F1742C0-E6BB-314D-A66F-6752DD118F2D}" type="slidenum">
              <a:rPr lang="en-US" smtClean="0"/>
              <a:pPr/>
              <a:t>‹#›</a:t>
            </a:fld>
            <a:endParaRPr lang="en-US"/>
          </a:p>
        </p:txBody>
      </p:sp>
      <p:sp>
        <p:nvSpPr>
          <p:cNvPr id="16" name="Slide Number Placeholder 26">
            <a:extLst>
              <a:ext uri="{FF2B5EF4-FFF2-40B4-BE49-F238E27FC236}">
                <a16:creationId xmlns:a16="http://schemas.microsoft.com/office/drawing/2014/main" id="{9547034D-146C-409D-9E94-95159911EE46}"/>
              </a:ext>
            </a:extLst>
          </p:cNvPr>
          <p:cNvSpPr txBox="1">
            <a:spLocks/>
          </p:cNvSpPr>
          <p:nvPr userDrawn="1"/>
        </p:nvSpPr>
        <p:spPr>
          <a:xfrm>
            <a:off x="11664707" y="6627753"/>
            <a:ext cx="527293" cy="230247"/>
          </a:xfrm>
          <a:prstGeom prst="rect">
            <a:avLst/>
          </a:prstGeom>
        </p:spPr>
        <p:txBody>
          <a:bodyPr vert="horz" lIns="91440" tIns="45720" rIns="91440" bIns="45720" rtlCol="0" anchor="ctr"/>
          <a:lstStyle>
            <a:defPPr>
              <a:defRPr lang="en-US"/>
            </a:defPPr>
            <a:lvl1pPr marL="0" algn="r" defTabSz="914400" rtl="0" eaLnBrk="1" latinLnBrk="0" hangingPunct="1">
              <a:defRPr sz="900" u="none" kern="1200">
                <a:solidFill>
                  <a:srgbClr val="C5452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1742C0-E6BB-314D-A66F-6752DD118F2D}" type="slidenum">
              <a:rPr lang="en-US" sz="900" smtClean="0"/>
              <a:pPr/>
              <a:t>‹#›</a:t>
            </a:fld>
            <a:endParaRPr lang="en-US" sz="900"/>
          </a:p>
        </p:txBody>
      </p:sp>
      <p:sp>
        <p:nvSpPr>
          <p:cNvPr id="17" name="Date Placeholder 12">
            <a:extLst>
              <a:ext uri="{FF2B5EF4-FFF2-40B4-BE49-F238E27FC236}">
                <a16:creationId xmlns:a16="http://schemas.microsoft.com/office/drawing/2014/main" id="{748C9AF7-EFA0-4EBE-9F6B-5B4B7AC637FF}"/>
              </a:ext>
            </a:extLst>
          </p:cNvPr>
          <p:cNvSpPr>
            <a:spLocks noGrp="1"/>
          </p:cNvSpPr>
          <p:nvPr>
            <p:ph type="dt" sz="half" idx="2"/>
          </p:nvPr>
        </p:nvSpPr>
        <p:spPr>
          <a:xfrm>
            <a:off x="0" y="6629400"/>
            <a:ext cx="1363133" cy="228600"/>
          </a:xfrm>
          <a:prstGeom prst="rect">
            <a:avLst/>
          </a:prstGeom>
        </p:spPr>
        <p:txBody>
          <a:bodyPr vert="horz" lIns="91440" tIns="45720" rIns="91440" bIns="45720" rtlCol="0" anchor="ctr"/>
          <a:lstStyle>
            <a:lvl1pPr algn="l">
              <a:defRPr sz="900">
                <a:solidFill>
                  <a:srgbClr val="C54520"/>
                </a:solidFill>
              </a:defRPr>
            </a:lvl1pPr>
          </a:lstStyle>
          <a:p>
            <a:endParaRPr lang="en-US"/>
          </a:p>
        </p:txBody>
      </p:sp>
      <p:sp>
        <p:nvSpPr>
          <p:cNvPr id="18" name="Footer Placeholder 14">
            <a:extLst>
              <a:ext uri="{FF2B5EF4-FFF2-40B4-BE49-F238E27FC236}">
                <a16:creationId xmlns:a16="http://schemas.microsoft.com/office/drawing/2014/main" id="{FF4A6D41-E8D9-4E7A-B2D1-218DF5F552A1}"/>
              </a:ext>
            </a:extLst>
          </p:cNvPr>
          <p:cNvSpPr>
            <a:spLocks noGrp="1"/>
          </p:cNvSpPr>
          <p:nvPr>
            <p:ph type="ftr" sz="quarter" idx="3"/>
          </p:nvPr>
        </p:nvSpPr>
        <p:spPr>
          <a:xfrm>
            <a:off x="5264944" y="6629400"/>
            <a:ext cx="2254001" cy="228600"/>
          </a:xfrm>
          <a:prstGeom prst="rect">
            <a:avLst/>
          </a:prstGeom>
        </p:spPr>
        <p:txBody>
          <a:bodyPr vert="horz" lIns="91440" tIns="45720" rIns="91440" bIns="45720" rtlCol="0" anchor="ctr"/>
          <a:lstStyle>
            <a:lvl1pPr algn="ctr">
              <a:defRPr sz="900">
                <a:solidFill>
                  <a:srgbClr val="C54520"/>
                </a:solidFill>
              </a:defRPr>
            </a:lvl1pPr>
          </a:lstStyle>
          <a:p>
            <a:endParaRPr lang="en-US"/>
          </a:p>
        </p:txBody>
      </p:sp>
    </p:spTree>
    <p:extLst>
      <p:ext uri="{BB962C8B-B14F-4D97-AF65-F5344CB8AC3E}">
        <p14:creationId xmlns:p14="http://schemas.microsoft.com/office/powerpoint/2010/main" val="2733230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F6AB7-F85D-4525-9224-FC16BF7711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114D4F-8DBC-4F43-AA85-8B696D8D6A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12A1E-912D-49C3-834F-8F10E0347A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AA22C7-915D-49DD-937D-C72B4DC73115}" type="datetimeFigureOut">
              <a:rPr lang="en-US" smtClean="0"/>
              <a:t>2/6/2025</a:t>
            </a:fld>
            <a:endParaRPr lang="en-US"/>
          </a:p>
        </p:txBody>
      </p:sp>
      <p:sp>
        <p:nvSpPr>
          <p:cNvPr id="5" name="Footer Placeholder 4">
            <a:extLst>
              <a:ext uri="{FF2B5EF4-FFF2-40B4-BE49-F238E27FC236}">
                <a16:creationId xmlns:a16="http://schemas.microsoft.com/office/drawing/2014/main" id="{93229ADE-7719-4FEE-B9C8-D9235A690B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AB5525-B753-481A-AA0A-7C6C10FDE5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DB2934-E464-477B-A764-669ADA9C2391}" type="slidenum">
              <a:rPr lang="en-US" smtClean="0"/>
              <a:t>‹#›</a:t>
            </a:fld>
            <a:endParaRPr lang="en-US"/>
          </a:p>
        </p:txBody>
      </p:sp>
    </p:spTree>
    <p:extLst>
      <p:ext uri="{BB962C8B-B14F-4D97-AF65-F5344CB8AC3E}">
        <p14:creationId xmlns:p14="http://schemas.microsoft.com/office/powerpoint/2010/main" val="4293492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Slide Number Placeholder 5"/>
          <p:cNvSpPr>
            <a:spLocks noGrp="1"/>
          </p:cNvSpPr>
          <p:nvPr>
            <p:ph type="sldNum" sz="quarter" idx="4"/>
          </p:nvPr>
        </p:nvSpPr>
        <p:spPr>
          <a:xfrm>
            <a:off x="10325709" y="6215495"/>
            <a:ext cx="685585" cy="365125"/>
          </a:xfrm>
          <a:prstGeom prst="rect">
            <a:avLst/>
          </a:prstGeom>
        </p:spPr>
        <p:txBody>
          <a:bodyPr/>
          <a:lstStyle>
            <a:lvl1pPr algn="ctr">
              <a:defRPr sz="1333">
                <a:solidFill>
                  <a:schemeClr val="bg2">
                    <a:lumMod val="75000"/>
                  </a:schemeClr>
                </a:solidFill>
                <a:latin typeface="Arial" panose="020B0604020202020204" pitchFamily="34" charset="0"/>
                <a:cs typeface="Arial" panose="020B0604020202020204" pitchFamily="34" charset="0"/>
              </a:defRPr>
            </a:lvl1pPr>
          </a:lstStyle>
          <a:p>
            <a:fld id="{4BBDA901-AC44-DA44-B86F-73C28EB4CF87}" type="slidenum">
              <a:rPr lang="en-GB" smtClean="0"/>
              <a:pPr/>
              <a:t>‹#›</a:t>
            </a:fld>
            <a:endParaRPr lang="en-GB" dirty="0"/>
          </a:p>
        </p:txBody>
      </p:sp>
      <p:pic>
        <p:nvPicPr>
          <p:cNvPr id="5" name="7A01CB94-0562-4695-BAB5-9169043FC443" descr="BC60FF1A-5785-44E8-8643-517435B53B0F@home">
            <a:extLst>
              <a:ext uri="{FF2B5EF4-FFF2-40B4-BE49-F238E27FC236}">
                <a16:creationId xmlns:a16="http://schemas.microsoft.com/office/drawing/2014/main" id="{EEB16DD9-F0A7-473C-ADDE-761176C9E0E6}"/>
              </a:ext>
            </a:extLst>
          </p:cNvPr>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65333" y="6215495"/>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3088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5" r:id="rId12"/>
  </p:sldLayoutIdLst>
  <p:hf hdr="0" ftr="0" dt="0"/>
  <p:txStyles>
    <p:titleStyle>
      <a:lvl1pPr algn="l" defTabSz="609585" rtl="0" eaLnBrk="1" latinLnBrk="0" hangingPunct="1">
        <a:spcBef>
          <a:spcPct val="0"/>
        </a:spcBef>
        <a:buNone/>
        <a:defRPr lang="en-US" sz="3733" b="1" kern="1200" dirty="0">
          <a:solidFill>
            <a:schemeClr val="accent1"/>
          </a:solidFill>
          <a:latin typeface="Arial" panose="020B0604020202020204" pitchFamily="34" charset="0"/>
          <a:ea typeface="+mj-ea"/>
          <a:cs typeface="Arial" panose="020B0604020202020204" pitchFamily="34" charset="0"/>
        </a:defRPr>
      </a:lvl1pPr>
    </p:titleStyle>
    <p:bodyStyle>
      <a:lvl1pPr marL="457189" indent="-457189" algn="l" defTabSz="609585" rtl="0" eaLnBrk="1" latinLnBrk="0" hangingPunct="1">
        <a:spcBef>
          <a:spcPct val="20000"/>
        </a:spcBef>
        <a:buClr>
          <a:schemeClr val="accent1"/>
        </a:buClr>
        <a:buFont typeface="Arial" panose="020B0604020202020204" pitchFamily="34" charset="0"/>
        <a:buChar char="»"/>
        <a:defRPr lang="en-GB" sz="3200" kern="1200" dirty="0">
          <a:solidFill>
            <a:schemeClr val="tx2"/>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Clr>
          <a:schemeClr val="accent1"/>
        </a:buClr>
        <a:buFont typeface="Arial"/>
        <a:buChar char="–"/>
        <a:defRPr lang="en-GB" sz="2667" kern="1200" dirty="0">
          <a:solidFill>
            <a:schemeClr val="tx2"/>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Clr>
          <a:schemeClr val="accent1"/>
        </a:buClr>
        <a:buFont typeface="Arial"/>
        <a:buChar char="•"/>
        <a:defRPr lang="en-GB" sz="2400" kern="1200" dirty="0">
          <a:solidFill>
            <a:schemeClr val="tx2"/>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Clr>
          <a:schemeClr val="accent1"/>
        </a:buClr>
        <a:buFont typeface="Arial"/>
        <a:buChar char="–"/>
        <a:defRPr lang="en-GB" sz="2133" kern="1200" dirty="0">
          <a:solidFill>
            <a:schemeClr val="tx2"/>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Clr>
          <a:schemeClr val="accent1"/>
        </a:buClr>
        <a:buFont typeface="Arial"/>
        <a:buChar char="»"/>
        <a:defRPr lang="en-US" sz="1867" kern="1200" dirty="0">
          <a:solidFill>
            <a:schemeClr val="tx2"/>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609600" y="1600202"/>
            <a:ext cx="10972800" cy="45259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Slide Number Placeholder 5"/>
          <p:cNvSpPr>
            <a:spLocks noGrp="1"/>
          </p:cNvSpPr>
          <p:nvPr>
            <p:ph type="sldNum" sz="quarter" idx="4"/>
          </p:nvPr>
        </p:nvSpPr>
        <p:spPr>
          <a:xfrm>
            <a:off x="10325709" y="6215496"/>
            <a:ext cx="685585" cy="365125"/>
          </a:xfrm>
          <a:prstGeom prst="rect">
            <a:avLst/>
          </a:prstGeom>
        </p:spPr>
        <p:txBody>
          <a:bodyPr/>
          <a:lstStyle>
            <a:lvl1pPr algn="ctr">
              <a:defRPr sz="1333">
                <a:solidFill>
                  <a:schemeClr val="bg2">
                    <a:lumMod val="75000"/>
                  </a:schemeClr>
                </a:solidFill>
                <a:latin typeface="Arial" panose="020B0604020202020204" pitchFamily="34" charset="0"/>
                <a:cs typeface="Arial" panose="020B0604020202020204" pitchFamily="34" charset="0"/>
              </a:defRPr>
            </a:lvl1pPr>
          </a:lstStyle>
          <a:p>
            <a:fld id="{4BBDA901-AC44-DA44-B86F-73C28EB4CF87}" type="slidenum">
              <a:rPr lang="en-GB" smtClean="0"/>
              <a:pPr/>
              <a:t>‹#›</a:t>
            </a:fld>
            <a:endParaRPr lang="en-GB" dirty="0"/>
          </a:p>
        </p:txBody>
      </p:sp>
      <p:pic>
        <p:nvPicPr>
          <p:cNvPr id="5" name="7A01CB94-0562-4695-BAB5-9169043FC443" descr="BC60FF1A-5785-44E8-8643-517435B53B0F@home">
            <a:extLst>
              <a:ext uri="{FF2B5EF4-FFF2-40B4-BE49-F238E27FC236}">
                <a16:creationId xmlns:a16="http://schemas.microsoft.com/office/drawing/2014/main" id="{EEB16DD9-F0A7-473C-ADDE-761176C9E0E6}"/>
              </a:ext>
            </a:extLst>
          </p:cNvPr>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65333" y="6215495"/>
            <a:ext cx="1219200" cy="55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12273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609561" rtl="0" eaLnBrk="1" latinLnBrk="0" hangingPunct="1">
        <a:spcBef>
          <a:spcPct val="0"/>
        </a:spcBef>
        <a:buNone/>
        <a:defRPr lang="en-US" sz="3733" b="1" kern="1200" dirty="0">
          <a:solidFill>
            <a:schemeClr val="accent1"/>
          </a:solidFill>
          <a:latin typeface="Arial" panose="020B0604020202020204" pitchFamily="34" charset="0"/>
          <a:ea typeface="+mj-ea"/>
          <a:cs typeface="Arial" panose="020B0604020202020204" pitchFamily="34" charset="0"/>
        </a:defRPr>
      </a:lvl1pPr>
    </p:titleStyle>
    <p:bodyStyle>
      <a:lvl1pPr marL="457171" indent="-457171" algn="l" defTabSz="609561" rtl="0" eaLnBrk="1" latinLnBrk="0" hangingPunct="1">
        <a:spcBef>
          <a:spcPct val="20000"/>
        </a:spcBef>
        <a:buClr>
          <a:schemeClr val="accent1"/>
        </a:buClr>
        <a:buFont typeface="Arial" panose="020B0604020202020204" pitchFamily="34" charset="0"/>
        <a:buChar char="»"/>
        <a:defRPr lang="en-GB" sz="3200" kern="1200" dirty="0">
          <a:solidFill>
            <a:schemeClr val="tx2"/>
          </a:solidFill>
          <a:latin typeface="Arial" panose="020B0604020202020204" pitchFamily="34" charset="0"/>
          <a:ea typeface="+mn-ea"/>
          <a:cs typeface="Arial" panose="020B0604020202020204" pitchFamily="34" charset="0"/>
        </a:defRPr>
      </a:lvl1pPr>
      <a:lvl2pPr marL="990535" indent="-380975" algn="l" defTabSz="609561" rtl="0" eaLnBrk="1" latinLnBrk="0" hangingPunct="1">
        <a:spcBef>
          <a:spcPct val="20000"/>
        </a:spcBef>
        <a:buClr>
          <a:schemeClr val="accent1"/>
        </a:buClr>
        <a:buFont typeface="Arial"/>
        <a:buChar char="–"/>
        <a:defRPr lang="en-GB" sz="2667" kern="1200" dirty="0">
          <a:solidFill>
            <a:schemeClr val="tx2"/>
          </a:solidFill>
          <a:latin typeface="Arial" panose="020B0604020202020204" pitchFamily="34" charset="0"/>
          <a:ea typeface="+mn-ea"/>
          <a:cs typeface="Arial" panose="020B0604020202020204" pitchFamily="34" charset="0"/>
        </a:defRPr>
      </a:lvl2pPr>
      <a:lvl3pPr marL="1523901" indent="-304779" algn="l" defTabSz="609561" rtl="0" eaLnBrk="1" latinLnBrk="0" hangingPunct="1">
        <a:spcBef>
          <a:spcPct val="20000"/>
        </a:spcBef>
        <a:buClr>
          <a:schemeClr val="accent1"/>
        </a:buClr>
        <a:buFont typeface="Arial"/>
        <a:buChar char="•"/>
        <a:defRPr lang="en-GB" sz="2400" kern="1200" dirty="0">
          <a:solidFill>
            <a:schemeClr val="tx2"/>
          </a:solidFill>
          <a:latin typeface="Arial" panose="020B0604020202020204" pitchFamily="34" charset="0"/>
          <a:ea typeface="+mn-ea"/>
          <a:cs typeface="Arial" panose="020B0604020202020204" pitchFamily="34" charset="0"/>
        </a:defRPr>
      </a:lvl3pPr>
      <a:lvl4pPr marL="2133461" indent="-304779" algn="l" defTabSz="609561" rtl="0" eaLnBrk="1" latinLnBrk="0" hangingPunct="1">
        <a:spcBef>
          <a:spcPct val="20000"/>
        </a:spcBef>
        <a:buClr>
          <a:schemeClr val="accent1"/>
        </a:buClr>
        <a:buFont typeface="Arial"/>
        <a:buChar char="–"/>
        <a:defRPr lang="en-GB" sz="2133" kern="1200" dirty="0">
          <a:solidFill>
            <a:schemeClr val="tx2"/>
          </a:solidFill>
          <a:latin typeface="Arial" panose="020B0604020202020204" pitchFamily="34" charset="0"/>
          <a:ea typeface="+mn-ea"/>
          <a:cs typeface="Arial" panose="020B0604020202020204" pitchFamily="34" charset="0"/>
        </a:defRPr>
      </a:lvl4pPr>
      <a:lvl5pPr marL="2743021" indent="-304779" algn="l" defTabSz="609561" rtl="0" eaLnBrk="1" latinLnBrk="0" hangingPunct="1">
        <a:spcBef>
          <a:spcPct val="20000"/>
        </a:spcBef>
        <a:buClr>
          <a:schemeClr val="accent1"/>
        </a:buClr>
        <a:buFont typeface="Arial"/>
        <a:buChar char="»"/>
        <a:defRPr lang="en-US" sz="1867" kern="1200" dirty="0">
          <a:solidFill>
            <a:schemeClr val="tx2"/>
          </a:solidFill>
          <a:latin typeface="Arial" panose="020B0604020202020204" pitchFamily="34" charset="0"/>
          <a:ea typeface="+mn-ea"/>
          <a:cs typeface="Arial" panose="020B0604020202020204" pitchFamily="34" charset="0"/>
        </a:defRPr>
      </a:lvl5pPr>
      <a:lvl6pPr marL="3352582" indent="-304779" algn="l" defTabSz="609561" rtl="0" eaLnBrk="1" latinLnBrk="0" hangingPunct="1">
        <a:spcBef>
          <a:spcPct val="20000"/>
        </a:spcBef>
        <a:buFont typeface="Arial"/>
        <a:buChar char="•"/>
        <a:defRPr sz="2667" kern="1200">
          <a:solidFill>
            <a:schemeClr val="tx1"/>
          </a:solidFill>
          <a:latin typeface="+mn-lt"/>
          <a:ea typeface="+mn-ea"/>
          <a:cs typeface="+mn-cs"/>
        </a:defRPr>
      </a:lvl6pPr>
      <a:lvl7pPr marL="3962142" indent="-304779" algn="l" defTabSz="609561" rtl="0" eaLnBrk="1" latinLnBrk="0" hangingPunct="1">
        <a:spcBef>
          <a:spcPct val="20000"/>
        </a:spcBef>
        <a:buFont typeface="Arial"/>
        <a:buChar char="•"/>
        <a:defRPr sz="2667" kern="1200">
          <a:solidFill>
            <a:schemeClr val="tx1"/>
          </a:solidFill>
          <a:latin typeface="+mn-lt"/>
          <a:ea typeface="+mn-ea"/>
          <a:cs typeface="+mn-cs"/>
        </a:defRPr>
      </a:lvl7pPr>
      <a:lvl8pPr marL="4571703" indent="-304779" algn="l" defTabSz="609561" rtl="0" eaLnBrk="1" latinLnBrk="0" hangingPunct="1">
        <a:spcBef>
          <a:spcPct val="20000"/>
        </a:spcBef>
        <a:buFont typeface="Arial"/>
        <a:buChar char="•"/>
        <a:defRPr sz="2667" kern="1200">
          <a:solidFill>
            <a:schemeClr val="tx1"/>
          </a:solidFill>
          <a:latin typeface="+mn-lt"/>
          <a:ea typeface="+mn-ea"/>
          <a:cs typeface="+mn-cs"/>
        </a:defRPr>
      </a:lvl8pPr>
      <a:lvl9pPr marL="5181263" indent="-304779" algn="l" defTabSz="609561"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61" rtl="0" eaLnBrk="1" latinLnBrk="0" hangingPunct="1">
        <a:defRPr sz="2400" kern="1200">
          <a:solidFill>
            <a:schemeClr val="tx1"/>
          </a:solidFill>
          <a:latin typeface="+mn-lt"/>
          <a:ea typeface="+mn-ea"/>
          <a:cs typeface="+mn-cs"/>
        </a:defRPr>
      </a:lvl1pPr>
      <a:lvl2pPr marL="609561" algn="l" defTabSz="609561" rtl="0" eaLnBrk="1" latinLnBrk="0" hangingPunct="1">
        <a:defRPr sz="2400" kern="1200">
          <a:solidFill>
            <a:schemeClr val="tx1"/>
          </a:solidFill>
          <a:latin typeface="+mn-lt"/>
          <a:ea typeface="+mn-ea"/>
          <a:cs typeface="+mn-cs"/>
        </a:defRPr>
      </a:lvl2pPr>
      <a:lvl3pPr marL="1219121" algn="l" defTabSz="609561" rtl="0" eaLnBrk="1" latinLnBrk="0" hangingPunct="1">
        <a:defRPr sz="2400" kern="1200">
          <a:solidFill>
            <a:schemeClr val="tx1"/>
          </a:solidFill>
          <a:latin typeface="+mn-lt"/>
          <a:ea typeface="+mn-ea"/>
          <a:cs typeface="+mn-cs"/>
        </a:defRPr>
      </a:lvl3pPr>
      <a:lvl4pPr marL="1828681" algn="l" defTabSz="609561" rtl="0" eaLnBrk="1" latinLnBrk="0" hangingPunct="1">
        <a:defRPr sz="2400" kern="1200">
          <a:solidFill>
            <a:schemeClr val="tx1"/>
          </a:solidFill>
          <a:latin typeface="+mn-lt"/>
          <a:ea typeface="+mn-ea"/>
          <a:cs typeface="+mn-cs"/>
        </a:defRPr>
      </a:lvl4pPr>
      <a:lvl5pPr marL="2438242" algn="l" defTabSz="609561" rtl="0" eaLnBrk="1" latinLnBrk="0" hangingPunct="1">
        <a:defRPr sz="2400" kern="1200">
          <a:solidFill>
            <a:schemeClr val="tx1"/>
          </a:solidFill>
          <a:latin typeface="+mn-lt"/>
          <a:ea typeface="+mn-ea"/>
          <a:cs typeface="+mn-cs"/>
        </a:defRPr>
      </a:lvl5pPr>
      <a:lvl6pPr marL="3047802" algn="l" defTabSz="609561" rtl="0" eaLnBrk="1" latinLnBrk="0" hangingPunct="1">
        <a:defRPr sz="2400" kern="1200">
          <a:solidFill>
            <a:schemeClr val="tx1"/>
          </a:solidFill>
          <a:latin typeface="+mn-lt"/>
          <a:ea typeface="+mn-ea"/>
          <a:cs typeface="+mn-cs"/>
        </a:defRPr>
      </a:lvl6pPr>
      <a:lvl7pPr marL="3657363" algn="l" defTabSz="609561" rtl="0" eaLnBrk="1" latinLnBrk="0" hangingPunct="1">
        <a:defRPr sz="2400" kern="1200">
          <a:solidFill>
            <a:schemeClr val="tx1"/>
          </a:solidFill>
          <a:latin typeface="+mn-lt"/>
          <a:ea typeface="+mn-ea"/>
          <a:cs typeface="+mn-cs"/>
        </a:defRPr>
      </a:lvl7pPr>
      <a:lvl8pPr marL="4266923" algn="l" defTabSz="609561" rtl="0" eaLnBrk="1" latinLnBrk="0" hangingPunct="1">
        <a:defRPr sz="2400" kern="1200">
          <a:solidFill>
            <a:schemeClr val="tx1"/>
          </a:solidFill>
          <a:latin typeface="+mn-lt"/>
          <a:ea typeface="+mn-ea"/>
          <a:cs typeface="+mn-cs"/>
        </a:defRPr>
      </a:lvl8pPr>
      <a:lvl9pPr marL="4876483" algn="l" defTabSz="60956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hyperlink" Target="https://gitlab.opengroup.org/osdu/subcommittees/data-def/projects/reservoir/docs/-/blob/e3200f7f453246a4fd7ab1caa6ae41fe6d5b507b/Presentations/Seismic%20Horizon%20presentations/testSeismicHorizonResqml.zip" TargetMode="External"/><Relationship Id="rId2" Type="http://schemas.openxmlformats.org/officeDocument/2006/relationships/slideLayout" Target="../slideLayouts/slideLayout16.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hyperlink" Target="https://community.opengroup.org/osdu/data/data-definitions/-/blob/master/E-R/work-product-component/SeismicHorizon.2.0.0.md?ref_type=heads" TargetMode="External"/><Relationship Id="rId2" Type="http://schemas.openxmlformats.org/officeDocument/2006/relationships/hyperlink" Target="https://community.opengroup.org/osdu/data/data-definitions/-/blob/master/Guides/Chapters/09-SeismicProjectsAndRelatedData.md#98-seismic-interpretation-representations" TargetMode="External"/><Relationship Id="rId1" Type="http://schemas.openxmlformats.org/officeDocument/2006/relationships/slideLayout" Target="../slideLayouts/slideLayout16.xml"/><Relationship Id="rId4" Type="http://schemas.openxmlformats.org/officeDocument/2006/relationships/hyperlink" Target="https://community.opengroup.org/osdu/data/data-definitions/-/blob/master/E-R/work-product-component/HorizonInterpretation.1.2.0.md?ref_type=hea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26C821-DC7A-4187-9B18-5E47CD3E9871}"/>
              </a:ext>
            </a:extLst>
          </p:cNvPr>
          <p:cNvSpPr>
            <a:spLocks noGrp="1"/>
          </p:cNvSpPr>
          <p:nvPr>
            <p:ph type="ctrTitle" idx="4294967295"/>
          </p:nvPr>
        </p:nvSpPr>
        <p:spPr>
          <a:xfrm>
            <a:off x="785999" y="2787892"/>
            <a:ext cx="9126803" cy="885032"/>
          </a:xfrm>
        </p:spPr>
        <p:txBody>
          <a:bodyPr>
            <a:normAutofit fontScale="90000"/>
          </a:bodyPr>
          <a:lstStyle/>
          <a:p>
            <a:br>
              <a:rPr lang="en-US" dirty="0"/>
            </a:br>
            <a:r>
              <a:rPr lang="en-US" sz="3667" b="0" dirty="0" err="1"/>
              <a:t>SeismicHorizon</a:t>
            </a:r>
            <a:r>
              <a:rPr lang="en-US" sz="3667" b="0" dirty="0"/>
              <a:t> and </a:t>
            </a:r>
            <a:br>
              <a:rPr lang="en-US" sz="3667" b="0" dirty="0"/>
            </a:br>
            <a:r>
              <a:rPr lang="en-US" sz="3667" b="0" dirty="0" err="1"/>
              <a:t>HorizonInterpretation</a:t>
            </a:r>
            <a:r>
              <a:rPr lang="en-US" sz="3667" b="0" dirty="0"/>
              <a:t> WPC</a:t>
            </a:r>
            <a:br>
              <a:rPr lang="en-US" sz="3667" b="0" dirty="0"/>
            </a:br>
            <a:br>
              <a:rPr lang="en-US" sz="3667" b="0" dirty="0"/>
            </a:br>
            <a:br>
              <a:rPr lang="en-US" sz="3667" b="0" dirty="0"/>
            </a:br>
            <a:r>
              <a:rPr lang="en-US" sz="3667" b="0" dirty="0"/>
              <a:t>? which to use</a:t>
            </a:r>
            <a:br>
              <a:rPr lang="en-US" sz="3667" b="0" dirty="0"/>
            </a:br>
            <a:r>
              <a:rPr lang="en-US" sz="3667" b="0" dirty="0"/>
              <a:t>? where to store</a:t>
            </a:r>
            <a:br>
              <a:rPr lang="en-US" sz="3667" b="0" dirty="0"/>
            </a:br>
            <a:br>
              <a:rPr lang="en-US" sz="3667" b="0" dirty="0"/>
            </a:br>
            <a:endParaRPr lang="en-US" dirty="0"/>
          </a:p>
        </p:txBody>
      </p:sp>
      <p:pic>
        <p:nvPicPr>
          <p:cNvPr id="2" name="Picture 5" descr="image005">
            <a:extLst>
              <a:ext uri="{FF2B5EF4-FFF2-40B4-BE49-F238E27FC236}">
                <a16:creationId xmlns:a16="http://schemas.microsoft.com/office/drawing/2014/main" id="{556DC0A8-8BC3-94E1-3D1D-D972D51F9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6772" y="1004702"/>
            <a:ext cx="5436949" cy="325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663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FD7-1AFA-AA2C-70E1-D9576F4ED0E7}"/>
              </a:ext>
            </a:extLst>
          </p:cNvPr>
          <p:cNvSpPr>
            <a:spLocks noGrp="1"/>
          </p:cNvSpPr>
          <p:nvPr>
            <p:ph type="title"/>
          </p:nvPr>
        </p:nvSpPr>
        <p:spPr>
          <a:xfrm>
            <a:off x="609600" y="586947"/>
            <a:ext cx="10972800" cy="493981"/>
          </a:xfrm>
        </p:spPr>
        <p:txBody>
          <a:bodyPr>
            <a:normAutofit fontScale="90000"/>
          </a:bodyPr>
          <a:lstStyle/>
          <a:p>
            <a:r>
              <a:rPr lang="en-US" sz="2900"/>
              <a:t>Reservoir Data Interoperability use case - details</a:t>
            </a:r>
          </a:p>
        </p:txBody>
      </p:sp>
      <p:graphicFrame>
        <p:nvGraphicFramePr>
          <p:cNvPr id="4" name="Table 3">
            <a:extLst>
              <a:ext uri="{FF2B5EF4-FFF2-40B4-BE49-F238E27FC236}">
                <a16:creationId xmlns:a16="http://schemas.microsoft.com/office/drawing/2014/main" id="{F8F96457-F217-9557-9A48-FF060E324FF8}"/>
              </a:ext>
            </a:extLst>
          </p:cNvPr>
          <p:cNvGraphicFramePr>
            <a:graphicFrameLocks noGrp="1"/>
          </p:cNvGraphicFramePr>
          <p:nvPr>
            <p:extLst>
              <p:ext uri="{D42A27DB-BD31-4B8C-83A1-F6EECF244321}">
                <p14:modId xmlns:p14="http://schemas.microsoft.com/office/powerpoint/2010/main" val="1913043374"/>
              </p:ext>
            </p:extLst>
          </p:nvPr>
        </p:nvGraphicFramePr>
        <p:xfrm>
          <a:off x="609600" y="1178083"/>
          <a:ext cx="11217443" cy="4970239"/>
        </p:xfrm>
        <a:graphic>
          <a:graphicData uri="http://schemas.openxmlformats.org/drawingml/2006/table">
            <a:tbl>
              <a:tblPr firstRow="1" bandRow="1">
                <a:tableStyleId>{69012ECD-51FC-41F1-AA8D-1B2483CD663E}</a:tableStyleId>
              </a:tblPr>
              <a:tblGrid>
                <a:gridCol w="2077453">
                  <a:extLst>
                    <a:ext uri="{9D8B030D-6E8A-4147-A177-3AD203B41FA5}">
                      <a16:colId xmlns:a16="http://schemas.microsoft.com/office/drawing/2014/main" val="2003903451"/>
                    </a:ext>
                  </a:extLst>
                </a:gridCol>
                <a:gridCol w="1163052">
                  <a:extLst>
                    <a:ext uri="{9D8B030D-6E8A-4147-A177-3AD203B41FA5}">
                      <a16:colId xmlns:a16="http://schemas.microsoft.com/office/drawing/2014/main" val="4024913970"/>
                    </a:ext>
                  </a:extLst>
                </a:gridCol>
                <a:gridCol w="2660110">
                  <a:extLst>
                    <a:ext uri="{9D8B030D-6E8A-4147-A177-3AD203B41FA5}">
                      <a16:colId xmlns:a16="http://schemas.microsoft.com/office/drawing/2014/main" val="898605539"/>
                    </a:ext>
                  </a:extLst>
                </a:gridCol>
                <a:gridCol w="2672859">
                  <a:extLst>
                    <a:ext uri="{9D8B030D-6E8A-4147-A177-3AD203B41FA5}">
                      <a16:colId xmlns:a16="http://schemas.microsoft.com/office/drawing/2014/main" val="3840331206"/>
                    </a:ext>
                  </a:extLst>
                </a:gridCol>
                <a:gridCol w="2643969">
                  <a:extLst>
                    <a:ext uri="{9D8B030D-6E8A-4147-A177-3AD203B41FA5}">
                      <a16:colId xmlns:a16="http://schemas.microsoft.com/office/drawing/2014/main" val="1869066636"/>
                    </a:ext>
                  </a:extLst>
                </a:gridCol>
              </a:tblGrid>
              <a:tr h="398239">
                <a:tc>
                  <a:txBody>
                    <a:bodyPr/>
                    <a:lstStyle/>
                    <a:p>
                      <a:r>
                        <a:rPr lang="en-US" sz="1200"/>
                        <a:t>Demonstration step</a:t>
                      </a:r>
                    </a:p>
                  </a:txBody>
                  <a:tcPr anchor="ctr"/>
                </a:tc>
                <a:tc>
                  <a:txBody>
                    <a:bodyPr/>
                    <a:lstStyle/>
                    <a:p>
                      <a:r>
                        <a:rPr lang="en-US" sz="1200"/>
                        <a:t>Product</a:t>
                      </a:r>
                    </a:p>
                  </a:txBody>
                  <a:tcPr anchor="ctr"/>
                </a:tc>
                <a:tc>
                  <a:txBody>
                    <a:bodyPr/>
                    <a:lstStyle/>
                    <a:p>
                      <a:r>
                        <a:rPr lang="en-US" sz="1200"/>
                        <a:t>API</a:t>
                      </a:r>
                    </a:p>
                  </a:txBody>
                  <a:tcPr anchor="ctr"/>
                </a:tc>
                <a:tc>
                  <a:txBody>
                    <a:bodyPr/>
                    <a:lstStyle/>
                    <a:p>
                      <a:r>
                        <a:rPr lang="en-US" sz="1200"/>
                        <a:t>Modeling Data types</a:t>
                      </a:r>
                    </a:p>
                  </a:txBody>
                  <a:tcPr anchor="ctr"/>
                </a:tc>
                <a:tc>
                  <a:txBody>
                    <a:bodyPr/>
                    <a:lstStyle/>
                    <a:p>
                      <a:r>
                        <a:rPr lang="en-US" sz="1200"/>
                        <a:t>Associated OSDU WPC in Manifest</a:t>
                      </a:r>
                    </a:p>
                  </a:txBody>
                  <a:tcPr anchor="ctr"/>
                </a:tc>
                <a:extLst>
                  <a:ext uri="{0D108BD9-81ED-4DB2-BD59-A6C34878D82A}">
                    <a16:rowId xmlns:a16="http://schemas.microsoft.com/office/drawing/2014/main" val="2911798826"/>
                  </a:ext>
                </a:extLst>
              </a:tr>
              <a:tr h="230726">
                <a:tc>
                  <a:txBody>
                    <a:bodyPr/>
                    <a:lstStyle/>
                    <a:p>
                      <a:pPr marL="0" algn="l" defTabSz="914400" rtl="0" eaLnBrk="1" latinLnBrk="0" hangingPunct="1"/>
                      <a:r>
                        <a:rPr lang="en-US" sz="1200" kern="1200" dirty="0">
                          <a:solidFill>
                            <a:schemeClr val="tx1"/>
                          </a:solidFill>
                          <a:latin typeface="+mn-lt"/>
                          <a:ea typeface="+mn-ea"/>
                          <a:cs typeface="+mn-cs"/>
                        </a:rPr>
                        <a:t>1. Equinor </a:t>
                      </a:r>
                    </a:p>
                    <a:p>
                      <a:pPr marL="0" algn="l" defTabSz="914400" rtl="0" eaLnBrk="1" latinLnBrk="0" hangingPunct="1"/>
                      <a:endParaRPr lang="en-US" sz="1200" kern="1200" dirty="0">
                        <a:solidFill>
                          <a:schemeClr val="tx1"/>
                        </a:solidFill>
                        <a:latin typeface="+mn-lt"/>
                        <a:ea typeface="+mn-ea"/>
                        <a:cs typeface="+mn-cs"/>
                      </a:endParaRPr>
                    </a:p>
                    <a:p>
                      <a:pPr marL="0" algn="l" defTabSz="914400" rtl="0" eaLnBrk="1" latinLnBrk="0" hangingPunct="1"/>
                      <a:r>
                        <a:rPr lang="en-US" sz="1200" kern="1200" dirty="0">
                          <a:solidFill>
                            <a:schemeClr val="tx1"/>
                          </a:solidFill>
                          <a:latin typeface="+mn-lt"/>
                          <a:ea typeface="+mn-ea"/>
                          <a:cs typeface="+mn-cs"/>
                        </a:rPr>
                        <a:t>Ingest data</a:t>
                      </a:r>
                    </a:p>
                  </a:txBody>
                  <a:tcPr/>
                </a:tc>
                <a:tc>
                  <a:txBody>
                    <a:bodyPr/>
                    <a:lstStyle/>
                    <a:p>
                      <a:pPr marL="0" algn="l" defTabSz="914400" rtl="0" eaLnBrk="1" latinLnBrk="0" hangingPunct="1"/>
                      <a:r>
                        <a:rPr lang="en-US" sz="1200" kern="1200" dirty="0">
                          <a:solidFill>
                            <a:schemeClr val="tx1"/>
                          </a:solidFill>
                          <a:latin typeface="+mn-lt"/>
                          <a:ea typeface="+mn-ea"/>
                          <a:cs typeface="+mn-cs"/>
                        </a:rPr>
                        <a:t>Aspen RMS®</a:t>
                      </a:r>
                    </a:p>
                  </a:txBody>
                  <a:tcPr/>
                </a:tc>
                <a:tc>
                  <a:txBody>
                    <a:bodyPr/>
                    <a:lstStyle/>
                    <a:p>
                      <a:pPr marL="0" algn="l" defTabSz="914400" rtl="0" eaLnBrk="1" latinLnBrk="0" hangingPunct="1"/>
                      <a:r>
                        <a:rPr lang="en-US" sz="1200" kern="1200">
                          <a:solidFill>
                            <a:schemeClr val="tx1"/>
                          </a:solidFill>
                          <a:latin typeface="+mn-lt"/>
                          <a:ea typeface="+mn-ea"/>
                          <a:cs typeface="+mn-cs"/>
                        </a:rPr>
                        <a:t>ETP Domain API</a:t>
                      </a:r>
                    </a:p>
                    <a:p>
                      <a:pPr marL="0" algn="l" defTabSz="914400" rtl="0" eaLnBrk="1" latinLnBrk="0" hangingPunct="1"/>
                      <a:r>
                        <a:rPr lang="en-US" sz="1200" kern="1200">
                          <a:solidFill>
                            <a:schemeClr val="tx1"/>
                          </a:solidFill>
                          <a:latin typeface="+mn-lt"/>
                          <a:ea typeface="+mn-ea"/>
                          <a:cs typeface="+mn-cs"/>
                        </a:rPr>
                        <a:t>Or Generate RESQML file and ingest through Open ETP SSL Client</a:t>
                      </a:r>
                    </a:p>
                  </a:txBody>
                  <a:tcPr/>
                </a:tc>
                <a:tc>
                  <a:txBody>
                    <a:bodyPr/>
                    <a:lstStyle/>
                    <a:p>
                      <a:pPr lvl="0">
                        <a:buNone/>
                      </a:pPr>
                      <a:r>
                        <a:rPr lang="en-US" sz="1200" b="0" i="0" u="none" strike="noStrike" noProof="0">
                          <a:solidFill>
                            <a:schemeClr val="tx1"/>
                          </a:solidFill>
                          <a:latin typeface="Amazon Ember Display"/>
                        </a:rPr>
                        <a:t>Ingest:</a:t>
                      </a:r>
                      <a:endParaRPr lang="en-US">
                        <a:solidFill>
                          <a:schemeClr val="tx1"/>
                        </a:solidFill>
                      </a:endParaRPr>
                    </a:p>
                    <a:p>
                      <a:pPr marL="171450" lvl="0" indent="-171450">
                        <a:buFont typeface="Calibri"/>
                        <a:buChar char="-"/>
                      </a:pPr>
                      <a:r>
                        <a:rPr lang="en-US" sz="1200">
                          <a:solidFill>
                            <a:schemeClr val="tx1"/>
                          </a:solidFill>
                        </a:rPr>
                        <a:t>Horizon picks (2D Grids)</a:t>
                      </a:r>
                    </a:p>
                    <a:p>
                      <a:pPr marL="171450" lvl="0" indent="-171450">
                        <a:buFont typeface="Calibri"/>
                        <a:buChar char="-"/>
                      </a:pPr>
                      <a:r>
                        <a:rPr lang="en-US" sz="1200">
                          <a:solidFill>
                            <a:schemeClr val="tx1"/>
                          </a:solidFill>
                        </a:rPr>
                        <a:t>Fault sticks</a:t>
                      </a:r>
                      <a:endParaRPr lang="en-US" sz="1200" b="0" i="0" u="none" strike="noStrike" noProof="0">
                        <a:solidFill>
                          <a:schemeClr val="tx1"/>
                        </a:solidFill>
                        <a:latin typeface="Arial"/>
                      </a:endParaRPr>
                    </a:p>
                    <a:p>
                      <a:pPr marL="171450" lvl="0" indent="-171450">
                        <a:buFont typeface="Calibri"/>
                        <a:buChar char="-"/>
                      </a:pPr>
                      <a:r>
                        <a:rPr lang="en-US" sz="1200" b="0" i="0" u="none" strike="noStrike" noProof="0">
                          <a:solidFill>
                            <a:schemeClr val="tx1"/>
                          </a:solidFill>
                          <a:latin typeface="Arial"/>
                        </a:rPr>
                        <a:t>Well picks and logs</a:t>
                      </a:r>
                    </a:p>
                  </a:txBody>
                  <a:tcPr/>
                </a:tc>
                <a:tc>
                  <a:txBody>
                    <a:bodyPr/>
                    <a:lstStyle/>
                    <a:p>
                      <a:pPr lvl="0">
                        <a:buNone/>
                      </a:pPr>
                      <a:r>
                        <a:rPr lang="en-US" sz="1200" b="0" i="0" u="none" strike="noStrike" baseline="0" noProof="0" dirty="0" err="1">
                          <a:solidFill>
                            <a:schemeClr val="tx1"/>
                          </a:solidFill>
                          <a:latin typeface="Amazon Ember Display"/>
                        </a:rPr>
                        <a:t>LocalBoundaryFeature</a:t>
                      </a:r>
                      <a:endParaRPr lang="en-US" sz="1200" b="0" i="0" u="none" strike="noStrike" baseline="0" noProof="0" dirty="0">
                        <a:solidFill>
                          <a:schemeClr val="tx1"/>
                        </a:solidFill>
                        <a:latin typeface="Amazon Ember Display"/>
                      </a:endParaRPr>
                    </a:p>
                    <a:p>
                      <a:pPr lvl="0">
                        <a:buNone/>
                      </a:pPr>
                      <a:r>
                        <a:rPr lang="en-US" sz="1200" b="0" i="0" u="none" strike="noStrike" baseline="0" noProof="0" dirty="0" err="1">
                          <a:solidFill>
                            <a:schemeClr val="tx1"/>
                          </a:solidFill>
                        </a:rPr>
                        <a:t>HorizonInterpretation</a:t>
                      </a:r>
                      <a:endParaRPr lang="en-US" sz="1200" b="0" i="0" u="none" strike="noStrike" baseline="0" noProof="0" dirty="0">
                        <a:solidFill>
                          <a:schemeClr val="tx1"/>
                        </a:solidFill>
                      </a:endParaRPr>
                    </a:p>
                    <a:p>
                      <a:pPr lvl="0">
                        <a:buNone/>
                      </a:pPr>
                      <a:r>
                        <a:rPr lang="en-US" sz="1200" b="0" i="0" u="none" strike="noStrike" baseline="0" noProof="0" dirty="0" err="1">
                          <a:solidFill>
                            <a:schemeClr val="tx1"/>
                          </a:solidFill>
                          <a:latin typeface="Amazon Ember Display"/>
                        </a:rPr>
                        <a:t>FaultInterpretation</a:t>
                      </a:r>
                      <a:endParaRPr lang="en-US" sz="1200" b="0" i="0" u="none" strike="noStrike" baseline="0" noProof="0" dirty="0">
                        <a:solidFill>
                          <a:schemeClr val="tx1"/>
                        </a:solidFill>
                        <a:latin typeface="Amazon Ember Display"/>
                      </a:endParaRPr>
                    </a:p>
                    <a:p>
                      <a:pPr lvl="0">
                        <a:buNone/>
                      </a:pPr>
                      <a:r>
                        <a:rPr lang="en-US" sz="1200" b="0" i="0" u="none" strike="noStrike" baseline="0" noProof="0" dirty="0" err="1">
                          <a:solidFill>
                            <a:schemeClr val="tx1"/>
                          </a:solidFill>
                        </a:rPr>
                        <a:t>GenericRepresentation</a:t>
                      </a:r>
                      <a:endParaRPr lang="en-US" dirty="0">
                        <a:solidFill>
                          <a:schemeClr val="tx1"/>
                        </a:solidFill>
                      </a:endParaRPr>
                    </a:p>
                  </a:txBody>
                  <a:tcPr/>
                </a:tc>
                <a:extLst>
                  <a:ext uri="{0D108BD9-81ED-4DB2-BD59-A6C34878D82A}">
                    <a16:rowId xmlns:a16="http://schemas.microsoft.com/office/drawing/2014/main" val="2986933022"/>
                  </a:ext>
                </a:extLst>
              </a:tr>
              <a:tr h="0">
                <a:tc>
                  <a:txBody>
                    <a:bodyPr/>
                    <a:lstStyle/>
                    <a:p>
                      <a:pPr marL="0" algn="l" defTabSz="914400" rtl="0" eaLnBrk="1" latinLnBrk="0" hangingPunct="1"/>
                      <a:r>
                        <a:rPr lang="en-US" sz="1200" kern="1200">
                          <a:solidFill>
                            <a:schemeClr val="tx1"/>
                          </a:solidFill>
                          <a:latin typeface="+mn-lt"/>
                          <a:ea typeface="+mn-ea"/>
                          <a:cs typeface="+mn-cs"/>
                        </a:rPr>
                        <a:t>2. </a:t>
                      </a:r>
                      <a:r>
                        <a:rPr lang="en-US" sz="1200" kern="1200" err="1">
                          <a:solidFill>
                            <a:schemeClr val="tx1"/>
                          </a:solidFill>
                          <a:latin typeface="+mn-lt"/>
                          <a:ea typeface="+mn-ea"/>
                          <a:cs typeface="+mn-cs"/>
                        </a:rPr>
                        <a:t>TotalEnergies</a:t>
                      </a:r>
                      <a:endParaRPr lang="en-US" sz="1200" kern="1200">
                        <a:solidFill>
                          <a:schemeClr val="tx1"/>
                        </a:solidFill>
                        <a:latin typeface="+mn-lt"/>
                        <a:ea typeface="+mn-ea"/>
                        <a:cs typeface="+mn-cs"/>
                      </a:endParaRPr>
                    </a:p>
                    <a:p>
                      <a:pPr marL="0" algn="l" defTabSz="914400" rtl="0" eaLnBrk="1" latinLnBrk="0" hangingPunct="1"/>
                      <a:endParaRPr lang="en-US" sz="1200" kern="1200">
                        <a:solidFill>
                          <a:schemeClr val="tx1"/>
                        </a:solidFill>
                        <a:latin typeface="+mn-lt"/>
                        <a:ea typeface="+mn-ea"/>
                        <a:cs typeface="+mn-cs"/>
                      </a:endParaRPr>
                    </a:p>
                    <a:p>
                      <a:pPr marL="0" algn="l" defTabSz="914400" rtl="0" eaLnBrk="1" latinLnBrk="0" hangingPunct="1"/>
                      <a:r>
                        <a:rPr lang="en-US" sz="1200" kern="1200">
                          <a:solidFill>
                            <a:schemeClr val="tx1"/>
                          </a:solidFill>
                          <a:latin typeface="+mn-lt"/>
                          <a:ea typeface="+mn-ea"/>
                          <a:cs typeface="+mn-cs"/>
                        </a:rPr>
                        <a:t>Consume and  Ingest data</a:t>
                      </a:r>
                    </a:p>
                  </a:txBody>
                  <a:tcPr/>
                </a:tc>
                <a:tc>
                  <a:txBody>
                    <a:bodyPr/>
                    <a:lstStyle/>
                    <a:p>
                      <a:pPr marL="0" algn="l" defTabSz="914400" rtl="0" eaLnBrk="1" latinLnBrk="0" hangingPunct="1"/>
                      <a:r>
                        <a:rPr lang="en-US" sz="1200" kern="1200" dirty="0" err="1">
                          <a:solidFill>
                            <a:schemeClr val="tx1"/>
                          </a:solidFill>
                          <a:latin typeface="+mn-lt"/>
                          <a:ea typeface="+mn-ea"/>
                          <a:cs typeface="+mn-cs"/>
                        </a:rPr>
                        <a:t>Sismage</a:t>
                      </a:r>
                      <a:r>
                        <a:rPr lang="en-US" sz="1200" kern="1200" dirty="0">
                          <a:solidFill>
                            <a:schemeClr val="tx1"/>
                          </a:solidFill>
                          <a:latin typeface="+mn-lt"/>
                          <a:ea typeface="+mn-ea"/>
                          <a:cs typeface="+mn-cs"/>
                        </a:rPr>
                        <a:t>-CIG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mn-lt"/>
                          <a:ea typeface="+mn-ea"/>
                          <a:cs typeface="+mn-cs"/>
                        </a:rPr>
                        <a:t>ETP Domain API</a:t>
                      </a:r>
                    </a:p>
                    <a:p>
                      <a:pPr marL="0" algn="l" defTabSz="914400" rtl="0" eaLnBrk="1" latinLnBrk="0" hangingPunct="1"/>
                      <a:endParaRPr lang="en-US" sz="1200" kern="1200">
                        <a:solidFill>
                          <a:schemeClr val="tx1"/>
                        </a:solidFill>
                        <a:latin typeface="+mn-lt"/>
                        <a:ea typeface="+mn-ea"/>
                        <a:cs typeface="+mn-cs"/>
                      </a:endParaRPr>
                    </a:p>
                  </a:txBody>
                  <a:tcPr/>
                </a:tc>
                <a:tc>
                  <a:txBody>
                    <a:bodyPr/>
                    <a:lstStyle/>
                    <a:p>
                      <a:r>
                        <a:rPr lang="en-US" sz="1200" kern="1200" dirty="0">
                          <a:solidFill>
                            <a:schemeClr val="tx1"/>
                          </a:solidFill>
                          <a:latin typeface="+mn-lt"/>
                          <a:ea typeface="+mn-ea"/>
                          <a:cs typeface="+mn-cs"/>
                        </a:rPr>
                        <a:t>Consume:</a:t>
                      </a:r>
                    </a:p>
                    <a:p>
                      <a:pPr marL="0" lvl="0" indent="0" algn="l" defTabSz="609585" rtl="0" eaLnBrk="1" latinLnBrk="0" hangingPunct="1">
                        <a:buClr>
                          <a:srgbClr val="FFFFFF"/>
                        </a:buClr>
                        <a:buFont typeface="Calibri"/>
                        <a:buNone/>
                      </a:pPr>
                      <a:r>
                        <a:rPr lang="en-US" sz="1200" kern="1200" noProof="0" dirty="0">
                          <a:solidFill>
                            <a:schemeClr val="tx1"/>
                          </a:solidFill>
                          <a:latin typeface="+mn-lt"/>
                          <a:ea typeface="+mn-ea"/>
                          <a:cs typeface="+mn-cs"/>
                        </a:rPr>
                        <a:t>-    Horizon picks (2D Grids)</a:t>
                      </a:r>
                    </a:p>
                    <a:p>
                      <a:pPr marL="0" lvl="0" indent="0" algn="l" defTabSz="609585" rtl="0" eaLnBrk="1" latinLnBrk="0" hangingPunct="1">
                        <a:buClr>
                          <a:srgbClr val="FFFFFF"/>
                        </a:buClr>
                        <a:buFont typeface="Calibri"/>
                        <a:buNone/>
                      </a:pPr>
                      <a:r>
                        <a:rPr lang="en-US" sz="1200" kern="1200" noProof="0" dirty="0">
                          <a:solidFill>
                            <a:schemeClr val="tx1"/>
                          </a:solidFill>
                          <a:latin typeface="+mn-lt"/>
                          <a:ea typeface="+mn-ea"/>
                          <a:cs typeface="+mn-cs"/>
                        </a:rPr>
                        <a:t>-    Fault sticks</a:t>
                      </a:r>
                    </a:p>
                    <a:p>
                      <a:pPr marL="0" indent="0">
                        <a:buFontTx/>
                        <a:buNone/>
                      </a:pPr>
                      <a:endParaRPr lang="en-US" sz="1200" kern="1200" dirty="0">
                        <a:solidFill>
                          <a:schemeClr val="tx1"/>
                        </a:solidFill>
                        <a:latin typeface="+mn-lt"/>
                        <a:ea typeface="+mn-ea"/>
                        <a:cs typeface="+mn-cs"/>
                      </a:endParaRPr>
                    </a:p>
                    <a:p>
                      <a:pPr marL="0" indent="0">
                        <a:buFontTx/>
                        <a:buNone/>
                      </a:pPr>
                      <a:r>
                        <a:rPr lang="en-US" sz="1200" kern="1200" dirty="0">
                          <a:solidFill>
                            <a:schemeClr val="tx1"/>
                          </a:solidFill>
                          <a:latin typeface="+mn-lt"/>
                          <a:ea typeface="+mn-ea"/>
                          <a:cs typeface="+mn-cs"/>
                        </a:rPr>
                        <a:t>Ingest</a:t>
                      </a:r>
                    </a:p>
                    <a:p>
                      <a:pPr marL="171450" indent="-171450">
                        <a:buFont typeface="Calibri"/>
                        <a:buChar char="-"/>
                      </a:pPr>
                      <a:r>
                        <a:rPr lang="en-US" sz="1200" kern="1200" dirty="0">
                          <a:solidFill>
                            <a:schemeClr val="tx1"/>
                          </a:solidFill>
                          <a:latin typeface="+mn-lt"/>
                          <a:ea typeface="+mn-ea"/>
                          <a:cs typeface="+mn-cs"/>
                        </a:rPr>
                        <a:t>Horizon triangulated surfaces</a:t>
                      </a:r>
                      <a:endParaRPr lang="en-US" sz="1600" dirty="0">
                        <a:solidFill>
                          <a:schemeClr val="tx1"/>
                        </a:solidFill>
                      </a:endParaRPr>
                    </a:p>
                    <a:p>
                      <a:pPr marL="171450" lvl="0" indent="-171450">
                        <a:buFont typeface="Calibri"/>
                        <a:buChar char="-"/>
                      </a:pPr>
                      <a:r>
                        <a:rPr lang="en-US" sz="1200" kern="1200" dirty="0">
                          <a:solidFill>
                            <a:schemeClr val="tx1"/>
                          </a:solidFill>
                          <a:latin typeface="+mn-lt"/>
                          <a:ea typeface="+mn-ea"/>
                          <a:cs typeface="+mn-cs"/>
                        </a:rPr>
                        <a:t>Fault triangulated surfaces</a:t>
                      </a:r>
                      <a:endParaRPr lang="en-US" sz="1600" dirty="0">
                        <a:solidFill>
                          <a:schemeClr val="tx1"/>
                        </a:solidFill>
                      </a:endParaRPr>
                    </a:p>
                  </a:txBody>
                  <a:tcPr/>
                </a:tc>
                <a:tc>
                  <a:txBody>
                    <a:bodyPr/>
                    <a:lstStyle/>
                    <a:p>
                      <a:pPr lvl="0">
                        <a:buNone/>
                      </a:pPr>
                      <a:endParaRPr lang="en-US" sz="1200" b="0" i="0" u="none" strike="noStrike" noProof="0" dirty="0">
                        <a:solidFill>
                          <a:schemeClr val="tx1"/>
                        </a:solidFill>
                        <a:latin typeface="Segoe UI"/>
                      </a:endParaRPr>
                    </a:p>
                    <a:p>
                      <a:pPr lvl="0">
                        <a:buNone/>
                      </a:pPr>
                      <a:r>
                        <a:rPr lang="en-US" sz="1200" b="0" i="0" u="none" strike="noStrike" noProof="0" dirty="0" err="1">
                          <a:solidFill>
                            <a:schemeClr val="tx1"/>
                          </a:solidFill>
                          <a:latin typeface="Segoe UI"/>
                        </a:rPr>
                        <a:t>LocalBoundaryFeature</a:t>
                      </a:r>
                      <a:endParaRPr lang="en-US" sz="1200" b="0" i="0" u="none" strike="noStrike" noProof="0" dirty="0">
                        <a:solidFill>
                          <a:schemeClr val="tx1"/>
                        </a:solidFill>
                        <a:latin typeface="Segoe UI"/>
                      </a:endParaRPr>
                    </a:p>
                    <a:p>
                      <a:pPr lvl="0">
                        <a:buNone/>
                      </a:pPr>
                      <a:r>
                        <a:rPr lang="en-US" sz="1200" b="0" i="0" u="none" strike="noStrike" noProof="0" dirty="0" err="1">
                          <a:solidFill>
                            <a:schemeClr val="tx1"/>
                          </a:solidFill>
                          <a:latin typeface="Segoe UI"/>
                        </a:rPr>
                        <a:t>HorizonInterpretation</a:t>
                      </a:r>
                      <a:endParaRPr lang="en-US" sz="1200" b="0" i="0" u="none" strike="noStrike" noProof="0" dirty="0">
                        <a:solidFill>
                          <a:schemeClr val="tx1"/>
                        </a:solidFill>
                        <a:latin typeface="Segoe UI"/>
                      </a:endParaRPr>
                    </a:p>
                    <a:p>
                      <a:pPr lvl="0">
                        <a:buNone/>
                      </a:pPr>
                      <a:r>
                        <a:rPr lang="en-US" sz="1200" b="0" i="0" u="none" strike="noStrike" noProof="0" dirty="0" err="1">
                          <a:solidFill>
                            <a:schemeClr val="tx1"/>
                          </a:solidFill>
                          <a:latin typeface="Segoe UI"/>
                        </a:rPr>
                        <a:t>FaultInterpretation</a:t>
                      </a:r>
                      <a:endParaRPr lang="en-US" sz="1200" b="0" i="0" u="none" strike="noStrike" noProof="0" dirty="0">
                        <a:solidFill>
                          <a:schemeClr val="tx1"/>
                        </a:solidFill>
                        <a:latin typeface="Segoe UI"/>
                      </a:endParaRPr>
                    </a:p>
                    <a:p>
                      <a:pPr lvl="0">
                        <a:buNone/>
                      </a:pPr>
                      <a:r>
                        <a:rPr lang="en-US" sz="1200" b="0" i="0" u="none" strike="noStrike" noProof="0" dirty="0" err="1">
                          <a:solidFill>
                            <a:schemeClr val="tx1"/>
                          </a:solidFill>
                          <a:latin typeface="Segoe UI"/>
                        </a:rPr>
                        <a:t>GenericRepresentation</a:t>
                      </a:r>
                      <a:endParaRPr lang="en-US" sz="1200" b="0" i="0" u="none" strike="noStrike" noProof="0" dirty="0">
                        <a:solidFill>
                          <a:schemeClr val="tx1"/>
                        </a:solidFill>
                        <a:latin typeface="Segoe UI"/>
                      </a:endParaRPr>
                    </a:p>
                  </a:txBody>
                  <a:tcPr/>
                </a:tc>
                <a:extLst>
                  <a:ext uri="{0D108BD9-81ED-4DB2-BD59-A6C34878D82A}">
                    <a16:rowId xmlns:a16="http://schemas.microsoft.com/office/drawing/2014/main" val="4268004631"/>
                  </a:ext>
                </a:extLst>
              </a:tr>
              <a:tr h="230726">
                <a:tc>
                  <a:txBody>
                    <a:bodyPr/>
                    <a:lstStyle/>
                    <a:p>
                      <a:pPr marL="0" algn="l" defTabSz="914400" rtl="0" eaLnBrk="1" latinLnBrk="0" hangingPunct="1"/>
                      <a:r>
                        <a:rPr lang="en-US" sz="1200" kern="1200">
                          <a:solidFill>
                            <a:schemeClr val="tx1"/>
                          </a:solidFill>
                          <a:latin typeface="+mn-lt"/>
                          <a:ea typeface="+mn-ea"/>
                          <a:cs typeface="+mn-cs"/>
                        </a:rPr>
                        <a:t>3. </a:t>
                      </a:r>
                      <a:r>
                        <a:rPr lang="en-US" sz="1200" kern="1200" err="1">
                          <a:solidFill>
                            <a:schemeClr val="tx1"/>
                          </a:solidFill>
                          <a:latin typeface="+mn-lt"/>
                          <a:ea typeface="+mn-ea"/>
                          <a:cs typeface="+mn-cs"/>
                        </a:rPr>
                        <a:t>AspenTech</a:t>
                      </a:r>
                      <a:endParaRPr lang="en-US" sz="1200" kern="1200">
                        <a:solidFill>
                          <a:schemeClr val="tx1"/>
                        </a:solidFill>
                        <a:latin typeface="+mn-lt"/>
                        <a:ea typeface="+mn-ea"/>
                        <a:cs typeface="+mn-cs"/>
                      </a:endParaRPr>
                    </a:p>
                    <a:p>
                      <a:r>
                        <a:rPr lang="en-US" sz="1200" kern="1200">
                          <a:solidFill>
                            <a:schemeClr val="tx1"/>
                          </a:solidFill>
                          <a:latin typeface="+mn-lt"/>
                          <a:ea typeface="+mn-ea"/>
                          <a:cs typeface="+mn-cs"/>
                        </a:rPr>
                        <a:t>Consume and Ingest data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Aspen SKUA®</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mn-lt"/>
                          <a:ea typeface="+mn-ea"/>
                          <a:cs typeface="+mn-cs"/>
                        </a:rPr>
                        <a:t>ETP Domain API</a:t>
                      </a:r>
                    </a:p>
                    <a:p>
                      <a:endParaRPr lang="en-US"/>
                    </a:p>
                  </a:txBody>
                  <a:tcPr/>
                </a:tc>
                <a:tc>
                  <a:txBody>
                    <a:bodyPr/>
                    <a:lstStyle/>
                    <a:p>
                      <a:r>
                        <a:rPr lang="en-US" sz="1200" kern="1200">
                          <a:solidFill>
                            <a:schemeClr val="tx1"/>
                          </a:solidFill>
                          <a:latin typeface="+mn-lt"/>
                          <a:ea typeface="+mn-ea"/>
                          <a:cs typeface="+mn-cs"/>
                        </a:rPr>
                        <a:t>Consume:</a:t>
                      </a:r>
                    </a:p>
                    <a:p>
                      <a:pPr marL="171450" indent="-171450">
                        <a:buFont typeface="Calibri"/>
                        <a:buChar char="-"/>
                      </a:pPr>
                      <a:r>
                        <a:rPr lang="en-US" sz="1200" kern="1200">
                          <a:solidFill>
                            <a:schemeClr val="tx1"/>
                          </a:solidFill>
                          <a:latin typeface="+mn-lt"/>
                          <a:ea typeface="+mn-ea"/>
                          <a:cs typeface="+mn-cs"/>
                        </a:rPr>
                        <a:t>Horizon triangulated surfaces</a:t>
                      </a:r>
                    </a:p>
                    <a:p>
                      <a:pPr marL="171450" lvl="0" indent="-171450">
                        <a:buFont typeface="Calibri"/>
                        <a:buChar char="-"/>
                      </a:pPr>
                      <a:r>
                        <a:rPr lang="en-US" sz="1200" kern="1200">
                          <a:solidFill>
                            <a:schemeClr val="tx1"/>
                          </a:solidFill>
                          <a:latin typeface="+mn-lt"/>
                          <a:ea typeface="+mn-ea"/>
                          <a:cs typeface="+mn-cs"/>
                        </a:rPr>
                        <a:t>Fault triangulated surfaces</a:t>
                      </a:r>
                      <a:endParaRPr lang="en-US"/>
                    </a:p>
                    <a:p>
                      <a:pPr marL="171450" lvl="0" indent="-171450">
                        <a:buFont typeface="Calibri"/>
                        <a:buChar char="-"/>
                      </a:pPr>
                      <a:r>
                        <a:rPr lang="en-US" sz="1200" kern="1200">
                          <a:solidFill>
                            <a:schemeClr val="tx1"/>
                          </a:solidFill>
                          <a:latin typeface="+mn-lt"/>
                          <a:ea typeface="+mn-ea"/>
                          <a:cs typeface="+mn-cs"/>
                        </a:rPr>
                        <a:t>Well picks and logs</a:t>
                      </a:r>
                      <a:endParaRPr lang="en-US"/>
                    </a:p>
                    <a:p>
                      <a:pPr marL="0" lvl="0" indent="0">
                        <a:buFontTx/>
                        <a:buNone/>
                      </a:pPr>
                      <a:endParaRPr lang="en-US" sz="1200" kern="1200">
                        <a:solidFill>
                          <a:schemeClr val="tx1"/>
                        </a:solidFill>
                        <a:latin typeface="+mn-lt"/>
                        <a:ea typeface="+mn-ea"/>
                        <a:cs typeface="+mn-cs"/>
                      </a:endParaRPr>
                    </a:p>
                    <a:p>
                      <a:pPr marL="0" indent="0">
                        <a:buFontTx/>
                        <a:buNone/>
                      </a:pPr>
                      <a:r>
                        <a:rPr lang="en-US" sz="1200" kern="1200">
                          <a:solidFill>
                            <a:schemeClr val="tx1"/>
                          </a:solidFill>
                          <a:latin typeface="+mn-lt"/>
                          <a:ea typeface="+mn-ea"/>
                          <a:cs typeface="+mn-cs"/>
                        </a:rPr>
                        <a:t>Ingest</a:t>
                      </a:r>
                    </a:p>
                    <a:p>
                      <a:pPr marL="171450" lvl="0" indent="-171450">
                        <a:buFont typeface="Calibri"/>
                        <a:buChar char="-"/>
                      </a:pPr>
                      <a:r>
                        <a:rPr lang="en-US" sz="1200" kern="1200">
                          <a:solidFill>
                            <a:schemeClr val="tx1"/>
                          </a:solidFill>
                          <a:latin typeface="+mn-lt"/>
                          <a:ea typeface="+mn-ea"/>
                          <a:cs typeface="+mn-cs"/>
                        </a:rPr>
                        <a:t>3D reservoir grid</a:t>
                      </a:r>
                      <a:endParaRPr lang="en-US"/>
                    </a:p>
                    <a:p>
                      <a:pPr marL="171450" lvl="0" indent="-171450">
                        <a:buFont typeface="Calibri"/>
                        <a:buChar char="-"/>
                      </a:pPr>
                      <a:r>
                        <a:rPr lang="en-US" sz="1200" kern="1200">
                          <a:solidFill>
                            <a:schemeClr val="tx1"/>
                          </a:solidFill>
                          <a:latin typeface="+mn-lt"/>
                          <a:ea typeface="+mn-ea"/>
                          <a:cs typeface="+mn-cs"/>
                        </a:rPr>
                        <a:t>3D reservoir grid static and dynamic properties</a:t>
                      </a:r>
                      <a:endParaRPr lang="en-US"/>
                    </a:p>
                  </a:txBody>
                  <a:tcPr/>
                </a:tc>
                <a:tc>
                  <a:txBody>
                    <a:bodyPr/>
                    <a:lstStyle/>
                    <a:p>
                      <a:pPr lvl="0">
                        <a:buNone/>
                      </a:pPr>
                      <a:r>
                        <a:rPr lang="en-US" sz="1200" b="0" i="0" u="none" strike="noStrike" baseline="0" noProof="0" dirty="0" err="1">
                          <a:solidFill>
                            <a:schemeClr val="tx1"/>
                          </a:solidFill>
                          <a:latin typeface="Segoe UI"/>
                        </a:rPr>
                        <a:t>LocalBoundaryFeature</a:t>
                      </a:r>
                      <a:endParaRPr lang="en-US" sz="1200" b="0" i="0" u="none" strike="noStrike" baseline="0" noProof="0" dirty="0">
                        <a:solidFill>
                          <a:schemeClr val="tx1"/>
                        </a:solidFill>
                        <a:latin typeface="Segoe UI"/>
                      </a:endParaRPr>
                    </a:p>
                    <a:p>
                      <a:pPr lvl="0">
                        <a:buNone/>
                      </a:pPr>
                      <a:r>
                        <a:rPr lang="en-US" sz="1200" b="0" i="0" u="none" strike="noStrike" baseline="0" noProof="0" dirty="0" err="1">
                          <a:solidFill>
                            <a:schemeClr val="tx1"/>
                          </a:solidFill>
                          <a:latin typeface="Segoe UI"/>
                        </a:rPr>
                        <a:t>HorizonInterpretation</a:t>
                      </a:r>
                      <a:endParaRPr lang="en-US" sz="1200" b="0" i="0" u="none" strike="noStrike" baseline="0" noProof="0" dirty="0">
                        <a:solidFill>
                          <a:schemeClr val="tx1"/>
                        </a:solidFill>
                        <a:latin typeface="Segoe UI"/>
                      </a:endParaRPr>
                    </a:p>
                    <a:p>
                      <a:pPr lvl="0">
                        <a:buNone/>
                      </a:pPr>
                      <a:r>
                        <a:rPr lang="en-US" sz="1200" b="0" i="0" u="none" strike="noStrike" baseline="0" noProof="0" dirty="0" err="1">
                          <a:solidFill>
                            <a:schemeClr val="tx1"/>
                          </a:solidFill>
                          <a:latin typeface="Segoe UI"/>
                        </a:rPr>
                        <a:t>FaultInterpretation</a:t>
                      </a:r>
                      <a:endParaRPr lang="en-US" sz="1200" b="0" i="0" u="none" strike="noStrike" baseline="0" noProof="0" dirty="0">
                        <a:solidFill>
                          <a:schemeClr val="tx1"/>
                        </a:solidFill>
                        <a:latin typeface="Segoe UI"/>
                      </a:endParaRPr>
                    </a:p>
                    <a:p>
                      <a:pPr lvl="0">
                        <a:buNone/>
                      </a:pPr>
                      <a:r>
                        <a:rPr lang="en-US" sz="1200" b="0" i="0" u="none" strike="noStrike" baseline="0" noProof="0" dirty="0" err="1">
                          <a:solidFill>
                            <a:schemeClr val="tx1"/>
                          </a:solidFill>
                          <a:latin typeface="Segoe UI"/>
                        </a:rPr>
                        <a:t>GenericRepresentation</a:t>
                      </a:r>
                      <a:endParaRPr lang="en-US" sz="1200" b="0" i="0" u="none" strike="noStrike" baseline="0" noProof="0" dirty="0">
                        <a:solidFill>
                          <a:schemeClr val="tx1"/>
                        </a:solidFill>
                        <a:latin typeface="Segoe UI"/>
                      </a:endParaRPr>
                    </a:p>
                    <a:p>
                      <a:pPr lvl="0">
                        <a:buNone/>
                      </a:pPr>
                      <a:endParaRPr lang="en-US" sz="1200" b="0" i="0" u="none" strike="noStrike" baseline="0" noProof="0" dirty="0">
                        <a:solidFill>
                          <a:schemeClr val="tx1"/>
                        </a:solidFill>
                        <a:latin typeface="Amazon Ember Display"/>
                      </a:endParaRPr>
                    </a:p>
                    <a:p>
                      <a:pPr lvl="0">
                        <a:buNone/>
                      </a:pPr>
                      <a:endParaRPr lang="en-US" sz="1200" b="0" i="0" u="none" strike="noStrike" baseline="0" noProof="0" dirty="0">
                        <a:solidFill>
                          <a:schemeClr val="tx1"/>
                        </a:solidFill>
                        <a:latin typeface="Amazon Ember Display"/>
                      </a:endParaRPr>
                    </a:p>
                    <a:p>
                      <a:pPr lvl="0">
                        <a:buNone/>
                      </a:pPr>
                      <a:r>
                        <a:rPr lang="en-US" sz="1200" b="0" i="0" u="none" strike="noStrike" baseline="0" noProof="0" dirty="0" err="1">
                          <a:solidFill>
                            <a:schemeClr val="tx1"/>
                          </a:solidFill>
                          <a:latin typeface="Amazon Ember Display"/>
                        </a:rPr>
                        <a:t>IjkGridRepresentation</a:t>
                      </a:r>
                      <a:endParaRPr lang="en-US" dirty="0">
                        <a:solidFill>
                          <a:schemeClr val="tx1"/>
                        </a:solidFill>
                      </a:endParaRPr>
                    </a:p>
                    <a:p>
                      <a:pPr lvl="0">
                        <a:buNone/>
                      </a:pPr>
                      <a:r>
                        <a:rPr lang="en-US" sz="1200" b="0" i="0" u="none" strike="noStrike" baseline="0" noProof="0" dirty="0" err="1">
                          <a:solidFill>
                            <a:schemeClr val="tx1"/>
                          </a:solidFill>
                        </a:rPr>
                        <a:t>GenericProperty</a:t>
                      </a:r>
                      <a:endParaRPr lang="en-US" sz="1200" b="0" i="0" u="none" strike="noStrike" baseline="0" noProof="0" dirty="0">
                        <a:solidFill>
                          <a:schemeClr val="tx1"/>
                        </a:solidFill>
                      </a:endParaRPr>
                    </a:p>
                    <a:p>
                      <a:pPr lvl="0">
                        <a:buNone/>
                      </a:pPr>
                      <a:r>
                        <a:rPr lang="en-US" sz="1200" b="0" i="0" u="none" strike="noStrike" baseline="0" noProof="0" dirty="0" err="1">
                          <a:solidFill>
                            <a:schemeClr val="tx1"/>
                          </a:solidFill>
                          <a:latin typeface="Amazon Ember Display"/>
                        </a:rPr>
                        <a:t>TimeSeries</a:t>
                      </a:r>
                      <a:endParaRPr lang="en-US" dirty="0">
                        <a:solidFill>
                          <a:schemeClr val="tx1"/>
                        </a:solidFill>
                      </a:endParaRPr>
                    </a:p>
                  </a:txBody>
                  <a:tcPr/>
                </a:tc>
                <a:extLst>
                  <a:ext uri="{0D108BD9-81ED-4DB2-BD59-A6C34878D82A}">
                    <a16:rowId xmlns:a16="http://schemas.microsoft.com/office/drawing/2014/main" val="2736783309"/>
                  </a:ext>
                </a:extLst>
              </a:tr>
              <a:tr h="230726">
                <a:tc>
                  <a:txBody>
                    <a:bodyPr/>
                    <a:lstStyle/>
                    <a:p>
                      <a:r>
                        <a:rPr lang="en-US" sz="1200" kern="1200">
                          <a:solidFill>
                            <a:schemeClr val="tx1"/>
                          </a:solidFill>
                          <a:latin typeface="+mn-lt"/>
                          <a:ea typeface="+mn-ea"/>
                          <a:cs typeface="+mn-cs"/>
                        </a:rPr>
                        <a:t>4. Dynamic Graphics</a:t>
                      </a:r>
                    </a:p>
                    <a:p>
                      <a:r>
                        <a:rPr lang="en-US" sz="1200" kern="1200">
                          <a:solidFill>
                            <a:schemeClr val="tx1"/>
                          </a:solidFill>
                          <a:latin typeface="+mn-lt"/>
                          <a:ea typeface="+mn-ea"/>
                          <a:cs typeface="+mn-cs"/>
                        </a:rPr>
                        <a:t>Consume data</a:t>
                      </a:r>
                    </a:p>
                  </a:txBody>
                  <a:tcPr/>
                </a:tc>
                <a:tc>
                  <a:txBody>
                    <a:bodyPr/>
                    <a:lstStyle/>
                    <a:p>
                      <a:pPr marL="0" algn="l" defTabSz="914400" rtl="0" eaLnBrk="1" latinLnBrk="0" hangingPunct="1"/>
                      <a:r>
                        <a:rPr lang="en-US" sz="1200" kern="1200" err="1">
                          <a:solidFill>
                            <a:schemeClr val="tx1"/>
                          </a:solidFill>
                          <a:latin typeface="+mn-lt"/>
                          <a:ea typeface="+mn-ea"/>
                          <a:cs typeface="+mn-cs"/>
                        </a:rPr>
                        <a:t>Coviz</a:t>
                      </a:r>
                      <a:r>
                        <a:rPr lang="en-US" sz="1200" kern="1200">
                          <a:solidFill>
                            <a:schemeClr val="tx1"/>
                          </a:solidFill>
                          <a:latin typeface="+mn-lt"/>
                          <a:ea typeface="+mn-ea"/>
                          <a:cs typeface="+mn-cs"/>
                        </a:rPr>
                        <a:t> 4D</a:t>
                      </a:r>
                    </a:p>
                  </a:txBody>
                  <a:tcPr/>
                </a:tc>
                <a:tc>
                  <a:txBody>
                    <a:bodyPr/>
                    <a:lstStyle/>
                    <a:p>
                      <a:pPr marL="0" algn="l" defTabSz="914400" rtl="0" eaLnBrk="1" latinLnBrk="0" hangingPunct="1"/>
                      <a:r>
                        <a:rPr lang="en-US" sz="1200" kern="1200">
                          <a:solidFill>
                            <a:schemeClr val="tx1"/>
                          </a:solidFill>
                          <a:latin typeface="+mn-lt"/>
                          <a:ea typeface="+mn-ea"/>
                          <a:cs typeface="+mn-cs"/>
                        </a:rPr>
                        <a:t>ETP Domain API</a:t>
                      </a:r>
                    </a:p>
                  </a:txBody>
                  <a:tcPr/>
                </a:tc>
                <a:tc>
                  <a:txBody>
                    <a:bodyPr/>
                    <a:lstStyle/>
                    <a:p>
                      <a:pPr marL="0" indent="0" algn="l" defTabSz="914400" rtl="0" eaLnBrk="1" latinLnBrk="0" hangingPunct="1">
                        <a:buFontTx/>
                        <a:buNone/>
                      </a:pPr>
                      <a:r>
                        <a:rPr lang="en-US" sz="1200" kern="1200">
                          <a:solidFill>
                            <a:schemeClr val="tx1"/>
                          </a:solidFill>
                          <a:latin typeface="+mn-lt"/>
                          <a:ea typeface="+mn-ea"/>
                          <a:cs typeface="+mn-cs"/>
                        </a:rPr>
                        <a:t>Consume</a:t>
                      </a:r>
                    </a:p>
                    <a:p>
                      <a:pPr marL="171450" indent="-171450" algn="l" defTabSz="914400" rtl="0" eaLnBrk="1" latinLnBrk="0" hangingPunct="1">
                        <a:buFont typeface="Calibri"/>
                        <a:buChar char="-"/>
                      </a:pPr>
                      <a:r>
                        <a:rPr lang="en-US" sz="1200" kern="1200">
                          <a:solidFill>
                            <a:schemeClr val="tx1"/>
                          </a:solidFill>
                          <a:latin typeface="+mn-lt"/>
                          <a:ea typeface="+mn-ea"/>
                          <a:cs typeface="+mn-cs"/>
                        </a:rPr>
                        <a:t>3D Reservoir grid with dynamic properties</a:t>
                      </a:r>
                    </a:p>
                  </a:txBody>
                  <a:tcPr/>
                </a:tc>
                <a:tc>
                  <a:txBody>
                    <a:bodyPr/>
                    <a:lstStyle/>
                    <a:p>
                      <a:pPr lvl="0">
                        <a:buNone/>
                      </a:pPr>
                      <a:r>
                        <a:rPr lang="en-US" sz="1200" b="0" i="0" u="none" strike="noStrike" noProof="0" dirty="0" err="1">
                          <a:solidFill>
                            <a:schemeClr val="tx1"/>
                          </a:solidFill>
                          <a:latin typeface="Segoe UI"/>
                        </a:rPr>
                        <a:t>IjkGridRepresentation</a:t>
                      </a:r>
                      <a:endParaRPr lang="en-US" sz="1200" b="0" i="0" u="none" strike="noStrike" noProof="0" dirty="0">
                        <a:solidFill>
                          <a:schemeClr val="tx1"/>
                        </a:solidFill>
                        <a:latin typeface="Segoe UI"/>
                      </a:endParaRPr>
                    </a:p>
                    <a:p>
                      <a:pPr lvl="0">
                        <a:buNone/>
                      </a:pPr>
                      <a:r>
                        <a:rPr lang="en-US" sz="1200" b="0" i="0" u="none" strike="noStrike" noProof="0" dirty="0" err="1">
                          <a:solidFill>
                            <a:schemeClr val="tx1"/>
                          </a:solidFill>
                          <a:latin typeface="Segoe UI"/>
                        </a:rPr>
                        <a:t>GenericProperty</a:t>
                      </a:r>
                      <a:endParaRPr lang="en-US" sz="1200" b="0" i="0" u="none" strike="noStrike" noProof="0" dirty="0">
                        <a:solidFill>
                          <a:schemeClr val="tx1"/>
                        </a:solidFill>
                        <a:latin typeface="Segoe UI"/>
                      </a:endParaRPr>
                    </a:p>
                    <a:p>
                      <a:pPr lvl="0">
                        <a:buNone/>
                      </a:pPr>
                      <a:r>
                        <a:rPr lang="en-US" sz="1200" b="0" i="0" u="none" strike="noStrike" noProof="0" dirty="0" err="1">
                          <a:solidFill>
                            <a:schemeClr val="tx1"/>
                          </a:solidFill>
                          <a:latin typeface="Segoe UI"/>
                        </a:rPr>
                        <a:t>TimeSeries</a:t>
                      </a:r>
                      <a:endParaRPr lang="en-US" dirty="0">
                        <a:solidFill>
                          <a:schemeClr val="tx1"/>
                        </a:solidFill>
                      </a:endParaRPr>
                    </a:p>
                  </a:txBody>
                  <a:tcPr/>
                </a:tc>
                <a:extLst>
                  <a:ext uri="{0D108BD9-81ED-4DB2-BD59-A6C34878D82A}">
                    <a16:rowId xmlns:a16="http://schemas.microsoft.com/office/drawing/2014/main" val="3937859353"/>
                  </a:ext>
                </a:extLst>
              </a:tr>
            </a:tbl>
          </a:graphicData>
        </a:graphic>
      </p:graphicFrame>
    </p:spTree>
    <p:extLst>
      <p:ext uri="{BB962C8B-B14F-4D97-AF65-F5344CB8AC3E}">
        <p14:creationId xmlns:p14="http://schemas.microsoft.com/office/powerpoint/2010/main" val="354171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1E95-8635-5DCB-A798-67109F3EC2B8}"/>
              </a:ext>
            </a:extLst>
          </p:cNvPr>
          <p:cNvSpPr>
            <a:spLocks noGrp="1"/>
          </p:cNvSpPr>
          <p:nvPr>
            <p:ph type="title"/>
          </p:nvPr>
        </p:nvSpPr>
        <p:spPr>
          <a:xfrm>
            <a:off x="609600" y="172157"/>
            <a:ext cx="10972800" cy="650269"/>
          </a:xfrm>
        </p:spPr>
        <p:txBody>
          <a:bodyPr>
            <a:normAutofit fontScale="90000"/>
          </a:bodyPr>
          <a:lstStyle/>
          <a:p>
            <a:r>
              <a:rPr lang="en-US" dirty="0"/>
              <a:t>Business Capability User Story – Actual (1)</a:t>
            </a:r>
            <a:endParaRPr lang="en-NO" dirty="0"/>
          </a:p>
        </p:txBody>
      </p:sp>
      <p:sp>
        <p:nvSpPr>
          <p:cNvPr id="3" name="Slide Number Placeholder 2">
            <a:extLst>
              <a:ext uri="{FF2B5EF4-FFF2-40B4-BE49-F238E27FC236}">
                <a16:creationId xmlns:a16="http://schemas.microsoft.com/office/drawing/2014/main" id="{41366E43-1663-C6DF-0D8C-343A194DF0B6}"/>
              </a:ext>
            </a:extLst>
          </p:cNvPr>
          <p:cNvSpPr>
            <a:spLocks noGrp="1"/>
          </p:cNvSpPr>
          <p:nvPr>
            <p:ph type="sldNum" sz="quarter" idx="12"/>
          </p:nvPr>
        </p:nvSpPr>
        <p:spPr/>
        <p:txBody>
          <a:bodyPr/>
          <a:lstStyle/>
          <a:p>
            <a:fld id="{4BBDA901-AC44-DA44-B86F-73C28EB4CF87}" type="slidenum">
              <a:rPr lang="en-GB" smtClean="0"/>
              <a:pPr/>
              <a:t>3</a:t>
            </a:fld>
            <a:endParaRPr lang="en-GB" dirty="0"/>
          </a:p>
        </p:txBody>
      </p:sp>
      <p:sp>
        <p:nvSpPr>
          <p:cNvPr id="6" name="TextBox 5">
            <a:extLst>
              <a:ext uri="{FF2B5EF4-FFF2-40B4-BE49-F238E27FC236}">
                <a16:creationId xmlns:a16="http://schemas.microsoft.com/office/drawing/2014/main" id="{FD0D75F5-96D1-9616-191A-87C1A215527E}"/>
              </a:ext>
            </a:extLst>
          </p:cNvPr>
          <p:cNvSpPr txBox="1"/>
          <p:nvPr/>
        </p:nvSpPr>
        <p:spPr>
          <a:xfrm>
            <a:off x="609600" y="955822"/>
            <a:ext cx="4695741" cy="2308324"/>
          </a:xfrm>
          <a:prstGeom prst="rect">
            <a:avLst/>
          </a:prstGeom>
          <a:noFill/>
        </p:spPr>
        <p:txBody>
          <a:bodyPr wrap="square" rtlCol="0">
            <a:spAutoFit/>
          </a:bodyPr>
          <a:lstStyle/>
          <a:p>
            <a:r>
              <a:rPr lang="en-US" b="1" dirty="0"/>
              <a:t>Business Capability User Story: </a:t>
            </a:r>
          </a:p>
          <a:p>
            <a:r>
              <a:rPr lang="en-US" b="1" u="sng" dirty="0"/>
              <a:t>What</a:t>
            </a:r>
            <a:r>
              <a:rPr lang="en-US" b="1" dirty="0"/>
              <a:t> does the Business User want to do?</a:t>
            </a:r>
          </a:p>
          <a:p>
            <a:r>
              <a:rPr lang="en-US" sz="1200" dirty="0">
                <a:effectLst/>
                <a:latin typeface="Calibri" panose="020F0502020204030204" pitchFamily="34" charset="0"/>
              </a:rPr>
              <a:t>As a geophysicist, I need to interpret seismic volumes, picking the horizons and the faults based partially on pre-existing data, and save/store the results.</a:t>
            </a:r>
            <a:endParaRPr lang="en-US" sz="1200" dirty="0"/>
          </a:p>
          <a:p>
            <a:endParaRPr lang="en-US" b="1" dirty="0"/>
          </a:p>
          <a:p>
            <a:r>
              <a:rPr lang="en-US" b="1" u="sng" dirty="0"/>
              <a:t>Why</a:t>
            </a:r>
            <a:r>
              <a:rPr lang="en-US" b="1" dirty="0"/>
              <a:t>? (Business Goal)</a:t>
            </a:r>
          </a:p>
          <a:p>
            <a:r>
              <a:rPr lang="en-US" sz="1200" dirty="0"/>
              <a:t>To generate derivative products that assist with interpretation of the subsurface, to clarify geology &amp; production opportunities (hotspots &amp; areas of high potential).</a:t>
            </a:r>
            <a:endParaRPr lang="en-US" b="1" dirty="0"/>
          </a:p>
        </p:txBody>
      </p:sp>
      <p:sp>
        <p:nvSpPr>
          <p:cNvPr id="9" name="TextBox 8">
            <a:extLst>
              <a:ext uri="{FF2B5EF4-FFF2-40B4-BE49-F238E27FC236}">
                <a16:creationId xmlns:a16="http://schemas.microsoft.com/office/drawing/2014/main" id="{CA6B5B5D-F522-7060-4ED2-AA5E8E65F065}"/>
              </a:ext>
            </a:extLst>
          </p:cNvPr>
          <p:cNvSpPr txBox="1"/>
          <p:nvPr/>
        </p:nvSpPr>
        <p:spPr>
          <a:xfrm>
            <a:off x="5586884" y="955822"/>
            <a:ext cx="6392445" cy="5293757"/>
          </a:xfrm>
          <a:prstGeom prst="rect">
            <a:avLst/>
          </a:prstGeom>
          <a:noFill/>
        </p:spPr>
        <p:txBody>
          <a:bodyPr wrap="square" lIns="91440" rIns="91440" numCol="2">
            <a:spAutoFit/>
          </a:bodyPr>
          <a:lstStyle/>
          <a:p>
            <a:r>
              <a:rPr lang="en-US" b="1" dirty="0"/>
              <a:t>Content Data Types Needed</a:t>
            </a:r>
          </a:p>
          <a:p>
            <a:pPr marL="171450"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SeismicTraceData</a:t>
            </a:r>
            <a:r>
              <a:rPr lang="en-US" sz="1000" dirty="0">
                <a:effectLst/>
                <a:latin typeface="Calibri" panose="020F0502020204030204" pitchFamily="34" charset="0"/>
              </a:rPr>
              <a:t> content:</a:t>
            </a:r>
          </a:p>
          <a:p>
            <a:pPr marL="628650" lvl="1"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File/dataset </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(e.g. </a:t>
            </a:r>
            <a:r>
              <a:rPr lang="en-US" sz="1000" dirty="0" err="1">
                <a:effectLst/>
                <a:latin typeface="Calibri" panose="020F0502020204030204" pitchFamily="34" charset="0"/>
              </a:rPr>
              <a:t>SEGY</a:t>
            </a:r>
            <a:r>
              <a:rPr lang="en-US" sz="1000" dirty="0">
                <a:effectLst/>
                <a:latin typeface="Calibri" panose="020F0502020204030204" pitchFamily="34" charset="0"/>
              </a:rPr>
              <a:t>, </a:t>
            </a:r>
            <a:r>
              <a:rPr lang="en-US" sz="1000" dirty="0" err="1">
                <a:effectLst/>
                <a:latin typeface="Calibri" panose="020F0502020204030204" pitchFamily="34" charset="0"/>
              </a:rPr>
              <a:t>ZGY</a:t>
            </a:r>
            <a:r>
              <a:rPr lang="en-US" sz="1000" dirty="0">
                <a:effectLst/>
                <a:latin typeface="Calibri" panose="020F0502020204030204" pitchFamily="34" charset="0"/>
              </a:rPr>
              <a:t>)</a:t>
            </a:r>
          </a:p>
          <a:p>
            <a:pPr marL="628650" lvl="1"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DDMS</a:t>
            </a:r>
            <a:endParaRPr lang="en-US" sz="1000" dirty="0">
              <a:effectLst/>
              <a:latin typeface="Calibri" panose="020F0502020204030204" pitchFamily="34" charset="0"/>
            </a:endParaRPr>
          </a:p>
          <a:p>
            <a:pPr marL="1085850" lvl="2"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SDDMS</a:t>
            </a:r>
            <a:r>
              <a:rPr lang="en-US" sz="1000" dirty="0">
                <a:effectLst/>
                <a:latin typeface="Calibri" panose="020F0502020204030204" pitchFamily="34" charset="0"/>
              </a:rPr>
              <a:t>  (Includes </a:t>
            </a:r>
            <a:r>
              <a:rPr lang="en-US" sz="1000" dirty="0" err="1">
                <a:effectLst/>
                <a:latin typeface="Calibri" panose="020F0502020204030204" pitchFamily="34" charset="0"/>
              </a:rPr>
              <a:t>OVDS</a:t>
            </a:r>
            <a:r>
              <a:rPr lang="en-US" sz="1000" dirty="0">
                <a:effectLst/>
                <a:latin typeface="Calibri" panose="020F0502020204030204" pitchFamily="34" charset="0"/>
              </a:rPr>
              <a:t> -- also others)</a:t>
            </a:r>
          </a:p>
          <a:p>
            <a:pPr marL="171450"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Seismic Horizon content</a:t>
            </a:r>
          </a:p>
          <a:p>
            <a:pPr marL="628650" lvl="1"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File/</a:t>
            </a:r>
            <a:r>
              <a:rPr lang="en-US" sz="1000">
                <a:effectLst/>
                <a:latin typeface="Calibri" panose="020F0502020204030204" pitchFamily="34" charset="0"/>
              </a:rPr>
              <a:t>ødataset</a:t>
            </a:r>
            <a:endParaRPr lang="en-US" sz="1000" dirty="0">
              <a:effectLst/>
              <a:latin typeface="Calibri" panose="020F0502020204030204" pitchFamily="34" charset="0"/>
            </a:endParaRP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RESQML</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XYZ (csv, tab-delimited, etc.)</a:t>
            </a:r>
          </a:p>
          <a:p>
            <a:pPr marL="628650" lvl="1"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DDMS</a:t>
            </a:r>
            <a:endParaRPr lang="en-US" sz="1000" dirty="0">
              <a:effectLst/>
              <a:latin typeface="Calibri" panose="020F0502020204030204" pitchFamily="34" charset="0"/>
            </a:endParaRPr>
          </a:p>
          <a:p>
            <a:pPr marL="1085850" lvl="2" indent="-171450" rtl="0" fontAlgn="ctr">
              <a:spcBef>
                <a:spcPts val="0"/>
              </a:spcBef>
              <a:spcAft>
                <a:spcPts val="0"/>
              </a:spcAft>
              <a:buFont typeface="Arial" panose="020B0604020202020204" pitchFamily="34" charset="0"/>
              <a:buChar char="•"/>
            </a:pPr>
            <a:r>
              <a:rPr lang="en-US" sz="1000" dirty="0">
                <a:solidFill>
                  <a:schemeClr val="accent3"/>
                </a:solidFill>
                <a:latin typeface="Calibri" panose="020F0502020204030204" pitchFamily="34" charset="0"/>
              </a:rPr>
              <a:t>RDDMS</a:t>
            </a:r>
            <a:endParaRPr lang="en-US" sz="1000" dirty="0">
              <a:solidFill>
                <a:schemeClr val="accent3"/>
              </a:solidFill>
              <a:effectLst/>
              <a:latin typeface="Calibri" panose="020F0502020204030204" pitchFamily="34" charset="0"/>
            </a:endParaRPr>
          </a:p>
          <a:p>
            <a:pPr marL="171450"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Seismic Fault content</a:t>
            </a:r>
          </a:p>
          <a:p>
            <a:pPr marL="628650" lvl="1"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File/dataset</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RESQML</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XYZ (csv, tab-delimited, etc.)</a:t>
            </a:r>
          </a:p>
          <a:p>
            <a:pPr marL="628650" lvl="1"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DDMS</a:t>
            </a:r>
            <a:endParaRPr lang="en-US" sz="1000" dirty="0">
              <a:effectLst/>
              <a:latin typeface="Calibri" panose="020F0502020204030204" pitchFamily="34" charset="0"/>
            </a:endParaRPr>
          </a:p>
          <a:p>
            <a:pPr marL="1085850" lvl="2" indent="-171450" rtl="0" fontAlgn="ctr">
              <a:spcBef>
                <a:spcPts val="0"/>
              </a:spcBef>
              <a:spcAft>
                <a:spcPts val="0"/>
              </a:spcAft>
              <a:buFont typeface="Arial" panose="020B0604020202020204" pitchFamily="34" charset="0"/>
              <a:buChar char="•"/>
            </a:pPr>
            <a:r>
              <a:rPr lang="en-US" sz="1000" dirty="0">
                <a:solidFill>
                  <a:schemeClr val="accent3"/>
                </a:solidFill>
                <a:latin typeface="Calibri" panose="020F0502020204030204" pitchFamily="34" charset="0"/>
              </a:rPr>
              <a:t>RDDMS</a:t>
            </a:r>
            <a:endParaRPr lang="en-US" sz="1000" dirty="0">
              <a:solidFill>
                <a:schemeClr val="accent3"/>
              </a:solidFill>
              <a:effectLst/>
              <a:latin typeface="Calibri" panose="020F0502020204030204" pitchFamily="34" charset="0"/>
            </a:endParaRPr>
          </a:p>
          <a:p>
            <a:pPr marL="171450"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SeismicBinGrid</a:t>
            </a:r>
            <a:endParaRPr lang="en-US" sz="1000" dirty="0">
              <a:effectLst/>
              <a:latin typeface="Calibri" panose="020F0502020204030204" pitchFamily="34" charset="0"/>
            </a:endParaRPr>
          </a:p>
          <a:p>
            <a:pPr marL="628650" lvl="1"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Metadata attributes capture the info needed</a:t>
            </a:r>
          </a:p>
          <a:p>
            <a:pPr marL="628650" lvl="1"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Files/dataset</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P6/11</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Csv </a:t>
            </a:r>
          </a:p>
          <a:p>
            <a:pPr marL="628650" lvl="1"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DDMS</a:t>
            </a:r>
            <a:endParaRPr lang="en-US" sz="1000" dirty="0">
              <a:effectLst/>
              <a:latin typeface="Calibri" panose="020F0502020204030204" pitchFamily="34" charset="0"/>
            </a:endParaRP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SDDMS ?</a:t>
            </a:r>
          </a:p>
          <a:p>
            <a:pPr marL="1085850" lvl="2" indent="-171450" rtl="0" fontAlgn="ctr">
              <a:spcBef>
                <a:spcPts val="0"/>
              </a:spcBef>
              <a:spcAft>
                <a:spcPts val="0"/>
              </a:spcAft>
              <a:buFont typeface="Arial" panose="020B0604020202020204" pitchFamily="34" charset="0"/>
              <a:buChar char="•"/>
            </a:pPr>
            <a:r>
              <a:rPr lang="en-US" sz="1000" dirty="0">
                <a:solidFill>
                  <a:schemeClr val="accent3"/>
                </a:solidFill>
                <a:latin typeface="Calibri" panose="020F0502020204030204" pitchFamily="34" charset="0"/>
              </a:rPr>
              <a:t>RDDMS</a:t>
            </a:r>
            <a:r>
              <a:rPr lang="en-US" sz="1000" dirty="0">
                <a:latin typeface="Calibri" panose="020F0502020204030204" pitchFamily="34" charset="0"/>
              </a:rPr>
              <a:t> </a:t>
            </a:r>
            <a:endParaRPr lang="en-US" sz="1000" dirty="0">
              <a:effectLst/>
              <a:latin typeface="Calibri" panose="020F0502020204030204" pitchFamily="34" charset="0"/>
            </a:endParaRPr>
          </a:p>
          <a:p>
            <a:pPr marL="171450"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SeismicLineGeometry</a:t>
            </a:r>
            <a:endParaRPr lang="en-US" sz="1000" dirty="0">
              <a:effectLst/>
              <a:latin typeface="Calibri" panose="020F0502020204030204" pitchFamily="34" charset="0"/>
            </a:endParaRPr>
          </a:p>
          <a:p>
            <a:pPr marL="628650" lvl="1"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File/dataset</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P1/11, P1/90</a:t>
            </a: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Csv - line name, </a:t>
            </a:r>
            <a:r>
              <a:rPr lang="en-US" sz="1000" dirty="0" err="1">
                <a:effectLst/>
                <a:latin typeface="Calibri" panose="020F0502020204030204" pitchFamily="34" charset="0"/>
              </a:rPr>
              <a:t>shotpoint</a:t>
            </a:r>
            <a:r>
              <a:rPr lang="en-US" sz="1000" dirty="0">
                <a:effectLst/>
                <a:latin typeface="Calibri" panose="020F0502020204030204" pitchFamily="34" charset="0"/>
              </a:rPr>
              <a:t>, X, Y, </a:t>
            </a:r>
            <a:r>
              <a:rPr lang="en-US" sz="1000" dirty="0" err="1">
                <a:effectLst/>
                <a:latin typeface="Calibri" panose="020F0502020204030204" pitchFamily="34" charset="0"/>
              </a:rPr>
              <a:t>lat</a:t>
            </a:r>
            <a:r>
              <a:rPr lang="en-US" sz="1000" dirty="0">
                <a:effectLst/>
                <a:latin typeface="Calibri" panose="020F0502020204030204" pitchFamily="34" charset="0"/>
              </a:rPr>
              <a:t>, </a:t>
            </a:r>
            <a:r>
              <a:rPr lang="en-US" sz="1000" dirty="0" err="1">
                <a:effectLst/>
                <a:latin typeface="Calibri" panose="020F0502020204030204" pitchFamily="34" charset="0"/>
              </a:rPr>
              <a:t>lon</a:t>
            </a:r>
            <a:endParaRPr lang="en-US" sz="1000" dirty="0">
              <a:effectLst/>
              <a:latin typeface="Calibri" panose="020F0502020204030204" pitchFamily="34" charset="0"/>
            </a:endParaRPr>
          </a:p>
          <a:p>
            <a:pPr marL="628650" lvl="1" indent="-171450" rtl="0" fontAlgn="ctr">
              <a:spcBef>
                <a:spcPts val="0"/>
              </a:spcBef>
              <a:spcAft>
                <a:spcPts val="0"/>
              </a:spcAft>
              <a:buFont typeface="Arial" panose="020B0604020202020204" pitchFamily="34" charset="0"/>
              <a:buChar char="•"/>
            </a:pPr>
            <a:r>
              <a:rPr lang="en-US" sz="1000" dirty="0" err="1">
                <a:effectLst/>
                <a:latin typeface="Calibri" panose="020F0502020204030204" pitchFamily="34" charset="0"/>
              </a:rPr>
              <a:t>DDMS</a:t>
            </a:r>
            <a:endParaRPr lang="en-US" sz="1000" dirty="0">
              <a:effectLst/>
              <a:latin typeface="Calibri" panose="020F0502020204030204" pitchFamily="34" charset="0"/>
            </a:endParaRPr>
          </a:p>
          <a:p>
            <a:pPr marL="1085850" lvl="2" indent="-171450"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SDDMS - 2D Seismic Line specific </a:t>
            </a:r>
            <a:r>
              <a:rPr lang="en-US" sz="1000" dirty="0">
                <a:latin typeface="Calibri" panose="020F0502020204030204" pitchFamily="34" charset="0"/>
              </a:rPr>
              <a:t>?</a:t>
            </a:r>
          </a:p>
          <a:p>
            <a:pPr marL="1085850" lvl="2" indent="-171450" rtl="0" fontAlgn="ctr">
              <a:spcBef>
                <a:spcPts val="0"/>
              </a:spcBef>
              <a:spcAft>
                <a:spcPts val="0"/>
              </a:spcAft>
              <a:buFont typeface="Arial" panose="020B0604020202020204" pitchFamily="34" charset="0"/>
              <a:buChar char="•"/>
            </a:pPr>
            <a:r>
              <a:rPr lang="en-US" sz="1000" dirty="0">
                <a:solidFill>
                  <a:schemeClr val="accent3"/>
                </a:solidFill>
                <a:effectLst/>
                <a:latin typeface="Calibri" panose="020F0502020204030204" pitchFamily="34" charset="0"/>
              </a:rPr>
              <a:t>RDDMS</a:t>
            </a:r>
            <a:r>
              <a:rPr lang="en-US" sz="1000" dirty="0">
                <a:effectLst/>
                <a:latin typeface="Calibri" panose="020F0502020204030204" pitchFamily="34" charset="0"/>
              </a:rPr>
              <a:t> ?</a:t>
            </a:r>
          </a:p>
          <a:p>
            <a:pPr lvl="2" rtl="0" fontAlgn="ctr">
              <a:spcBef>
                <a:spcPts val="0"/>
              </a:spcBef>
              <a:spcAft>
                <a:spcPts val="0"/>
              </a:spcAft>
            </a:pPr>
            <a:endParaRPr lang="en-US" sz="1000" dirty="0">
              <a:effectLst/>
              <a:latin typeface="Calibri" panose="020F0502020204030204" pitchFamily="34" charset="0"/>
            </a:endParaRPr>
          </a:p>
          <a:p>
            <a:pPr marL="171450" indent="-171450" fontAlgn="ctr">
              <a:buFont typeface="Arial" panose="020B0604020202020204" pitchFamily="34" charset="0"/>
              <a:buChar char="•"/>
            </a:pPr>
            <a:r>
              <a:rPr lang="en-US" sz="1000" dirty="0">
                <a:latin typeface="Calibri" panose="020F0502020204030204" pitchFamily="34" charset="0"/>
              </a:rPr>
              <a:t>Wellbore Trajectory</a:t>
            </a:r>
          </a:p>
          <a:p>
            <a:pPr marL="628650" lvl="1" indent="-171450" fontAlgn="ctr">
              <a:buFont typeface="Arial" panose="020B0604020202020204" pitchFamily="34" charset="0"/>
              <a:buChar char="•"/>
            </a:pPr>
            <a:r>
              <a:rPr lang="en-US" sz="1000" dirty="0">
                <a:latin typeface="Calibri" panose="020F0502020204030204" pitchFamily="34" charset="0"/>
              </a:rPr>
              <a:t>File/dataset</a:t>
            </a:r>
          </a:p>
          <a:p>
            <a:pPr marL="1085850" lvl="2" indent="-171450" fontAlgn="ctr">
              <a:buFont typeface="Arial" panose="020B0604020202020204" pitchFamily="34" charset="0"/>
              <a:buChar char="•"/>
            </a:pPr>
            <a:r>
              <a:rPr lang="en-US" sz="1000" dirty="0">
                <a:latin typeface="Calibri" panose="020F0502020204030204" pitchFamily="34" charset="0"/>
              </a:rPr>
              <a:t>CSV, Excel, </a:t>
            </a:r>
            <a:r>
              <a:rPr lang="en-US" sz="1000" dirty="0" err="1">
                <a:latin typeface="Calibri" panose="020F0502020204030204" pitchFamily="34" charset="0"/>
              </a:rPr>
              <a:t>WITSML</a:t>
            </a:r>
            <a:r>
              <a:rPr lang="en-US" sz="1000" dirty="0">
                <a:latin typeface="Calibri" panose="020F0502020204030204" pitchFamily="34" charset="0"/>
              </a:rPr>
              <a:t>, P7</a:t>
            </a:r>
          </a:p>
          <a:p>
            <a:pPr marL="628650" lvl="1" indent="-171450" fontAlgn="ctr">
              <a:buFont typeface="Arial" panose="020B0604020202020204" pitchFamily="34" charset="0"/>
              <a:buChar char="•"/>
            </a:pPr>
            <a:r>
              <a:rPr lang="en-US" sz="1000" dirty="0" err="1">
                <a:latin typeface="Calibri" panose="020F0502020204030204" pitchFamily="34" charset="0"/>
              </a:rPr>
              <a:t>DDMS</a:t>
            </a:r>
            <a:endParaRPr lang="en-US" sz="1000" dirty="0">
              <a:latin typeface="Calibri" panose="020F0502020204030204" pitchFamily="34" charset="0"/>
            </a:endParaRPr>
          </a:p>
          <a:p>
            <a:pPr marL="1085850" lvl="2" indent="-171450" fontAlgn="ctr">
              <a:buFont typeface="Arial" panose="020B0604020202020204" pitchFamily="34" charset="0"/>
              <a:buChar char="•"/>
            </a:pPr>
            <a:r>
              <a:rPr lang="en-US" sz="1000" dirty="0">
                <a:latin typeface="Calibri" panose="020F0502020204030204" pitchFamily="34" charset="0"/>
              </a:rPr>
              <a:t>WBDDMS</a:t>
            </a:r>
          </a:p>
          <a:p>
            <a:pPr marL="1085850" lvl="2" indent="-171450" fontAlgn="ctr">
              <a:buFont typeface="Arial" panose="020B0604020202020204" pitchFamily="34" charset="0"/>
              <a:buChar char="•"/>
            </a:pPr>
            <a:r>
              <a:rPr lang="en-US" sz="1000" dirty="0">
                <a:solidFill>
                  <a:schemeClr val="accent3"/>
                </a:solidFill>
                <a:latin typeface="Calibri" panose="020F0502020204030204" pitchFamily="34" charset="0"/>
              </a:rPr>
              <a:t>RDDMS</a:t>
            </a:r>
          </a:p>
          <a:p>
            <a:pPr marL="171450" indent="-171450" fontAlgn="ctr">
              <a:buFont typeface="Arial" panose="020B0604020202020204" pitchFamily="34" charset="0"/>
              <a:buChar char="•"/>
            </a:pPr>
            <a:r>
              <a:rPr lang="en-US" sz="1000" dirty="0">
                <a:latin typeface="Calibri" panose="020F0502020204030204" pitchFamily="34" charset="0"/>
              </a:rPr>
              <a:t>Well Logs (incl. Seismic to well ties)</a:t>
            </a:r>
          </a:p>
          <a:p>
            <a:pPr marL="628650" lvl="1" indent="-171450" fontAlgn="ctr">
              <a:buFont typeface="Arial" panose="020B0604020202020204" pitchFamily="34" charset="0"/>
              <a:buChar char="•"/>
            </a:pPr>
            <a:r>
              <a:rPr lang="en-US" sz="1000" dirty="0">
                <a:latin typeface="Calibri" panose="020F0502020204030204" pitchFamily="34" charset="0"/>
              </a:rPr>
              <a:t>File/dataset</a:t>
            </a:r>
          </a:p>
          <a:p>
            <a:pPr marL="1085850" lvl="2" indent="-171450" fontAlgn="ctr">
              <a:buFont typeface="Arial" panose="020B0604020202020204" pitchFamily="34" charset="0"/>
              <a:buChar char="•"/>
            </a:pPr>
            <a:r>
              <a:rPr lang="en-US" sz="1000" dirty="0">
                <a:latin typeface="Calibri" panose="020F0502020204030204" pitchFamily="34" charset="0"/>
              </a:rPr>
              <a:t>LAS, </a:t>
            </a:r>
            <a:r>
              <a:rPr lang="en-US" sz="1000" dirty="0" err="1">
                <a:latin typeface="Calibri" panose="020F0502020204030204" pitchFamily="34" charset="0"/>
              </a:rPr>
              <a:t>DLIS</a:t>
            </a:r>
            <a:r>
              <a:rPr lang="en-US" sz="1000" dirty="0">
                <a:latin typeface="Calibri" panose="020F0502020204030204" pitchFamily="34" charset="0"/>
              </a:rPr>
              <a:t>, </a:t>
            </a:r>
            <a:r>
              <a:rPr lang="en-US" sz="1000" dirty="0" err="1">
                <a:latin typeface="Calibri" panose="020F0502020204030204" pitchFamily="34" charset="0"/>
              </a:rPr>
              <a:t>WITSML</a:t>
            </a:r>
            <a:r>
              <a:rPr lang="en-US" sz="1000" dirty="0">
                <a:latin typeface="Calibri" panose="020F0502020204030204" pitchFamily="34" charset="0"/>
              </a:rPr>
              <a:t>, JSON</a:t>
            </a:r>
          </a:p>
          <a:p>
            <a:pPr marL="628650" lvl="1" indent="-171450" fontAlgn="ctr">
              <a:buFont typeface="Arial" panose="020B0604020202020204" pitchFamily="34" charset="0"/>
              <a:buChar char="•"/>
            </a:pPr>
            <a:r>
              <a:rPr lang="en-US" sz="1000" dirty="0" err="1">
                <a:latin typeface="Calibri" panose="020F0502020204030204" pitchFamily="34" charset="0"/>
              </a:rPr>
              <a:t>DDMS</a:t>
            </a:r>
            <a:endParaRPr lang="en-US" sz="1000" dirty="0">
              <a:latin typeface="Calibri" panose="020F0502020204030204" pitchFamily="34" charset="0"/>
            </a:endParaRPr>
          </a:p>
          <a:p>
            <a:pPr marL="1085850" lvl="2" indent="-171450" fontAlgn="ctr">
              <a:buFont typeface="Arial" panose="020B0604020202020204" pitchFamily="34" charset="0"/>
              <a:buChar char="•"/>
            </a:pPr>
            <a:r>
              <a:rPr lang="en-US" sz="1000" dirty="0">
                <a:solidFill>
                  <a:schemeClr val="accent3"/>
                </a:solidFill>
                <a:latin typeface="Calibri" panose="020F0502020204030204" pitchFamily="34" charset="0"/>
              </a:rPr>
              <a:t>RDDMS</a:t>
            </a:r>
          </a:p>
          <a:p>
            <a:pPr marL="1085850" lvl="2" indent="-171450" fontAlgn="ctr">
              <a:buFont typeface="Arial" panose="020B0604020202020204" pitchFamily="34" charset="0"/>
              <a:buChar char="•"/>
            </a:pPr>
            <a:r>
              <a:rPr lang="en-US" sz="1000" dirty="0">
                <a:latin typeface="Calibri" panose="020F0502020204030204" pitchFamily="34" charset="0"/>
              </a:rPr>
              <a:t>WBDDMS</a:t>
            </a:r>
          </a:p>
          <a:p>
            <a:pPr marL="171450" indent="-171450" fontAlgn="ctr">
              <a:buFont typeface="Arial" panose="020B0604020202020204" pitchFamily="34" charset="0"/>
              <a:buChar char="•"/>
            </a:pPr>
            <a:r>
              <a:rPr lang="en-US" sz="1000" dirty="0">
                <a:latin typeface="Calibri" panose="020F0502020204030204" pitchFamily="34" charset="0"/>
              </a:rPr>
              <a:t>Wellbore Markers</a:t>
            </a:r>
          </a:p>
          <a:p>
            <a:pPr marL="628650" lvl="1" indent="-171450" fontAlgn="ctr">
              <a:buFont typeface="Arial" panose="020B0604020202020204" pitchFamily="34" charset="0"/>
              <a:buChar char="•"/>
            </a:pPr>
            <a:r>
              <a:rPr lang="en-US" sz="1000" dirty="0">
                <a:latin typeface="Calibri" panose="020F0502020204030204" pitchFamily="34" charset="0"/>
              </a:rPr>
              <a:t>File/dataset</a:t>
            </a:r>
          </a:p>
          <a:p>
            <a:pPr marL="1085850" lvl="2" indent="-171450" fontAlgn="ctr">
              <a:buFont typeface="Arial" panose="020B0604020202020204" pitchFamily="34" charset="0"/>
              <a:buChar char="•"/>
            </a:pPr>
            <a:r>
              <a:rPr lang="en-US" sz="1000" dirty="0">
                <a:latin typeface="Calibri" panose="020F0502020204030204" pitchFamily="34" charset="0"/>
              </a:rPr>
              <a:t>CSV, Excel</a:t>
            </a:r>
          </a:p>
          <a:p>
            <a:pPr marL="628650" lvl="1" indent="-171450" fontAlgn="ctr">
              <a:buFont typeface="Arial" panose="020B0604020202020204" pitchFamily="34" charset="0"/>
              <a:buChar char="•"/>
            </a:pPr>
            <a:r>
              <a:rPr lang="en-US" sz="1000" dirty="0" err="1">
                <a:latin typeface="Calibri" panose="020F0502020204030204" pitchFamily="34" charset="0"/>
              </a:rPr>
              <a:t>DDMS</a:t>
            </a:r>
            <a:endParaRPr lang="en-US" sz="1000" dirty="0">
              <a:latin typeface="Calibri" panose="020F0502020204030204" pitchFamily="34" charset="0"/>
            </a:endParaRPr>
          </a:p>
          <a:p>
            <a:pPr marL="1085850" lvl="2" indent="-171450" fontAlgn="ctr">
              <a:buFont typeface="Arial" panose="020B0604020202020204" pitchFamily="34" charset="0"/>
              <a:buChar char="•"/>
            </a:pPr>
            <a:r>
              <a:rPr lang="en-US" sz="1000" dirty="0">
                <a:latin typeface="Calibri" panose="020F0502020204030204" pitchFamily="34" charset="0"/>
              </a:rPr>
              <a:t>WBDDMS</a:t>
            </a:r>
          </a:p>
          <a:p>
            <a:pPr marL="1085850" lvl="2" indent="-171450" fontAlgn="ctr">
              <a:buFont typeface="Arial" panose="020B0604020202020204" pitchFamily="34" charset="0"/>
              <a:buChar char="•"/>
            </a:pPr>
            <a:r>
              <a:rPr lang="en-US" sz="1000" dirty="0">
                <a:solidFill>
                  <a:schemeClr val="accent3"/>
                </a:solidFill>
                <a:latin typeface="Calibri" panose="020F0502020204030204" pitchFamily="34" charset="0"/>
              </a:rPr>
              <a:t>RDDMS</a:t>
            </a:r>
          </a:p>
          <a:p>
            <a:pPr marL="171450" indent="-171450" fontAlgn="ctr">
              <a:buFont typeface="Arial" panose="020B0604020202020204" pitchFamily="34" charset="0"/>
              <a:buChar char="•"/>
            </a:pPr>
            <a:r>
              <a:rPr lang="en-US" sz="1000" dirty="0">
                <a:latin typeface="Calibri" panose="020F0502020204030204" pitchFamily="34" charset="0"/>
              </a:rPr>
              <a:t>Generic Representation for 2D Polygons, Pointsets</a:t>
            </a:r>
          </a:p>
          <a:p>
            <a:pPr marL="628650" lvl="1" indent="-171450" fontAlgn="ctr">
              <a:buFont typeface="Arial" panose="020B0604020202020204" pitchFamily="34" charset="0"/>
              <a:buChar char="•"/>
            </a:pPr>
            <a:r>
              <a:rPr lang="en-US" sz="1000" dirty="0">
                <a:latin typeface="Calibri" panose="020F0502020204030204" pitchFamily="34" charset="0"/>
              </a:rPr>
              <a:t>File/dataset</a:t>
            </a:r>
          </a:p>
          <a:p>
            <a:pPr marL="1085850" lvl="2" indent="-171450" fontAlgn="ctr">
              <a:buFont typeface="Arial" panose="020B0604020202020204" pitchFamily="34" charset="0"/>
              <a:buChar char="•"/>
            </a:pPr>
            <a:r>
              <a:rPr lang="en-US" sz="1000" dirty="0">
                <a:latin typeface="Calibri" panose="020F0502020204030204" pitchFamily="34" charset="0"/>
              </a:rPr>
              <a:t>SHP, </a:t>
            </a:r>
            <a:r>
              <a:rPr lang="en-US" sz="1000" dirty="0" err="1">
                <a:latin typeface="Calibri" panose="020F0502020204030204" pitchFamily="34" charset="0"/>
              </a:rPr>
              <a:t>RESQML</a:t>
            </a:r>
            <a:r>
              <a:rPr lang="en-US" sz="1000" dirty="0">
                <a:latin typeface="Calibri" panose="020F0502020204030204" pitchFamily="34" charset="0"/>
              </a:rPr>
              <a:t>, etc.</a:t>
            </a:r>
          </a:p>
          <a:p>
            <a:pPr marL="628650" lvl="1" indent="-171450" fontAlgn="ctr">
              <a:buFont typeface="Arial" panose="020B0604020202020204" pitchFamily="34" charset="0"/>
              <a:buChar char="•"/>
            </a:pPr>
            <a:r>
              <a:rPr lang="en-US" sz="1000" dirty="0" err="1">
                <a:latin typeface="Calibri" panose="020F0502020204030204" pitchFamily="34" charset="0"/>
              </a:rPr>
              <a:t>DDMS</a:t>
            </a:r>
            <a:endParaRPr lang="en-US" sz="1000" dirty="0">
              <a:latin typeface="Calibri" panose="020F0502020204030204" pitchFamily="34" charset="0"/>
            </a:endParaRPr>
          </a:p>
          <a:p>
            <a:pPr marL="1085850" lvl="2" indent="-171450" fontAlgn="ctr">
              <a:buFont typeface="Arial" panose="020B0604020202020204" pitchFamily="34" charset="0"/>
              <a:buChar char="•"/>
            </a:pPr>
            <a:r>
              <a:rPr lang="en-US" sz="1000" dirty="0">
                <a:solidFill>
                  <a:schemeClr val="accent3"/>
                </a:solidFill>
                <a:latin typeface="Calibri" panose="020F0502020204030204" pitchFamily="34" charset="0"/>
              </a:rPr>
              <a:t>RDDMS</a:t>
            </a:r>
            <a:r>
              <a:rPr lang="en-US" sz="1000" dirty="0">
                <a:latin typeface="Calibri" panose="020F0502020204030204" pitchFamily="34" charset="0"/>
              </a:rPr>
              <a:t> </a:t>
            </a:r>
          </a:p>
          <a:p>
            <a:pPr marL="628650" lvl="1" indent="-171450" fontAlgn="ctr">
              <a:buFont typeface="Arial" panose="020B0604020202020204" pitchFamily="34" charset="0"/>
              <a:buChar char="•"/>
            </a:pPr>
            <a:endParaRPr lang="en-US" sz="800" dirty="0"/>
          </a:p>
        </p:txBody>
      </p:sp>
      <p:sp>
        <p:nvSpPr>
          <p:cNvPr id="11" name="TextBox 10">
            <a:extLst>
              <a:ext uri="{FF2B5EF4-FFF2-40B4-BE49-F238E27FC236}">
                <a16:creationId xmlns:a16="http://schemas.microsoft.com/office/drawing/2014/main" id="{FFCBCCAC-4E4D-0B13-FC6D-7A942D0C4ED8}"/>
              </a:ext>
            </a:extLst>
          </p:cNvPr>
          <p:cNvSpPr txBox="1"/>
          <p:nvPr/>
        </p:nvSpPr>
        <p:spPr>
          <a:xfrm>
            <a:off x="609600" y="3390915"/>
            <a:ext cx="4695741" cy="2846933"/>
          </a:xfrm>
          <a:prstGeom prst="rect">
            <a:avLst/>
          </a:prstGeom>
          <a:noFill/>
          <a:ln>
            <a:solidFill>
              <a:schemeClr val="accent1"/>
            </a:solidFill>
          </a:ln>
        </p:spPr>
        <p:txBody>
          <a:bodyPr wrap="square">
            <a:spAutoFit/>
          </a:bodyPr>
          <a:lstStyle/>
          <a:p>
            <a:r>
              <a:rPr lang="en-US" b="1" dirty="0"/>
              <a:t>OSDU </a:t>
            </a:r>
            <a:r>
              <a:rPr lang="en-US" b="1" dirty="0" err="1"/>
              <a:t>WKS</a:t>
            </a:r>
            <a:r>
              <a:rPr lang="en-US" b="1" dirty="0"/>
              <a:t> Data Types Needed (Master &amp; Metadata)</a:t>
            </a:r>
          </a:p>
          <a:p>
            <a:pPr marL="171450" indent="-171450">
              <a:buFont typeface="Arial" panose="020B0604020202020204" pitchFamily="34" charset="0"/>
              <a:buChar char="•"/>
            </a:pPr>
            <a:r>
              <a:rPr lang="en-US" sz="1100" dirty="0">
                <a:effectLst/>
                <a:latin typeface="Calibri" panose="020F0502020204030204" pitchFamily="34" charset="0"/>
              </a:rPr>
              <a:t>Input</a:t>
            </a:r>
          </a:p>
          <a:p>
            <a:pPr marL="628650" lvl="1" indent="-171450">
              <a:buFont typeface="Arial" panose="020B0604020202020204" pitchFamily="34" charset="0"/>
              <a:buChar char="•"/>
            </a:pPr>
            <a:r>
              <a:rPr lang="en-US" sz="1100" dirty="0" err="1">
                <a:effectLst/>
                <a:latin typeface="Calibri" panose="020F0502020204030204" pitchFamily="34" charset="0"/>
              </a:rPr>
              <a:t>SeismicTraceData</a:t>
            </a:r>
            <a:endParaRPr lang="en-US" sz="1100" dirty="0">
              <a:effectLst/>
              <a:latin typeface="Calibri" panose="020F0502020204030204" pitchFamily="34" charset="0"/>
            </a:endParaRPr>
          </a:p>
          <a:p>
            <a:pPr marL="628650" lvl="1" indent="-171450" fontAlgn="ctr">
              <a:buFont typeface="Arial" panose="020B0604020202020204" pitchFamily="34" charset="0"/>
              <a:buChar char="•"/>
            </a:pPr>
            <a:r>
              <a:rPr lang="en-US" sz="1100" dirty="0" err="1">
                <a:solidFill>
                  <a:schemeClr val="accent3"/>
                </a:solidFill>
                <a:effectLst/>
                <a:latin typeface="Calibri" panose="020F0502020204030204" pitchFamily="34" charset="0"/>
              </a:rPr>
              <a:t>SeismicBinGrid</a:t>
            </a:r>
            <a:r>
              <a:rPr lang="en-US" sz="1100" dirty="0">
                <a:solidFill>
                  <a:schemeClr val="accent3"/>
                </a:solidFill>
                <a:effectLst/>
                <a:latin typeface="Calibri" panose="020F0502020204030204" pitchFamily="34" charset="0"/>
              </a:rPr>
              <a:t> (for 3D)</a:t>
            </a:r>
          </a:p>
          <a:p>
            <a:pPr marL="628650" lvl="1" indent="-171450" fontAlgn="ctr">
              <a:buFont typeface="Arial" panose="020B0604020202020204" pitchFamily="34" charset="0"/>
              <a:buChar char="•"/>
            </a:pPr>
            <a:r>
              <a:rPr lang="en-US" sz="1100" dirty="0" err="1">
                <a:solidFill>
                  <a:schemeClr val="accent3"/>
                </a:solidFill>
                <a:effectLst/>
                <a:latin typeface="Calibri" panose="020F0502020204030204" pitchFamily="34" charset="0"/>
              </a:rPr>
              <a:t>SeismicLineGeometry</a:t>
            </a:r>
            <a:r>
              <a:rPr lang="en-US" sz="1100" dirty="0">
                <a:solidFill>
                  <a:schemeClr val="accent3"/>
                </a:solidFill>
                <a:effectLst/>
                <a:latin typeface="Calibri" panose="020F0502020204030204" pitchFamily="34" charset="0"/>
              </a:rPr>
              <a:t> (for 2D)</a:t>
            </a:r>
          </a:p>
          <a:p>
            <a:pPr marL="628650" lvl="1" indent="-171450" fontAlgn="ctr">
              <a:buFont typeface="Arial" panose="020B0604020202020204" pitchFamily="34" charset="0"/>
              <a:buChar char="•"/>
            </a:pPr>
            <a:r>
              <a:rPr lang="en-US" sz="1100" dirty="0">
                <a:solidFill>
                  <a:schemeClr val="accent3"/>
                </a:solidFill>
                <a:latin typeface="Calibri" panose="020F0502020204030204" pitchFamily="34" charset="0"/>
              </a:rPr>
              <a:t>Well Header</a:t>
            </a:r>
          </a:p>
          <a:p>
            <a:pPr marL="628650" lvl="1" indent="-171450" fontAlgn="ctr">
              <a:buFont typeface="Arial" panose="020B0604020202020204" pitchFamily="34" charset="0"/>
              <a:buChar char="•"/>
            </a:pPr>
            <a:r>
              <a:rPr lang="en-US" sz="1100" dirty="0">
                <a:solidFill>
                  <a:schemeClr val="accent3"/>
                </a:solidFill>
                <a:effectLst/>
                <a:latin typeface="Calibri" panose="020F0502020204030204" pitchFamily="34" charset="0"/>
              </a:rPr>
              <a:t>Wellbore Trajectory</a:t>
            </a:r>
          </a:p>
          <a:p>
            <a:pPr marL="628650" lvl="1" indent="-171450" fontAlgn="ctr">
              <a:buFont typeface="Arial" panose="020B0604020202020204" pitchFamily="34" charset="0"/>
              <a:buChar char="•"/>
            </a:pPr>
            <a:r>
              <a:rPr lang="en-US" sz="1100" dirty="0">
                <a:solidFill>
                  <a:schemeClr val="accent3"/>
                </a:solidFill>
                <a:latin typeface="Calibri" panose="020F0502020204030204" pitchFamily="34" charset="0"/>
              </a:rPr>
              <a:t>Well Logs</a:t>
            </a:r>
          </a:p>
          <a:p>
            <a:pPr marL="628650" lvl="1" indent="-171450" fontAlgn="ctr">
              <a:buFont typeface="Arial" panose="020B0604020202020204" pitchFamily="34" charset="0"/>
              <a:buChar char="•"/>
            </a:pPr>
            <a:r>
              <a:rPr lang="en-US" sz="1100" dirty="0">
                <a:solidFill>
                  <a:schemeClr val="accent3"/>
                </a:solidFill>
                <a:effectLst/>
                <a:latin typeface="Calibri" panose="020F0502020204030204" pitchFamily="34" charset="0"/>
              </a:rPr>
              <a:t>Wellbore Markers</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Output</a:t>
            </a:r>
          </a:p>
          <a:p>
            <a:pPr marL="628650" lvl="1" indent="-171450" fontAlgn="ctr">
              <a:buFont typeface="Arial" panose="020B0604020202020204" pitchFamily="34" charset="0"/>
              <a:buChar char="•"/>
            </a:pPr>
            <a:r>
              <a:rPr lang="en-US" sz="1100" dirty="0" err="1">
                <a:solidFill>
                  <a:schemeClr val="accent3"/>
                </a:solidFill>
                <a:latin typeface="Calibri" panose="020F0502020204030204" pitchFamily="34" charset="0"/>
              </a:rPr>
              <a:t>SeismicHorizon</a:t>
            </a:r>
            <a:endParaRPr lang="en-US" sz="1100" dirty="0">
              <a:solidFill>
                <a:schemeClr val="accent3"/>
              </a:solidFill>
              <a:latin typeface="Calibri" panose="020F0502020204030204" pitchFamily="34" charset="0"/>
            </a:endParaRPr>
          </a:p>
          <a:p>
            <a:pPr marL="628650" lvl="1" indent="-171450" fontAlgn="ctr">
              <a:buFont typeface="Arial" panose="020B0604020202020204" pitchFamily="34" charset="0"/>
              <a:buChar char="•"/>
            </a:pPr>
            <a:r>
              <a:rPr lang="en-US" sz="1100" dirty="0" err="1">
                <a:solidFill>
                  <a:schemeClr val="accent3"/>
                </a:solidFill>
                <a:latin typeface="Calibri" panose="020F0502020204030204" pitchFamily="34" charset="0"/>
              </a:rPr>
              <a:t>SeismicFault</a:t>
            </a:r>
            <a:endParaRPr lang="en-US" sz="1100" dirty="0">
              <a:solidFill>
                <a:schemeClr val="accent3"/>
              </a:solidFill>
              <a:latin typeface="Calibri" panose="020F0502020204030204" pitchFamily="34" charset="0"/>
            </a:endParaRPr>
          </a:p>
          <a:p>
            <a:pPr marL="628650" lvl="1" indent="-171450" fontAlgn="ctr">
              <a:buFont typeface="Arial" panose="020B0604020202020204" pitchFamily="34" charset="0"/>
              <a:buChar char="•"/>
            </a:pPr>
            <a:r>
              <a:rPr lang="en-US" sz="1100" dirty="0">
                <a:latin typeface="Calibri" panose="020F0502020204030204" pitchFamily="34" charset="0"/>
              </a:rPr>
              <a:t>Seismic-well-ties  (Well Log)</a:t>
            </a:r>
          </a:p>
          <a:p>
            <a:pPr marL="628650" lvl="1" indent="-171450" fontAlgn="ctr">
              <a:buFont typeface="Arial" panose="020B0604020202020204" pitchFamily="34" charset="0"/>
              <a:buChar char="•"/>
            </a:pPr>
            <a:r>
              <a:rPr lang="en-US" sz="1100" dirty="0">
                <a:solidFill>
                  <a:schemeClr val="accent3"/>
                </a:solidFill>
                <a:effectLst/>
                <a:latin typeface="Calibri" panose="020F0502020204030204" pitchFamily="34" charset="0"/>
              </a:rPr>
              <a:t>2D Polygons, Pointsets (</a:t>
            </a:r>
            <a:r>
              <a:rPr lang="en-US" sz="1100" dirty="0" err="1">
                <a:solidFill>
                  <a:schemeClr val="accent3"/>
                </a:solidFill>
                <a:effectLst/>
                <a:latin typeface="Calibri" panose="020F0502020204030204" pitchFamily="34" charset="0"/>
              </a:rPr>
              <a:t>GenericRepresentation</a:t>
            </a:r>
            <a:r>
              <a:rPr lang="en-US" sz="1100" dirty="0">
                <a:solidFill>
                  <a:schemeClr val="accent3"/>
                </a:solidFill>
                <a:latin typeface="Calibri" panose="020F0502020204030204" pitchFamily="34" charset="0"/>
              </a:rPr>
              <a:t>)</a:t>
            </a:r>
            <a:endParaRPr lang="en-US" sz="1100" dirty="0">
              <a:solidFill>
                <a:schemeClr val="accent3"/>
              </a:solidFill>
              <a:effectLst/>
              <a:latin typeface="Calibri" panose="020F0502020204030204" pitchFamily="34" charset="0"/>
            </a:endParaRPr>
          </a:p>
        </p:txBody>
      </p:sp>
    </p:spTree>
    <p:extLst>
      <p:ext uri="{BB962C8B-B14F-4D97-AF65-F5344CB8AC3E}">
        <p14:creationId xmlns:p14="http://schemas.microsoft.com/office/powerpoint/2010/main" val="748954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1E95-8635-5DCB-A798-67109F3EC2B8}"/>
              </a:ext>
            </a:extLst>
          </p:cNvPr>
          <p:cNvSpPr>
            <a:spLocks noGrp="1"/>
          </p:cNvSpPr>
          <p:nvPr>
            <p:ph type="title"/>
          </p:nvPr>
        </p:nvSpPr>
        <p:spPr>
          <a:xfrm>
            <a:off x="609600" y="172157"/>
            <a:ext cx="10972800" cy="650269"/>
          </a:xfrm>
        </p:spPr>
        <p:txBody>
          <a:bodyPr>
            <a:normAutofit fontScale="90000"/>
          </a:bodyPr>
          <a:lstStyle/>
          <a:p>
            <a:r>
              <a:rPr lang="en-US" dirty="0"/>
              <a:t>Business Capability User Story – Actual (2)</a:t>
            </a:r>
            <a:endParaRPr lang="en-NO" dirty="0"/>
          </a:p>
        </p:txBody>
      </p:sp>
      <p:sp>
        <p:nvSpPr>
          <p:cNvPr id="3" name="Slide Number Placeholder 2">
            <a:extLst>
              <a:ext uri="{FF2B5EF4-FFF2-40B4-BE49-F238E27FC236}">
                <a16:creationId xmlns:a16="http://schemas.microsoft.com/office/drawing/2014/main" id="{41366E43-1663-C6DF-0D8C-343A194DF0B6}"/>
              </a:ext>
            </a:extLst>
          </p:cNvPr>
          <p:cNvSpPr>
            <a:spLocks noGrp="1"/>
          </p:cNvSpPr>
          <p:nvPr>
            <p:ph type="sldNum" sz="quarter" idx="12"/>
          </p:nvPr>
        </p:nvSpPr>
        <p:spPr/>
        <p:txBody>
          <a:bodyPr/>
          <a:lstStyle/>
          <a:p>
            <a:fld id="{4BBDA901-AC44-DA44-B86F-73C28EB4CF87}" type="slidenum">
              <a:rPr lang="en-GB" smtClean="0"/>
              <a:pPr/>
              <a:t>4</a:t>
            </a:fld>
            <a:endParaRPr lang="en-GB"/>
          </a:p>
        </p:txBody>
      </p:sp>
      <p:sp>
        <p:nvSpPr>
          <p:cNvPr id="6" name="TextBox 5">
            <a:extLst>
              <a:ext uri="{FF2B5EF4-FFF2-40B4-BE49-F238E27FC236}">
                <a16:creationId xmlns:a16="http://schemas.microsoft.com/office/drawing/2014/main" id="{FD0D75F5-96D1-9616-191A-87C1A215527E}"/>
              </a:ext>
            </a:extLst>
          </p:cNvPr>
          <p:cNvSpPr txBox="1"/>
          <p:nvPr/>
        </p:nvSpPr>
        <p:spPr>
          <a:xfrm>
            <a:off x="609600" y="2255046"/>
            <a:ext cx="4695741" cy="2908489"/>
          </a:xfrm>
          <a:prstGeom prst="rect">
            <a:avLst/>
          </a:prstGeom>
          <a:noFill/>
        </p:spPr>
        <p:txBody>
          <a:bodyPr wrap="square" rtlCol="0">
            <a:spAutoFit/>
          </a:bodyPr>
          <a:lstStyle/>
          <a:p>
            <a:pPr rtl="0" fontAlgn="ctr">
              <a:spcBef>
                <a:spcPts val="0"/>
              </a:spcBef>
              <a:spcAft>
                <a:spcPts val="0"/>
              </a:spcAft>
            </a:pPr>
            <a:r>
              <a:rPr lang="en-US" b="1" dirty="0">
                <a:effectLst/>
                <a:latin typeface="Calibri" panose="020F0502020204030204" pitchFamily="34" charset="0"/>
              </a:rPr>
              <a:t>Functional Capabilities Needed</a:t>
            </a:r>
            <a:br>
              <a:rPr lang="en-US" dirty="0">
                <a:effectLst/>
                <a:latin typeface="Calibri" panose="020F0502020204030204" pitchFamily="34" charset="0"/>
              </a:rPr>
            </a:br>
            <a:r>
              <a:rPr lang="en-US" sz="1100" dirty="0">
                <a:effectLst/>
                <a:latin typeface="Calibri" panose="020F0502020204030204" pitchFamily="34" charset="0"/>
              </a:rPr>
              <a:t>Seismic</a:t>
            </a:r>
          </a:p>
          <a:p>
            <a:pPr marL="628650" lvl="1" indent="-171450" fontAlgn="ctr">
              <a:buFont typeface="Arial" panose="020B0604020202020204" pitchFamily="34" charset="0"/>
              <a:buChar char="•"/>
            </a:pPr>
            <a:r>
              <a:rPr lang="en-US" sz="1100" dirty="0">
                <a:effectLst/>
                <a:latin typeface="Calibri" panose="020F0502020204030204" pitchFamily="34" charset="0"/>
              </a:rPr>
              <a:t>Allow </a:t>
            </a:r>
            <a:r>
              <a:rPr lang="en-US" sz="1100" b="1" dirty="0">
                <a:effectLst/>
                <a:latin typeface="Calibri" panose="020F0502020204030204" pitchFamily="34" charset="0"/>
              </a:rPr>
              <a:t>access/retrieval </a:t>
            </a:r>
            <a:r>
              <a:rPr lang="en-US" sz="1100" dirty="0">
                <a:effectLst/>
                <a:latin typeface="Calibri" panose="020F0502020204030204" pitchFamily="34" charset="0"/>
              </a:rPr>
              <a:t>only to a set of traces without retrieving the full seismic volume, e.g. a cube that is smaller than the full survey</a:t>
            </a:r>
          </a:p>
          <a:p>
            <a:pPr marL="628650" lvl="1" indent="-171450" fontAlgn="ctr">
              <a:buFont typeface="Arial" panose="020B0604020202020204" pitchFamily="34" charset="0"/>
              <a:buChar char="•"/>
            </a:pPr>
            <a:r>
              <a:rPr lang="en-US" sz="1100" dirty="0">
                <a:effectLst/>
                <a:latin typeface="Calibri" panose="020F0502020204030204" pitchFamily="34" charset="0"/>
              </a:rPr>
              <a:t>Allow </a:t>
            </a:r>
            <a:r>
              <a:rPr lang="en-US" sz="1100" b="1" dirty="0">
                <a:effectLst/>
                <a:latin typeface="Calibri" panose="020F0502020204030204" pitchFamily="34" charset="0"/>
              </a:rPr>
              <a:t>access</a:t>
            </a:r>
            <a:r>
              <a:rPr lang="en-US" sz="1100" dirty="0">
                <a:effectLst/>
                <a:latin typeface="Calibri" panose="020F0502020204030204" pitchFamily="34" charset="0"/>
              </a:rPr>
              <a:t> to data specific to an inline, crossline, arbitrary line, or time slice, without retrieving the full seismic volume</a:t>
            </a:r>
          </a:p>
          <a:p>
            <a:pPr marL="628650" lvl="1" indent="-171450" fontAlgn="ctr">
              <a:buFont typeface="Arial" panose="020B0604020202020204" pitchFamily="34" charset="0"/>
              <a:buChar char="•"/>
            </a:pPr>
            <a:r>
              <a:rPr lang="en-US" sz="1100" dirty="0">
                <a:effectLst/>
                <a:latin typeface="Calibri" panose="020F0502020204030204" pitchFamily="34" charset="0"/>
              </a:rPr>
              <a:t>Allow different </a:t>
            </a:r>
            <a:r>
              <a:rPr lang="en-US" sz="1100" b="1" dirty="0">
                <a:effectLst/>
                <a:latin typeface="Calibri" panose="020F0502020204030204" pitchFamily="34" charset="0"/>
              </a:rPr>
              <a:t>storage tiers </a:t>
            </a:r>
            <a:r>
              <a:rPr lang="en-US" sz="1100" dirty="0">
                <a:effectLst/>
                <a:latin typeface="Calibri" panose="020F0502020204030204" pitchFamily="34" charset="0"/>
              </a:rPr>
              <a:t>due to the storage cost of large seismic volumes; e.g. "cold storage" vs "warm storage"</a:t>
            </a:r>
          </a:p>
          <a:p>
            <a:pPr marL="628650" lvl="1" indent="-171450" fontAlgn="ctr">
              <a:buFont typeface="Arial" panose="020B0604020202020204" pitchFamily="34" charset="0"/>
              <a:buChar char="•"/>
            </a:pPr>
            <a:r>
              <a:rPr lang="en-US" sz="1100" dirty="0">
                <a:effectLst/>
                <a:latin typeface="Calibri" panose="020F0502020204030204" pitchFamily="34" charset="0"/>
              </a:rPr>
              <a:t>Unified API for the Seismic </a:t>
            </a:r>
            <a:r>
              <a:rPr lang="en-US" sz="1100" dirty="0" err="1">
                <a:effectLst/>
                <a:latin typeface="Calibri" panose="020F0502020204030204" pitchFamily="34" charset="0"/>
              </a:rPr>
              <a:t>DDMS</a:t>
            </a:r>
            <a:r>
              <a:rPr lang="en-US" sz="1100" dirty="0">
                <a:effectLst/>
                <a:latin typeface="Calibri" panose="020F0502020204030204" pitchFamily="34" charset="0"/>
              </a:rPr>
              <a:t> - now present in API v.4. - An API that allows create, search, update of the major data types</a:t>
            </a:r>
          </a:p>
          <a:p>
            <a:pPr marL="628650" lvl="1"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NOT only allowing uploading bulk files</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Allow </a:t>
            </a:r>
            <a:r>
              <a:rPr lang="en-US" sz="1100" b="1" dirty="0">
                <a:effectLst/>
                <a:latin typeface="Calibri" panose="020F0502020204030204" pitchFamily="34" charset="0"/>
              </a:rPr>
              <a:t>ingestion</a:t>
            </a:r>
            <a:r>
              <a:rPr lang="en-US" sz="1100" dirty="0">
                <a:effectLst/>
                <a:latin typeface="Calibri" panose="020F0502020204030204" pitchFamily="34" charset="0"/>
              </a:rPr>
              <a:t> of each catalog and content mentioned above</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Allow legal tagging of each catalog and content mentioned above</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Allow capture of data lineage of each catalog and content mentioned above</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Allow a workspace that contains the interpreted data until the data is deemed worthy of publishing and sharing (</a:t>
            </a:r>
            <a:r>
              <a:rPr lang="en-US" sz="1100" dirty="0" err="1">
                <a:effectLst/>
                <a:latin typeface="Calibri" panose="020F0502020204030204" pitchFamily="34" charset="0"/>
              </a:rPr>
              <a:t>P&amp;WS</a:t>
            </a:r>
            <a:r>
              <a:rPr lang="en-US" sz="1100" dirty="0">
                <a:effectLst/>
                <a:latin typeface="Calibri" panose="020F0502020204030204" pitchFamily="34" charset="0"/>
              </a:rPr>
              <a:t> + Technical Assurance)</a:t>
            </a:r>
          </a:p>
        </p:txBody>
      </p:sp>
      <p:sp>
        <p:nvSpPr>
          <p:cNvPr id="9" name="TextBox 8">
            <a:extLst>
              <a:ext uri="{FF2B5EF4-FFF2-40B4-BE49-F238E27FC236}">
                <a16:creationId xmlns:a16="http://schemas.microsoft.com/office/drawing/2014/main" id="{CA6B5B5D-F522-7060-4ED2-AA5E8E65F065}"/>
              </a:ext>
            </a:extLst>
          </p:cNvPr>
          <p:cNvSpPr txBox="1"/>
          <p:nvPr/>
        </p:nvSpPr>
        <p:spPr>
          <a:xfrm>
            <a:off x="6011427" y="955822"/>
            <a:ext cx="5570973" cy="1492716"/>
          </a:xfrm>
          <a:prstGeom prst="rect">
            <a:avLst/>
          </a:prstGeom>
          <a:noFill/>
        </p:spPr>
        <p:txBody>
          <a:bodyPr wrap="square">
            <a:spAutoFit/>
          </a:bodyPr>
          <a:lstStyle/>
          <a:p>
            <a:r>
              <a:rPr lang="en-US" b="1" dirty="0"/>
              <a:t>Non-OSDU Components Likely Needed</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Application adaptors to read/write to OSDU format(s)</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Data ingestion tooling &amp; process</a:t>
            </a:r>
          </a:p>
          <a:p>
            <a:pPr marL="171450" indent="-171450" rtl="0" fontAlgn="ctr">
              <a:spcBef>
                <a:spcPts val="0"/>
              </a:spcBef>
              <a:spcAft>
                <a:spcPts val="0"/>
              </a:spcAft>
              <a:buFont typeface="Arial" panose="020B0604020202020204" pitchFamily="34" charset="0"/>
              <a:buChar char="•"/>
            </a:pPr>
            <a:r>
              <a:rPr lang="en-US" sz="1100" dirty="0">
                <a:latin typeface="Calibri" panose="020F0502020204030204" pitchFamily="34" charset="0"/>
              </a:rPr>
              <a:t>Data mapping/transformation tooling &amp; process</a:t>
            </a: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Data quality/technical assurance tooling &amp; process</a:t>
            </a:r>
          </a:p>
          <a:p>
            <a:endParaRPr lang="en-US" sz="1100" b="1" dirty="0"/>
          </a:p>
          <a:p>
            <a:endParaRPr lang="en-US" b="1" dirty="0"/>
          </a:p>
        </p:txBody>
      </p:sp>
      <p:sp>
        <p:nvSpPr>
          <p:cNvPr id="4" name="TextBox 3">
            <a:extLst>
              <a:ext uri="{FF2B5EF4-FFF2-40B4-BE49-F238E27FC236}">
                <a16:creationId xmlns:a16="http://schemas.microsoft.com/office/drawing/2014/main" id="{8E9351A2-EC3B-30B2-6D2B-2317D9754B67}"/>
              </a:ext>
            </a:extLst>
          </p:cNvPr>
          <p:cNvSpPr txBox="1"/>
          <p:nvPr/>
        </p:nvSpPr>
        <p:spPr>
          <a:xfrm>
            <a:off x="609600" y="5440533"/>
            <a:ext cx="4695741" cy="877163"/>
          </a:xfrm>
          <a:prstGeom prst="rect">
            <a:avLst/>
          </a:prstGeom>
          <a:noFill/>
        </p:spPr>
        <p:txBody>
          <a:bodyPr wrap="square" rtlCol="0">
            <a:spAutoFit/>
          </a:bodyPr>
          <a:lstStyle/>
          <a:p>
            <a:pPr rtl="0" fontAlgn="ctr">
              <a:spcBef>
                <a:spcPts val="0"/>
              </a:spcBef>
              <a:spcAft>
                <a:spcPts val="0"/>
              </a:spcAft>
            </a:pPr>
            <a:r>
              <a:rPr lang="en-US" b="1" dirty="0">
                <a:effectLst/>
                <a:latin typeface="Calibri" panose="020F0502020204030204" pitchFamily="34" charset="0"/>
              </a:rPr>
              <a:t>Non-Functional Requirements </a:t>
            </a:r>
            <a:endParaRPr lang="en-US" dirty="0">
              <a:effectLst/>
              <a:latin typeface="Calibri" panose="020F0502020204030204" pitchFamily="34" charset="0"/>
            </a:endParaRPr>
          </a:p>
          <a:p>
            <a:pPr marL="171450" indent="-171450"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Performance, Security, Usability, Reliability, Scalability, Compliance, Documentation, and Privacy</a:t>
            </a:r>
          </a:p>
          <a:p>
            <a:pPr marL="171450" indent="-171450" rtl="0" fontAlgn="ctr">
              <a:spcBef>
                <a:spcPts val="0"/>
              </a:spcBef>
              <a:spcAft>
                <a:spcPts val="0"/>
              </a:spcAft>
              <a:buFont typeface="Arial" panose="020B0604020202020204" pitchFamily="34" charset="0"/>
              <a:buChar char="•"/>
            </a:pPr>
            <a:r>
              <a:rPr lang="en-US" sz="1100" dirty="0">
                <a:latin typeface="Calibri" panose="020F0502020204030204" pitchFamily="34" charset="0"/>
              </a:rPr>
              <a:t>Specifics TBD for each</a:t>
            </a:r>
            <a:endParaRPr lang="en-US" sz="1100" dirty="0">
              <a:effectLst/>
              <a:latin typeface="Calibri" panose="020F0502020204030204" pitchFamily="34" charset="0"/>
            </a:endParaRPr>
          </a:p>
        </p:txBody>
      </p:sp>
      <p:sp>
        <p:nvSpPr>
          <p:cNvPr id="8" name="TextBox 7">
            <a:extLst>
              <a:ext uri="{FF2B5EF4-FFF2-40B4-BE49-F238E27FC236}">
                <a16:creationId xmlns:a16="http://schemas.microsoft.com/office/drawing/2014/main" id="{BE30B005-4348-2068-1593-2EB9988AF7A2}"/>
              </a:ext>
            </a:extLst>
          </p:cNvPr>
          <p:cNvSpPr txBox="1"/>
          <p:nvPr/>
        </p:nvSpPr>
        <p:spPr>
          <a:xfrm>
            <a:off x="609600" y="955822"/>
            <a:ext cx="4695741" cy="1215717"/>
          </a:xfrm>
          <a:prstGeom prst="rect">
            <a:avLst/>
          </a:prstGeom>
          <a:noFill/>
        </p:spPr>
        <p:txBody>
          <a:bodyPr wrap="square">
            <a:spAutoFit/>
          </a:bodyPr>
          <a:lstStyle/>
          <a:p>
            <a:r>
              <a:rPr lang="en-US" b="1" dirty="0"/>
              <a:t>OSDU Microservices Needed </a:t>
            </a:r>
          </a:p>
          <a:p>
            <a:r>
              <a:rPr lang="en-US" sz="1100" b="1" dirty="0"/>
              <a:t>(needs to be mapped to Functional &amp; Non-Functional, Data Types/content)</a:t>
            </a:r>
          </a:p>
          <a:p>
            <a:pPr marL="171450" indent="-171450">
              <a:buFont typeface="Arial" panose="020B0604020202020204" pitchFamily="34" charset="0"/>
              <a:buChar char="•"/>
            </a:pPr>
            <a:r>
              <a:rPr lang="en-US" sz="1100" dirty="0"/>
              <a:t>Core Services – many</a:t>
            </a:r>
          </a:p>
          <a:p>
            <a:pPr marL="171450" indent="-171450">
              <a:buFont typeface="Arial" panose="020B0604020202020204" pitchFamily="34" charset="0"/>
              <a:buChar char="•"/>
            </a:pPr>
            <a:r>
              <a:rPr lang="en-US" sz="1100" dirty="0"/>
              <a:t>Reservoir DDMS</a:t>
            </a:r>
          </a:p>
          <a:p>
            <a:pPr marL="171450" indent="-171450">
              <a:buFont typeface="Arial" panose="020B0604020202020204" pitchFamily="34" charset="0"/>
              <a:buChar char="•"/>
            </a:pPr>
            <a:r>
              <a:rPr lang="en-US" sz="1100" dirty="0"/>
              <a:t>Wellbore </a:t>
            </a:r>
            <a:r>
              <a:rPr lang="en-US" sz="1100" dirty="0" err="1"/>
              <a:t>DDMS</a:t>
            </a:r>
            <a:endParaRPr lang="en-US" sz="1100" dirty="0"/>
          </a:p>
          <a:p>
            <a:pPr marL="171450" indent="-171450">
              <a:buFont typeface="Arial" panose="020B0604020202020204" pitchFamily="34" charset="0"/>
              <a:buChar char="•"/>
            </a:pPr>
            <a:r>
              <a:rPr lang="en-US" sz="1100" dirty="0"/>
              <a:t>Seismic </a:t>
            </a:r>
            <a:r>
              <a:rPr lang="en-US" sz="1100" dirty="0" err="1"/>
              <a:t>DDMS</a:t>
            </a:r>
            <a:endParaRPr lang="en-US" sz="1100" dirty="0"/>
          </a:p>
        </p:txBody>
      </p:sp>
      <p:sp>
        <p:nvSpPr>
          <p:cNvPr id="12" name="Rectangle: Rounded Corners 11">
            <a:extLst>
              <a:ext uri="{FF2B5EF4-FFF2-40B4-BE49-F238E27FC236}">
                <a16:creationId xmlns:a16="http://schemas.microsoft.com/office/drawing/2014/main" id="{F9278C56-79E4-3BAA-261F-8035D15B0BB1}"/>
              </a:ext>
            </a:extLst>
          </p:cNvPr>
          <p:cNvSpPr/>
          <p:nvPr/>
        </p:nvSpPr>
        <p:spPr>
          <a:xfrm rot="21255220">
            <a:off x="6964661" y="2948375"/>
            <a:ext cx="4612313" cy="3141304"/>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r>
              <a:rPr lang="en-US" i="1" dirty="0"/>
              <a:t>Benefits: Reviewing these 2 slides for questions &amp; gaps will identify…</a:t>
            </a:r>
          </a:p>
          <a:p>
            <a:pPr marL="285750" indent="-285750">
              <a:buFont typeface="Arial" panose="020B0604020202020204" pitchFamily="34" charset="0"/>
              <a:buChar char="•"/>
            </a:pPr>
            <a:r>
              <a:rPr lang="en-US" i="1" dirty="0"/>
              <a:t>Components of OSDU that are (thought to be) ready</a:t>
            </a:r>
          </a:p>
          <a:p>
            <a:pPr marL="285750" indent="-285750">
              <a:buFont typeface="Arial" panose="020B0604020202020204" pitchFamily="34" charset="0"/>
              <a:buChar char="•"/>
            </a:pPr>
            <a:r>
              <a:rPr lang="en-US" i="1" dirty="0"/>
              <a:t>Additional detail backlog/work tasks needed, in each category, which we then create and track…</a:t>
            </a:r>
          </a:p>
          <a:p>
            <a:pPr marL="742950" lvl="1" indent="-285750">
              <a:buFont typeface="Arial" panose="020B0604020202020204" pitchFamily="34" charset="0"/>
              <a:buChar char="•"/>
            </a:pPr>
            <a:r>
              <a:rPr lang="en-US" i="1" dirty="0"/>
              <a:t>In OSDU</a:t>
            </a:r>
          </a:p>
          <a:p>
            <a:pPr marL="742950" lvl="1" indent="-285750">
              <a:buFont typeface="Arial" panose="020B0604020202020204" pitchFamily="34" charset="0"/>
              <a:buChar char="•"/>
            </a:pPr>
            <a:r>
              <a:rPr lang="en-US" i="1" dirty="0"/>
              <a:t>Outside OSDU</a:t>
            </a:r>
          </a:p>
        </p:txBody>
      </p:sp>
    </p:spTree>
    <p:extLst>
      <p:ext uri="{BB962C8B-B14F-4D97-AF65-F5344CB8AC3E}">
        <p14:creationId xmlns:p14="http://schemas.microsoft.com/office/powerpoint/2010/main" val="2360213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EA1E5-1700-662D-B3E1-9A1142606CB9}"/>
              </a:ext>
            </a:extLst>
          </p:cNvPr>
          <p:cNvSpPr>
            <a:spLocks noGrp="1"/>
          </p:cNvSpPr>
          <p:nvPr>
            <p:ph type="title"/>
          </p:nvPr>
        </p:nvSpPr>
        <p:spPr>
          <a:xfrm>
            <a:off x="586739" y="148107"/>
            <a:ext cx="11018520" cy="553998"/>
          </a:xfrm>
        </p:spPr>
        <p:txBody>
          <a:bodyPr>
            <a:normAutofit fontScale="90000"/>
          </a:bodyPr>
          <a:lstStyle/>
          <a:p>
            <a:r>
              <a:rPr lang="en-GB"/>
              <a:t>Reservoir DDMS Solution</a:t>
            </a:r>
          </a:p>
        </p:txBody>
      </p:sp>
      <p:grpSp>
        <p:nvGrpSpPr>
          <p:cNvPr id="4" name="Group 3">
            <a:extLst>
              <a:ext uri="{FF2B5EF4-FFF2-40B4-BE49-F238E27FC236}">
                <a16:creationId xmlns:a16="http://schemas.microsoft.com/office/drawing/2014/main" id="{4CBAD39E-972F-D03D-BFA1-CD8A0335284A}"/>
              </a:ext>
            </a:extLst>
          </p:cNvPr>
          <p:cNvGrpSpPr/>
          <p:nvPr/>
        </p:nvGrpSpPr>
        <p:grpSpPr>
          <a:xfrm>
            <a:off x="1632825" y="1848906"/>
            <a:ext cx="8879456" cy="3467120"/>
            <a:chOff x="1632825" y="1848906"/>
            <a:chExt cx="8879456" cy="3467120"/>
          </a:xfrm>
        </p:grpSpPr>
        <p:pic>
          <p:nvPicPr>
            <p:cNvPr id="12" name="Picture 11">
              <a:extLst>
                <a:ext uri="{FF2B5EF4-FFF2-40B4-BE49-F238E27FC236}">
                  <a16:creationId xmlns:a16="http://schemas.microsoft.com/office/drawing/2014/main" id="{65EE3115-823B-CF3D-973F-6B2B655AA595}"/>
                </a:ext>
              </a:extLst>
            </p:cNvPr>
            <p:cNvPicPr>
              <a:picLocks noChangeAspect="1"/>
            </p:cNvPicPr>
            <p:nvPr/>
          </p:nvPicPr>
          <p:blipFill>
            <a:blip r:embed="rId3"/>
            <a:stretch>
              <a:fillRect/>
            </a:stretch>
          </p:blipFill>
          <p:spPr>
            <a:xfrm>
              <a:off x="1632825" y="1848906"/>
              <a:ext cx="8879456" cy="3467120"/>
            </a:xfrm>
            <a:prstGeom prst="rect">
              <a:avLst/>
            </a:prstGeom>
          </p:spPr>
        </p:pic>
        <p:sp>
          <p:nvSpPr>
            <p:cNvPr id="3" name="TextBox 2">
              <a:extLst>
                <a:ext uri="{FF2B5EF4-FFF2-40B4-BE49-F238E27FC236}">
                  <a16:creationId xmlns:a16="http://schemas.microsoft.com/office/drawing/2014/main" id="{547A0345-88D5-B07C-D5A3-7A661D8D9A2E}"/>
                </a:ext>
              </a:extLst>
            </p:cNvPr>
            <p:cNvSpPr txBox="1"/>
            <p:nvPr/>
          </p:nvSpPr>
          <p:spPr>
            <a:xfrm>
              <a:off x="8878276" y="3400866"/>
              <a:ext cx="1078523" cy="261610"/>
            </a:xfrm>
            <a:prstGeom prst="rect">
              <a:avLst/>
            </a:prstGeom>
            <a:solidFill>
              <a:schemeClr val="bg1">
                <a:lumMod val="95000"/>
              </a:schemeClr>
            </a:solidFill>
          </p:spPr>
          <p:txBody>
            <a:bodyPr wrap="square" rtlCol="0">
              <a:spAutoFit/>
            </a:bodyPr>
            <a:lstStyle/>
            <a:p>
              <a:r>
                <a:rPr lang="nb-NO" sz="1100" dirty="0">
                  <a:solidFill>
                    <a:schemeClr val="accent2">
                      <a:lumMod val="75000"/>
                    </a:schemeClr>
                  </a:solidFill>
                </a:rPr>
                <a:t>RDDMS </a:t>
              </a:r>
              <a:r>
                <a:rPr lang="nb-NO" sz="1100" dirty="0" err="1">
                  <a:solidFill>
                    <a:schemeClr val="accent2">
                      <a:lumMod val="75000"/>
                    </a:schemeClr>
                  </a:solidFill>
                </a:rPr>
                <a:t>API’s</a:t>
              </a:r>
              <a:endParaRPr lang="nb-NO" sz="1100" dirty="0">
                <a:solidFill>
                  <a:schemeClr val="accent2">
                    <a:lumMod val="75000"/>
                  </a:schemeClr>
                </a:solidFill>
              </a:endParaRPr>
            </a:p>
          </p:txBody>
        </p:sp>
      </p:grpSp>
    </p:spTree>
    <p:extLst>
      <p:ext uri="{BB962C8B-B14F-4D97-AF65-F5344CB8AC3E}">
        <p14:creationId xmlns:p14="http://schemas.microsoft.com/office/powerpoint/2010/main" val="444830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004">
            <a:extLst>
              <a:ext uri="{FF2B5EF4-FFF2-40B4-BE49-F238E27FC236}">
                <a16:creationId xmlns:a16="http://schemas.microsoft.com/office/drawing/2014/main" id="{CEE202C2-EBDE-473D-864F-561CAEF140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415"/>
          <a:stretch/>
        </p:blipFill>
        <p:spPr bwMode="auto">
          <a:xfrm>
            <a:off x="207783" y="1542444"/>
            <a:ext cx="7915275" cy="408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FF5969A0-805D-4B17-8E39-C63A8FE6CBCB}"/>
              </a:ext>
            </a:extLst>
          </p:cNvPr>
          <p:cNvPicPr>
            <a:picLocks noChangeAspect="1"/>
          </p:cNvPicPr>
          <p:nvPr/>
        </p:nvPicPr>
        <p:blipFill rotWithShape="1">
          <a:blip r:embed="rId3"/>
          <a:srcRect r="57836" b="34991"/>
          <a:stretch/>
        </p:blipFill>
        <p:spPr>
          <a:xfrm>
            <a:off x="5595041" y="1986755"/>
            <a:ext cx="4557739" cy="332475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 name="TextBox 4">
            <a:extLst>
              <a:ext uri="{FF2B5EF4-FFF2-40B4-BE49-F238E27FC236}">
                <a16:creationId xmlns:a16="http://schemas.microsoft.com/office/drawing/2014/main" id="{2EA6478D-9090-490C-BCE2-BD1A93B38B7C}"/>
              </a:ext>
            </a:extLst>
          </p:cNvPr>
          <p:cNvSpPr txBox="1"/>
          <p:nvPr/>
        </p:nvSpPr>
        <p:spPr>
          <a:xfrm>
            <a:off x="9635069" y="3462868"/>
            <a:ext cx="2531532" cy="830997"/>
          </a:xfrm>
          <a:prstGeom prst="rect">
            <a:avLst/>
          </a:prstGeom>
          <a:solidFill>
            <a:schemeClr val="bg1"/>
          </a:solidFill>
        </p:spPr>
        <p:txBody>
          <a:bodyPr wrap="square" rtlCol="0">
            <a:spAutoFit/>
          </a:bodyPr>
          <a:lstStyle/>
          <a:p>
            <a:r>
              <a:rPr lang="en-US" sz="1200" b="1" dirty="0"/>
              <a:t>Horizon (Map)</a:t>
            </a:r>
          </a:p>
          <a:p>
            <a:r>
              <a:rPr lang="en-US" sz="1200" b="1" dirty="0"/>
              <a:t>Horizon (Pick)</a:t>
            </a:r>
          </a:p>
          <a:p>
            <a:r>
              <a:rPr lang="en-US" sz="1200" b="1" dirty="0"/>
              <a:t>Horizon Interpretation (C1Dolo)</a:t>
            </a:r>
          </a:p>
          <a:p>
            <a:endParaRPr lang="en-US" sz="1200" b="1" dirty="0"/>
          </a:p>
        </p:txBody>
      </p:sp>
      <p:sp>
        <p:nvSpPr>
          <p:cNvPr id="8" name="TextBox 7">
            <a:extLst>
              <a:ext uri="{FF2B5EF4-FFF2-40B4-BE49-F238E27FC236}">
                <a16:creationId xmlns:a16="http://schemas.microsoft.com/office/drawing/2014/main" id="{6FAFBBEF-C8C1-4483-B018-B814D1FAE8D3}"/>
              </a:ext>
            </a:extLst>
          </p:cNvPr>
          <p:cNvSpPr txBox="1"/>
          <p:nvPr/>
        </p:nvSpPr>
        <p:spPr>
          <a:xfrm>
            <a:off x="9660468" y="4480516"/>
            <a:ext cx="2531532" cy="830997"/>
          </a:xfrm>
          <a:prstGeom prst="rect">
            <a:avLst/>
          </a:prstGeom>
          <a:solidFill>
            <a:schemeClr val="bg1"/>
          </a:solidFill>
        </p:spPr>
        <p:txBody>
          <a:bodyPr wrap="square" rtlCol="0">
            <a:spAutoFit/>
          </a:bodyPr>
          <a:lstStyle/>
          <a:p>
            <a:r>
              <a:rPr lang="en-US" sz="1200" b="1" dirty="0"/>
              <a:t>CRS Depth</a:t>
            </a:r>
          </a:p>
          <a:p>
            <a:r>
              <a:rPr lang="en-US" sz="1200" b="1" dirty="0"/>
              <a:t>CRS Time</a:t>
            </a:r>
          </a:p>
          <a:p>
            <a:r>
              <a:rPr lang="en-US" sz="1200" b="1" dirty="0"/>
              <a:t>Seismic survey</a:t>
            </a:r>
          </a:p>
          <a:p>
            <a:endParaRPr lang="en-US" sz="1200" b="1" dirty="0"/>
          </a:p>
        </p:txBody>
      </p:sp>
      <p:sp>
        <p:nvSpPr>
          <p:cNvPr id="9" name="Title 8">
            <a:extLst>
              <a:ext uri="{FF2B5EF4-FFF2-40B4-BE49-F238E27FC236}">
                <a16:creationId xmlns:a16="http://schemas.microsoft.com/office/drawing/2014/main" id="{ADEFF37D-ED47-4BC3-8890-F06A20AEC0E5}"/>
              </a:ext>
            </a:extLst>
          </p:cNvPr>
          <p:cNvSpPr>
            <a:spLocks noGrp="1"/>
          </p:cNvSpPr>
          <p:nvPr>
            <p:ph type="title"/>
          </p:nvPr>
        </p:nvSpPr>
        <p:spPr/>
        <p:txBody>
          <a:bodyPr/>
          <a:lstStyle/>
          <a:p>
            <a:r>
              <a:rPr lang="en-US" dirty="0"/>
              <a:t>Example of seismic horizon </a:t>
            </a:r>
          </a:p>
        </p:txBody>
      </p:sp>
    </p:spTree>
    <p:extLst>
      <p:ext uri="{BB962C8B-B14F-4D97-AF65-F5344CB8AC3E}">
        <p14:creationId xmlns:p14="http://schemas.microsoft.com/office/powerpoint/2010/main" val="3077235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65CD60-BEB7-4349-ADC9-0195A55988BA}"/>
              </a:ext>
            </a:extLst>
          </p:cNvPr>
          <p:cNvSpPr>
            <a:spLocks noGrp="1"/>
          </p:cNvSpPr>
          <p:nvPr>
            <p:ph type="title"/>
          </p:nvPr>
        </p:nvSpPr>
        <p:spPr/>
        <p:txBody>
          <a:bodyPr>
            <a:normAutofit/>
          </a:bodyPr>
          <a:lstStyle/>
          <a:p>
            <a:r>
              <a:rPr lang="en-US" sz="2400" dirty="0" err="1"/>
              <a:t>SeismicHorizon</a:t>
            </a:r>
            <a:r>
              <a:rPr lang="en-US" sz="2400" dirty="0"/>
              <a:t> components - definitions</a:t>
            </a:r>
          </a:p>
        </p:txBody>
      </p:sp>
      <p:sp>
        <p:nvSpPr>
          <p:cNvPr id="7" name="Content Placeholder 6">
            <a:extLst>
              <a:ext uri="{FF2B5EF4-FFF2-40B4-BE49-F238E27FC236}">
                <a16:creationId xmlns:a16="http://schemas.microsoft.com/office/drawing/2014/main" id="{B551BD82-9855-4461-ABDD-F8DE4C70C57B}"/>
              </a:ext>
            </a:extLst>
          </p:cNvPr>
          <p:cNvSpPr>
            <a:spLocks noGrp="1"/>
          </p:cNvSpPr>
          <p:nvPr>
            <p:ph sz="half" idx="2"/>
          </p:nvPr>
        </p:nvSpPr>
        <p:spPr>
          <a:xfrm>
            <a:off x="609600" y="1674173"/>
            <a:ext cx="5384800" cy="4525963"/>
          </a:xfrm>
        </p:spPr>
        <p:txBody>
          <a:bodyPr>
            <a:normAutofit fontScale="92500"/>
          </a:bodyPr>
          <a:lstStyle/>
          <a:p>
            <a:r>
              <a:rPr lang="en-US" sz="1400" b="1" dirty="0" err="1">
                <a:solidFill>
                  <a:schemeClr val="tx1"/>
                </a:solidFill>
              </a:rPr>
              <a:t>SeismicBinGrid</a:t>
            </a:r>
            <a:r>
              <a:rPr lang="en-US" sz="1400" dirty="0">
                <a:solidFill>
                  <a:schemeClr val="tx1"/>
                </a:solidFill>
              </a:rPr>
              <a:t>: "A representation of the surface positions for each subsurface node in a set of processed trace data work product components with common positions.  Different sampling (spacing) and extents (ranges) in the trace data may be handled by the same bin grid."</a:t>
            </a:r>
          </a:p>
          <a:p>
            <a:r>
              <a:rPr lang="en-US" sz="1400" b="1" dirty="0">
                <a:solidFill>
                  <a:schemeClr val="tx1"/>
                </a:solidFill>
              </a:rPr>
              <a:t>Seismic2DInterpretatationProject</a:t>
            </a:r>
            <a:r>
              <a:rPr lang="en-US" sz="1400" dirty="0">
                <a:solidFill>
                  <a:schemeClr val="tx1"/>
                </a:solidFill>
              </a:rPr>
              <a:t>: "A collection of logical processed lines and trace datasets that represent an important and uniform set for interpretation.  (…) Interpretation objects (horizons) are hung from an interpretation project to give context and to interpret spatial location.“</a:t>
            </a:r>
          </a:p>
          <a:p>
            <a:r>
              <a:rPr lang="en-US" sz="1400" b="1" dirty="0">
                <a:solidFill>
                  <a:schemeClr val="tx1"/>
                </a:solidFill>
              </a:rPr>
              <a:t>Seismic3DInterpretationProject: </a:t>
            </a:r>
            <a:r>
              <a:rPr lang="en-US" sz="1400" dirty="0">
                <a:solidFill>
                  <a:schemeClr val="tx1"/>
                </a:solidFill>
              </a:rPr>
              <a:t>"A collection of trace datasets with a </a:t>
            </a:r>
            <a:r>
              <a:rPr lang="en-US" sz="1400" b="1" dirty="0">
                <a:solidFill>
                  <a:schemeClr val="tx1"/>
                </a:solidFill>
              </a:rPr>
              <a:t>common bin grid</a:t>
            </a:r>
            <a:r>
              <a:rPr lang="en-US" sz="1400" dirty="0">
                <a:solidFill>
                  <a:schemeClr val="tx1"/>
                </a:solidFill>
              </a:rPr>
              <a:t> that are important for interpretation. (…) Interpretation objects (horizons) are hung from an interpretation project to give context and to interpret spatial location.“</a:t>
            </a:r>
          </a:p>
          <a:p>
            <a:r>
              <a:rPr lang="en-US" sz="1400" b="1" dirty="0" err="1">
                <a:solidFill>
                  <a:schemeClr val="tx1"/>
                </a:solidFill>
              </a:rPr>
              <a:t>SeismicHorizon</a:t>
            </a:r>
            <a:r>
              <a:rPr lang="en-US" sz="1400" dirty="0">
                <a:solidFill>
                  <a:schemeClr val="tx1"/>
                </a:solidFill>
              </a:rPr>
              <a:t>: “A set of picks related to seismic processing geometry which define a surface.  The geometry used is referenced by the Interpretation Project.“</a:t>
            </a:r>
          </a:p>
          <a:p>
            <a:endParaRPr lang="en-US" sz="1400" dirty="0"/>
          </a:p>
        </p:txBody>
      </p:sp>
      <p:sp>
        <p:nvSpPr>
          <p:cNvPr id="4" name="Slide Number Placeholder 3">
            <a:extLst>
              <a:ext uri="{FF2B5EF4-FFF2-40B4-BE49-F238E27FC236}">
                <a16:creationId xmlns:a16="http://schemas.microsoft.com/office/drawing/2014/main" id="{B0040AEA-7205-4D5F-9854-071BBFC7854C}"/>
              </a:ext>
            </a:extLst>
          </p:cNvPr>
          <p:cNvSpPr>
            <a:spLocks noGrp="1"/>
          </p:cNvSpPr>
          <p:nvPr>
            <p:ph type="sldNum" sz="quarter" idx="12"/>
          </p:nvPr>
        </p:nvSpPr>
        <p:spPr/>
        <p:txBody>
          <a:bodyPr/>
          <a:lstStyle/>
          <a:p>
            <a:fld id="{4BBDA901-AC44-DA44-B86F-73C28EB4CF87}" type="slidenum">
              <a:rPr lang="en-GB" smtClean="0"/>
              <a:pPr/>
              <a:t>7</a:t>
            </a:fld>
            <a:endParaRPr lang="en-GB" dirty="0"/>
          </a:p>
        </p:txBody>
      </p:sp>
      <p:sp>
        <p:nvSpPr>
          <p:cNvPr id="16" name="Content Placeholder 5">
            <a:extLst>
              <a:ext uri="{FF2B5EF4-FFF2-40B4-BE49-F238E27FC236}">
                <a16:creationId xmlns:a16="http://schemas.microsoft.com/office/drawing/2014/main" id="{F31BEFE5-B793-46EE-85B5-5D07791895FC}"/>
              </a:ext>
            </a:extLst>
          </p:cNvPr>
          <p:cNvSpPr>
            <a:spLocks noGrp="1"/>
          </p:cNvSpPr>
          <p:nvPr>
            <p:ph sz="half" idx="1"/>
          </p:nvPr>
        </p:nvSpPr>
        <p:spPr>
          <a:xfrm>
            <a:off x="6096000" y="1674173"/>
            <a:ext cx="5384800" cy="4525963"/>
          </a:xfrm>
        </p:spPr>
        <p:txBody>
          <a:bodyPr vert="horz" lIns="91440" tIns="45720" rIns="91440" bIns="45720" rtlCol="0">
            <a:normAutofit fontScale="92500"/>
          </a:bodyPr>
          <a:lstStyle/>
          <a:p>
            <a:r>
              <a:rPr lang="en-US" sz="1400" b="1" dirty="0">
                <a:solidFill>
                  <a:schemeClr val="tx1"/>
                </a:solidFill>
              </a:rPr>
              <a:t>Seismic lattice: </a:t>
            </a:r>
            <a:r>
              <a:rPr lang="en-US" sz="1400" dirty="0">
                <a:solidFill>
                  <a:schemeClr val="tx1"/>
                </a:solidFill>
              </a:rPr>
              <a:t>defines the seismic trace organization during a 3D acquisition. It is represented by a regular IJ 2D grid</a:t>
            </a:r>
          </a:p>
          <a:p>
            <a:r>
              <a:rPr lang="en-US" sz="1400" b="1" dirty="0">
                <a:solidFill>
                  <a:schemeClr val="tx1"/>
                </a:solidFill>
              </a:rPr>
              <a:t>Seismic line</a:t>
            </a:r>
            <a:endParaRPr lang="en-US" sz="1400" dirty="0">
              <a:solidFill>
                <a:schemeClr val="tx1"/>
              </a:solidFill>
            </a:endParaRPr>
          </a:p>
          <a:p>
            <a:r>
              <a:rPr lang="en-US" sz="1400" b="1" dirty="0">
                <a:solidFill>
                  <a:schemeClr val="tx1"/>
                </a:solidFill>
              </a:rPr>
              <a:t>Horizon Interpretation</a:t>
            </a:r>
            <a:r>
              <a:rPr lang="en-US" sz="1400" dirty="0">
                <a:solidFill>
                  <a:schemeClr val="tx1"/>
                </a:solidFill>
              </a:rPr>
              <a:t>: An interpretation of a horizon, which optionally provides stratigraphic information.</a:t>
            </a:r>
          </a:p>
          <a:p>
            <a:r>
              <a:rPr lang="en-US" sz="1400" b="1" dirty="0">
                <a:solidFill>
                  <a:schemeClr val="tx1"/>
                </a:solidFill>
              </a:rPr>
              <a:t>Grid2dRepresentation: </a:t>
            </a:r>
            <a:r>
              <a:rPr lang="en-US" sz="1400" dirty="0">
                <a:solidFill>
                  <a:schemeClr val="tx1"/>
                </a:solidFill>
              </a:rPr>
              <a:t>Representation based on a 2D grid. </a:t>
            </a:r>
          </a:p>
          <a:p>
            <a:pPr lvl="1"/>
            <a:r>
              <a:rPr lang="en-US" sz="1400" b="1" dirty="0">
                <a:solidFill>
                  <a:schemeClr val="tx1"/>
                </a:solidFill>
              </a:rPr>
              <a:t>Horizon geometry</a:t>
            </a:r>
            <a:r>
              <a:rPr lang="en-US" sz="1400" b="1" dirty="0">
                <a:solidFill>
                  <a:schemeClr val="tx1"/>
                </a:solidFill>
                <a:sym typeface="Wingdings" panose="05000000000000000000" pitchFamily="2" charset="2"/>
              </a:rPr>
              <a:t> (pick): </a:t>
            </a:r>
            <a:r>
              <a:rPr lang="en-US" sz="1400" dirty="0">
                <a:solidFill>
                  <a:schemeClr val="tx1"/>
                </a:solidFill>
              </a:rPr>
              <a:t>Z values array + link to  supported seismic interpretation. The Z values are then combined with the geometry of a seismic survey to give XYZ points</a:t>
            </a:r>
          </a:p>
          <a:p>
            <a:pPr lvl="1"/>
            <a:endParaRPr lang="en-US" sz="1600" b="1" dirty="0">
              <a:solidFill>
                <a:schemeClr val="tx1"/>
              </a:solidFill>
            </a:endParaRPr>
          </a:p>
          <a:p>
            <a:pPr lvl="1"/>
            <a:endParaRPr lang="en-US" sz="1600" b="1" dirty="0">
              <a:solidFill>
                <a:schemeClr val="tx1"/>
              </a:solidFill>
            </a:endParaRPr>
          </a:p>
          <a:p>
            <a:pPr lvl="1"/>
            <a:endParaRPr lang="en-US" sz="1600" b="1" dirty="0">
              <a:solidFill>
                <a:schemeClr val="tx1"/>
              </a:solidFill>
            </a:endParaRPr>
          </a:p>
          <a:p>
            <a:pPr lvl="1"/>
            <a:endParaRPr lang="en-US" sz="1400" b="1" dirty="0">
              <a:solidFill>
                <a:schemeClr val="tx1"/>
              </a:solidFill>
            </a:endParaRPr>
          </a:p>
          <a:p>
            <a:pPr lvl="1"/>
            <a:endParaRPr lang="en-US" sz="1400" b="1" dirty="0">
              <a:solidFill>
                <a:schemeClr val="tx1"/>
              </a:solidFill>
            </a:endParaRPr>
          </a:p>
          <a:p>
            <a:pPr lvl="1"/>
            <a:r>
              <a:rPr lang="en-US" sz="1400" b="1" dirty="0" err="1">
                <a:solidFill>
                  <a:schemeClr val="tx1"/>
                </a:solidFill>
              </a:rPr>
              <a:t>BinGrid</a:t>
            </a:r>
            <a:r>
              <a:rPr lang="en-US" sz="1400" b="1" dirty="0">
                <a:solidFill>
                  <a:schemeClr val="tx1"/>
                </a:solidFill>
              </a:rPr>
              <a:t> geometry (map):</a:t>
            </a:r>
            <a:r>
              <a:rPr lang="en-US" sz="1600" dirty="0">
                <a:solidFill>
                  <a:schemeClr val="tx1"/>
                </a:solidFill>
              </a:rPr>
              <a:t> </a:t>
            </a:r>
            <a:r>
              <a:rPr lang="en-US" sz="1400" dirty="0">
                <a:solidFill>
                  <a:schemeClr val="tx1"/>
                </a:solidFill>
              </a:rPr>
              <a:t>grid 2D representation where the geometry is provided by a 2D lattice</a:t>
            </a:r>
          </a:p>
          <a:p>
            <a:r>
              <a:rPr lang="en-US" sz="1400" b="1" dirty="0">
                <a:solidFill>
                  <a:schemeClr val="tx1"/>
                </a:solidFill>
              </a:rPr>
              <a:t>Seismic line and lattice sets </a:t>
            </a:r>
          </a:p>
        </p:txBody>
      </p:sp>
      <p:pic>
        <p:nvPicPr>
          <p:cNvPr id="18" name="Picture 17">
            <a:extLst>
              <a:ext uri="{FF2B5EF4-FFF2-40B4-BE49-F238E27FC236}">
                <a16:creationId xmlns:a16="http://schemas.microsoft.com/office/drawing/2014/main" id="{C082B800-6032-4568-98FF-FA117205B4DB}"/>
              </a:ext>
            </a:extLst>
          </p:cNvPr>
          <p:cNvPicPr>
            <a:picLocks noChangeAspect="1"/>
          </p:cNvPicPr>
          <p:nvPr/>
        </p:nvPicPr>
        <p:blipFill>
          <a:blip r:embed="rId2"/>
          <a:stretch>
            <a:fillRect/>
          </a:stretch>
        </p:blipFill>
        <p:spPr>
          <a:xfrm>
            <a:off x="7020989" y="4029161"/>
            <a:ext cx="2184400" cy="1154666"/>
          </a:xfrm>
          <a:prstGeom prst="rect">
            <a:avLst/>
          </a:prstGeom>
        </p:spPr>
      </p:pic>
      <p:sp>
        <p:nvSpPr>
          <p:cNvPr id="19" name="Rectangle 18">
            <a:extLst>
              <a:ext uri="{FF2B5EF4-FFF2-40B4-BE49-F238E27FC236}">
                <a16:creationId xmlns:a16="http://schemas.microsoft.com/office/drawing/2014/main" id="{41F1592A-6071-4055-B29C-955CCE0A15AC}"/>
              </a:ext>
            </a:extLst>
          </p:cNvPr>
          <p:cNvSpPr/>
          <p:nvPr/>
        </p:nvSpPr>
        <p:spPr>
          <a:xfrm>
            <a:off x="596900" y="1361357"/>
            <a:ext cx="5410200" cy="483178"/>
          </a:xfrm>
          <a:prstGeom prst="rect">
            <a:avLst/>
          </a:prstGeom>
        </p:spPr>
        <p:txBody>
          <a:bodyPr vert="horz" lIns="91440" tIns="45720" rIns="91440" bIns="45720" rtlCol="0">
            <a:normAutofit/>
          </a:bodyPr>
          <a:lstStyle/>
          <a:p>
            <a:pPr defTabSz="609585">
              <a:spcBef>
                <a:spcPct val="20000"/>
              </a:spcBef>
              <a:buClr>
                <a:schemeClr val="accent1"/>
              </a:buClr>
            </a:pPr>
            <a:r>
              <a:rPr lang="en-US" b="1" dirty="0">
                <a:latin typeface="Arial" panose="020B0604020202020204" pitchFamily="34" charset="0"/>
                <a:cs typeface="Arial" panose="020B0604020202020204" pitchFamily="34" charset="0"/>
              </a:rPr>
              <a:t>OSDU</a:t>
            </a:r>
            <a:r>
              <a:rPr lang="en-US" b="1" dirty="0">
                <a:solidFill>
                  <a:schemeClr val="tx2"/>
                </a:solidFill>
                <a:latin typeface="Arial" panose="020B0604020202020204" pitchFamily="34" charset="0"/>
                <a:cs typeface="Arial" panose="020B0604020202020204" pitchFamily="34" charset="0"/>
              </a:rPr>
              <a:t> </a:t>
            </a:r>
            <a:r>
              <a:rPr lang="en-US" sz="1800" b="1" dirty="0"/>
              <a:t>Seismic interpretation WPC’s</a:t>
            </a:r>
            <a:endParaRPr lang="en-US" b="1" dirty="0">
              <a:solidFill>
                <a:schemeClr val="tx2"/>
              </a:solidFill>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9E0385AF-AB7F-4131-B09B-436434D22292}"/>
              </a:ext>
            </a:extLst>
          </p:cNvPr>
          <p:cNvSpPr/>
          <p:nvPr/>
        </p:nvSpPr>
        <p:spPr>
          <a:xfrm>
            <a:off x="6500289" y="1361357"/>
            <a:ext cx="5410200" cy="483178"/>
          </a:xfrm>
          <a:prstGeom prst="rect">
            <a:avLst/>
          </a:prstGeom>
        </p:spPr>
        <p:txBody>
          <a:bodyPr vert="horz" lIns="91440" tIns="45720" rIns="91440" bIns="45720" rtlCol="0">
            <a:normAutofit/>
          </a:bodyPr>
          <a:lstStyle/>
          <a:p>
            <a:pPr defTabSz="609585">
              <a:spcBef>
                <a:spcPct val="20000"/>
              </a:spcBef>
              <a:buClr>
                <a:schemeClr val="accent1"/>
              </a:buClr>
            </a:pPr>
            <a:r>
              <a:rPr lang="en-US" b="1" dirty="0">
                <a:latin typeface="Arial" panose="020B0604020202020204" pitchFamily="34" charset="0"/>
                <a:cs typeface="Arial" panose="020B0604020202020204" pitchFamily="34" charset="0"/>
              </a:rPr>
              <a:t>RESQML data objects</a:t>
            </a:r>
          </a:p>
        </p:txBody>
      </p:sp>
    </p:spTree>
    <p:extLst>
      <p:ext uri="{BB962C8B-B14F-4D97-AF65-F5344CB8AC3E}">
        <p14:creationId xmlns:p14="http://schemas.microsoft.com/office/powerpoint/2010/main" val="3192524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9BAB39-F4EF-4B83-AD4A-9FBD5878B5E3}"/>
              </a:ext>
            </a:extLst>
          </p:cNvPr>
          <p:cNvSpPr/>
          <p:nvPr/>
        </p:nvSpPr>
        <p:spPr>
          <a:xfrm>
            <a:off x="1606491" y="1654203"/>
            <a:ext cx="3061982" cy="2389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Grid2dRepresentation</a:t>
            </a:r>
          </a:p>
          <a:p>
            <a:pPr algn="ctr"/>
            <a:r>
              <a:rPr lang="en-US" sz="1200" b="1" dirty="0"/>
              <a:t>(WPC </a:t>
            </a:r>
            <a:r>
              <a:rPr lang="en-US" sz="1200" b="1" dirty="0" err="1"/>
              <a:t>GenericRepresentation</a:t>
            </a:r>
            <a:r>
              <a:rPr lang="en-US" sz="1200" b="1" dirty="0"/>
              <a:t>)</a:t>
            </a:r>
          </a:p>
          <a:p>
            <a:endParaRPr lang="en-US" sz="1200" dirty="0"/>
          </a:p>
          <a:p>
            <a:r>
              <a:rPr lang="en-US" sz="1200" dirty="0" err="1"/>
              <a:t>SurfaceRole</a:t>
            </a:r>
            <a:r>
              <a:rPr lang="en-US" sz="1200" dirty="0"/>
              <a:t>: </a:t>
            </a:r>
            <a:r>
              <a:rPr lang="en-US" sz="1200" dirty="0">
                <a:highlight>
                  <a:srgbClr val="0000FF"/>
                </a:highlight>
              </a:rPr>
              <a:t>pick </a:t>
            </a:r>
            <a:r>
              <a:rPr lang="en-US" sz="1200" dirty="0"/>
              <a:t>Boundaries</a:t>
            </a:r>
          </a:p>
          <a:p>
            <a:endParaRPr lang="en-US" sz="1200" dirty="0"/>
          </a:p>
        </p:txBody>
      </p:sp>
      <p:sp>
        <p:nvSpPr>
          <p:cNvPr id="5" name="Rectangle 4">
            <a:extLst>
              <a:ext uri="{FF2B5EF4-FFF2-40B4-BE49-F238E27FC236}">
                <a16:creationId xmlns:a16="http://schemas.microsoft.com/office/drawing/2014/main" id="{154E866D-49B8-4085-A41D-B361FF3F1F24}"/>
              </a:ext>
            </a:extLst>
          </p:cNvPr>
          <p:cNvSpPr/>
          <p:nvPr/>
        </p:nvSpPr>
        <p:spPr>
          <a:xfrm>
            <a:off x="113251" y="3341353"/>
            <a:ext cx="1308683" cy="543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err="1"/>
              <a:t>LocalDepthCrs</a:t>
            </a:r>
            <a:r>
              <a:rPr lang="en-US" sz="1200" dirty="0"/>
              <a:t> or </a:t>
            </a:r>
            <a:r>
              <a:rPr lang="en-US" sz="1200" dirty="0" err="1"/>
              <a:t>LocalTimeCrs</a:t>
            </a:r>
            <a:endParaRPr lang="en-US" sz="1200" dirty="0"/>
          </a:p>
          <a:p>
            <a:endParaRPr lang="en-US" sz="1200" dirty="0"/>
          </a:p>
          <a:p>
            <a:endParaRPr lang="en-US" sz="1200" dirty="0"/>
          </a:p>
        </p:txBody>
      </p:sp>
      <p:sp>
        <p:nvSpPr>
          <p:cNvPr id="6" name="Rectangle 5">
            <a:extLst>
              <a:ext uri="{FF2B5EF4-FFF2-40B4-BE49-F238E27FC236}">
                <a16:creationId xmlns:a16="http://schemas.microsoft.com/office/drawing/2014/main" id="{DD373B9F-F31D-475A-91AF-57DF3BD87455}"/>
              </a:ext>
            </a:extLst>
          </p:cNvPr>
          <p:cNvSpPr/>
          <p:nvPr/>
        </p:nvSpPr>
        <p:spPr>
          <a:xfrm>
            <a:off x="2206304" y="635816"/>
            <a:ext cx="1862356" cy="308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err="1"/>
              <a:t>HorizonInterpretation</a:t>
            </a:r>
            <a:r>
              <a:rPr lang="en-US" sz="1200" dirty="0"/>
              <a:t> WPC</a:t>
            </a:r>
          </a:p>
          <a:p>
            <a:endParaRPr lang="en-US" sz="1200" dirty="0"/>
          </a:p>
        </p:txBody>
      </p:sp>
      <p:sp>
        <p:nvSpPr>
          <p:cNvPr id="7" name="Rectangle 6">
            <a:extLst>
              <a:ext uri="{FF2B5EF4-FFF2-40B4-BE49-F238E27FC236}">
                <a16:creationId xmlns:a16="http://schemas.microsoft.com/office/drawing/2014/main" id="{3A82912C-8841-4F01-AE22-F0FF35E2AA20}"/>
              </a:ext>
            </a:extLst>
          </p:cNvPr>
          <p:cNvSpPr/>
          <p:nvPr/>
        </p:nvSpPr>
        <p:spPr>
          <a:xfrm>
            <a:off x="75501" y="619120"/>
            <a:ext cx="1862356" cy="3511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err="1"/>
              <a:t>BoundaryFeatureWPC</a:t>
            </a:r>
            <a:endParaRPr lang="en-US" sz="1200" dirty="0"/>
          </a:p>
          <a:p>
            <a:endParaRPr lang="en-US" sz="1200" dirty="0"/>
          </a:p>
        </p:txBody>
      </p:sp>
      <p:cxnSp>
        <p:nvCxnSpPr>
          <p:cNvPr id="9" name="Straight Arrow Connector 8">
            <a:extLst>
              <a:ext uri="{FF2B5EF4-FFF2-40B4-BE49-F238E27FC236}">
                <a16:creationId xmlns:a16="http://schemas.microsoft.com/office/drawing/2014/main" id="{C3E61F82-B3B1-4AE6-ABBD-EB607F5F319C}"/>
              </a:ext>
            </a:extLst>
          </p:cNvPr>
          <p:cNvCxnSpPr>
            <a:cxnSpLocks/>
            <a:stCxn id="4" idx="0"/>
            <a:endCxn id="6" idx="2"/>
          </p:cNvCxnSpPr>
          <p:nvPr/>
        </p:nvCxnSpPr>
        <p:spPr>
          <a:xfrm flipV="1">
            <a:off x="3137482" y="944810"/>
            <a:ext cx="0" cy="709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A9F61E7-B140-4304-B2C6-E0F9A1B0B31B}"/>
              </a:ext>
            </a:extLst>
          </p:cNvPr>
          <p:cNvCxnSpPr>
            <a:cxnSpLocks/>
            <a:stCxn id="6" idx="1"/>
            <a:endCxn id="7" idx="3"/>
          </p:cNvCxnSpPr>
          <p:nvPr/>
        </p:nvCxnSpPr>
        <p:spPr>
          <a:xfrm flipH="1">
            <a:off x="1937857" y="790313"/>
            <a:ext cx="268447" cy="4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EAB8371-DA4C-445E-8E60-BA5212EA4018}"/>
              </a:ext>
            </a:extLst>
          </p:cNvPr>
          <p:cNvCxnSpPr>
            <a:cxnSpLocks/>
            <a:endCxn id="5" idx="3"/>
          </p:cNvCxnSpPr>
          <p:nvPr/>
        </p:nvCxnSpPr>
        <p:spPr>
          <a:xfrm flipH="1" flipV="1">
            <a:off x="1421934" y="3613296"/>
            <a:ext cx="486561" cy="7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9F8EDA4-FEE6-44A4-B6D0-7D0E4FDBE1A8}"/>
              </a:ext>
            </a:extLst>
          </p:cNvPr>
          <p:cNvSpPr/>
          <p:nvPr/>
        </p:nvSpPr>
        <p:spPr>
          <a:xfrm>
            <a:off x="2187186" y="4280799"/>
            <a:ext cx="1862356" cy="12499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Grid2dRepresentation</a:t>
            </a:r>
          </a:p>
          <a:p>
            <a:endParaRPr lang="en-US" sz="1200" dirty="0"/>
          </a:p>
          <a:p>
            <a:r>
              <a:rPr lang="en-US" sz="1200" dirty="0"/>
              <a:t>Citation (creation and last update info)</a:t>
            </a:r>
          </a:p>
          <a:p>
            <a:r>
              <a:rPr lang="en-US" sz="1200" dirty="0" err="1"/>
              <a:t>SurfaceRole</a:t>
            </a:r>
            <a:r>
              <a:rPr lang="en-US" sz="1200" dirty="0"/>
              <a:t>: </a:t>
            </a:r>
            <a:r>
              <a:rPr lang="en-US" sz="1200" dirty="0">
                <a:highlight>
                  <a:srgbClr val="0000FF"/>
                </a:highlight>
              </a:rPr>
              <a:t>map</a:t>
            </a:r>
            <a:endParaRPr lang="en-US" sz="1200" dirty="0">
              <a:highlight>
                <a:srgbClr val="0000FF"/>
              </a:highlight>
              <a:cs typeface="Calibri"/>
            </a:endParaRPr>
          </a:p>
          <a:p>
            <a:r>
              <a:rPr lang="en-US" sz="1200" dirty="0"/>
              <a:t>Boundaries</a:t>
            </a:r>
          </a:p>
          <a:p>
            <a:endParaRPr lang="en-US" sz="1200" dirty="0"/>
          </a:p>
        </p:txBody>
      </p:sp>
      <p:sp>
        <p:nvSpPr>
          <p:cNvPr id="23" name="Rectangle 22">
            <a:extLst>
              <a:ext uri="{FF2B5EF4-FFF2-40B4-BE49-F238E27FC236}">
                <a16:creationId xmlns:a16="http://schemas.microsoft.com/office/drawing/2014/main" id="{47A0C8B0-D8C4-45EA-B94D-482D63F5785A}"/>
              </a:ext>
            </a:extLst>
          </p:cNvPr>
          <p:cNvSpPr/>
          <p:nvPr/>
        </p:nvSpPr>
        <p:spPr>
          <a:xfrm>
            <a:off x="151001" y="4751138"/>
            <a:ext cx="1308683" cy="45335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err="1"/>
              <a:t>LocalDepthCrs</a:t>
            </a:r>
            <a:endParaRPr lang="en-US" sz="1200" dirty="0"/>
          </a:p>
          <a:p>
            <a:endParaRPr lang="en-US" sz="1200" dirty="0"/>
          </a:p>
          <a:p>
            <a:endParaRPr lang="en-US" sz="1200" dirty="0"/>
          </a:p>
        </p:txBody>
      </p:sp>
      <p:sp>
        <p:nvSpPr>
          <p:cNvPr id="24" name="Rectangle 23">
            <a:extLst>
              <a:ext uri="{FF2B5EF4-FFF2-40B4-BE49-F238E27FC236}">
                <a16:creationId xmlns:a16="http://schemas.microsoft.com/office/drawing/2014/main" id="{B517C834-9E8A-48BC-BB66-0F5C2BB398BC}"/>
              </a:ext>
            </a:extLst>
          </p:cNvPr>
          <p:cNvSpPr/>
          <p:nvPr/>
        </p:nvSpPr>
        <p:spPr>
          <a:xfrm>
            <a:off x="2206304" y="5949191"/>
            <a:ext cx="1862356" cy="30899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t>Generic Interpretation</a:t>
            </a:r>
          </a:p>
          <a:p>
            <a:endParaRPr lang="en-US" sz="1200" dirty="0"/>
          </a:p>
        </p:txBody>
      </p:sp>
      <p:sp>
        <p:nvSpPr>
          <p:cNvPr id="25" name="Rectangle 24">
            <a:extLst>
              <a:ext uri="{FF2B5EF4-FFF2-40B4-BE49-F238E27FC236}">
                <a16:creationId xmlns:a16="http://schemas.microsoft.com/office/drawing/2014/main" id="{722F82D0-3137-45D9-BD98-DED1E3E7BEA6}"/>
              </a:ext>
            </a:extLst>
          </p:cNvPr>
          <p:cNvSpPr/>
          <p:nvPr/>
        </p:nvSpPr>
        <p:spPr>
          <a:xfrm>
            <a:off x="11882" y="5352874"/>
            <a:ext cx="1862356" cy="150162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err="1"/>
              <a:t>SeismicLatticeFeature</a:t>
            </a:r>
            <a:endParaRPr lang="en-US" sz="1200" b="1" dirty="0"/>
          </a:p>
          <a:p>
            <a:endParaRPr lang="en-US" sz="1200" dirty="0"/>
          </a:p>
          <a:p>
            <a:r>
              <a:rPr lang="en-US" sz="1200" dirty="0" err="1"/>
              <a:t>CrosslineCount</a:t>
            </a:r>
            <a:r>
              <a:rPr lang="en-US" sz="1200" dirty="0"/>
              <a:t>,</a:t>
            </a:r>
          </a:p>
          <a:p>
            <a:r>
              <a:rPr lang="en-US" sz="1200" dirty="0" err="1"/>
              <a:t>CrosslineIndexIncrement</a:t>
            </a:r>
            <a:r>
              <a:rPr lang="en-US" sz="1200" dirty="0"/>
              <a:t>,</a:t>
            </a:r>
          </a:p>
          <a:p>
            <a:r>
              <a:rPr lang="en-US" sz="1200" dirty="0" err="1"/>
              <a:t>FirstCrosslineIndex</a:t>
            </a:r>
            <a:r>
              <a:rPr lang="en-US" sz="1200" dirty="0"/>
              <a:t>,</a:t>
            </a:r>
          </a:p>
          <a:p>
            <a:r>
              <a:rPr lang="en-US" sz="1200" dirty="0" err="1"/>
              <a:t>irstInlineIndex</a:t>
            </a:r>
            <a:r>
              <a:rPr lang="en-US" sz="1200" dirty="0"/>
              <a:t>,</a:t>
            </a:r>
          </a:p>
          <a:p>
            <a:r>
              <a:rPr lang="en-US" sz="1200" dirty="0" err="1"/>
              <a:t>InlineCount</a:t>
            </a:r>
            <a:r>
              <a:rPr lang="en-US" sz="1200" dirty="0"/>
              <a:t>,</a:t>
            </a:r>
          </a:p>
          <a:p>
            <a:r>
              <a:rPr lang="en-US" sz="1200" dirty="0" err="1"/>
              <a:t>InlineIndexIncrement</a:t>
            </a:r>
            <a:endParaRPr lang="en-US" sz="1200" dirty="0"/>
          </a:p>
        </p:txBody>
      </p:sp>
      <p:cxnSp>
        <p:nvCxnSpPr>
          <p:cNvPr id="26" name="Straight Arrow Connector 25">
            <a:extLst>
              <a:ext uri="{FF2B5EF4-FFF2-40B4-BE49-F238E27FC236}">
                <a16:creationId xmlns:a16="http://schemas.microsoft.com/office/drawing/2014/main" id="{DB8649C9-A0A9-4678-A223-7903690AAA8B}"/>
              </a:ext>
            </a:extLst>
          </p:cNvPr>
          <p:cNvCxnSpPr>
            <a:cxnSpLocks/>
            <a:stCxn id="22" idx="2"/>
            <a:endCxn id="24" idx="0"/>
          </p:cNvCxnSpPr>
          <p:nvPr/>
        </p:nvCxnSpPr>
        <p:spPr>
          <a:xfrm>
            <a:off x="3118364" y="5530759"/>
            <a:ext cx="19118" cy="418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B21B48A-4467-4485-B588-538B638568B4}"/>
              </a:ext>
            </a:extLst>
          </p:cNvPr>
          <p:cNvCxnSpPr>
            <a:cxnSpLocks/>
            <a:stCxn id="24" idx="1"/>
            <a:endCxn id="25" idx="3"/>
          </p:cNvCxnSpPr>
          <p:nvPr/>
        </p:nvCxnSpPr>
        <p:spPr>
          <a:xfrm flipH="1">
            <a:off x="1874238" y="6103688"/>
            <a:ext cx="33206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D070C15-00CB-4AED-A064-73E6C4BAC530}"/>
              </a:ext>
            </a:extLst>
          </p:cNvPr>
          <p:cNvCxnSpPr>
            <a:cxnSpLocks/>
            <a:stCxn id="22" idx="1"/>
            <a:endCxn id="23" idx="3"/>
          </p:cNvCxnSpPr>
          <p:nvPr/>
        </p:nvCxnSpPr>
        <p:spPr>
          <a:xfrm flipH="1">
            <a:off x="1459684" y="4905779"/>
            <a:ext cx="727502" cy="7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5347326-309B-4A9D-B12C-C4FABC487AFE}"/>
              </a:ext>
            </a:extLst>
          </p:cNvPr>
          <p:cNvSpPr/>
          <p:nvPr/>
        </p:nvSpPr>
        <p:spPr>
          <a:xfrm>
            <a:off x="1652630" y="2456953"/>
            <a:ext cx="2969703" cy="154949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t>Grid2dPatch</a:t>
            </a:r>
          </a:p>
          <a:p>
            <a:r>
              <a:rPr lang="en-US" sz="1200" dirty="0" err="1"/>
              <a:t>seismicCoordinates</a:t>
            </a:r>
            <a:endParaRPr lang="en-US" sz="1200" dirty="0"/>
          </a:p>
          <a:p>
            <a:r>
              <a:rPr lang="en-US" sz="1200" dirty="0"/>
              <a:t>    </a:t>
            </a:r>
            <a:r>
              <a:rPr lang="en-US" sz="1200" dirty="0" err="1"/>
              <a:t>seismicSupport</a:t>
            </a:r>
            <a:endParaRPr lang="en-US" sz="1200" dirty="0"/>
          </a:p>
          <a:p>
            <a:r>
              <a:rPr lang="en-US" sz="1200" dirty="0"/>
              <a:t>Points</a:t>
            </a:r>
          </a:p>
          <a:p>
            <a:r>
              <a:rPr lang="en-US" sz="1200" dirty="0"/>
              <a:t>   array of z</a:t>
            </a:r>
          </a:p>
          <a:p>
            <a:r>
              <a:rPr lang="en-US" sz="1200" dirty="0"/>
              <a:t>   Point3dFromRepresentationLatticeArray</a:t>
            </a:r>
          </a:p>
          <a:p>
            <a:r>
              <a:rPr lang="en-US" sz="1200" dirty="0"/>
              <a:t>       start</a:t>
            </a:r>
          </a:p>
          <a:p>
            <a:r>
              <a:rPr lang="en-US" sz="1200" dirty="0"/>
              <a:t>        offsets</a:t>
            </a:r>
          </a:p>
          <a:p>
            <a:endParaRPr lang="en-US" sz="1200" dirty="0"/>
          </a:p>
        </p:txBody>
      </p:sp>
      <p:cxnSp>
        <p:nvCxnSpPr>
          <p:cNvPr id="51" name="Straight Arrow Connector 50">
            <a:extLst>
              <a:ext uri="{FF2B5EF4-FFF2-40B4-BE49-F238E27FC236}">
                <a16:creationId xmlns:a16="http://schemas.microsoft.com/office/drawing/2014/main" id="{D206C5C6-D450-4A00-A76C-6D07129501B1}"/>
              </a:ext>
            </a:extLst>
          </p:cNvPr>
          <p:cNvCxnSpPr>
            <a:cxnSpLocks/>
            <a:stCxn id="41" idx="2"/>
            <a:endCxn id="22" idx="0"/>
          </p:cNvCxnSpPr>
          <p:nvPr/>
        </p:nvCxnSpPr>
        <p:spPr>
          <a:xfrm flipH="1">
            <a:off x="3118364" y="4006445"/>
            <a:ext cx="19118" cy="274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0D3EA653-F98D-478D-89CB-98B028DC2078}"/>
              </a:ext>
            </a:extLst>
          </p:cNvPr>
          <p:cNvSpPr/>
          <p:nvPr/>
        </p:nvSpPr>
        <p:spPr>
          <a:xfrm>
            <a:off x="4899169" y="4027847"/>
            <a:ext cx="1308683" cy="329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t>Property</a:t>
            </a:r>
          </a:p>
          <a:p>
            <a:endParaRPr lang="en-US" sz="1200" dirty="0"/>
          </a:p>
          <a:p>
            <a:endParaRPr lang="en-US" sz="1200" dirty="0"/>
          </a:p>
        </p:txBody>
      </p:sp>
      <p:cxnSp>
        <p:nvCxnSpPr>
          <p:cNvPr id="70" name="Straight Arrow Connector 69">
            <a:extLst>
              <a:ext uri="{FF2B5EF4-FFF2-40B4-BE49-F238E27FC236}">
                <a16:creationId xmlns:a16="http://schemas.microsoft.com/office/drawing/2014/main" id="{79582C73-395C-4A26-92B0-586D3A430533}"/>
              </a:ext>
            </a:extLst>
          </p:cNvPr>
          <p:cNvCxnSpPr>
            <a:cxnSpLocks/>
            <a:stCxn id="68" idx="1"/>
          </p:cNvCxnSpPr>
          <p:nvPr/>
        </p:nvCxnSpPr>
        <p:spPr>
          <a:xfrm flipH="1" flipV="1">
            <a:off x="4622333" y="4006445"/>
            <a:ext cx="276836" cy="186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BACEA6C5-908F-44F4-9F51-D41856209FF0}"/>
              </a:ext>
            </a:extLst>
          </p:cNvPr>
          <p:cNvSpPr txBox="1"/>
          <p:nvPr/>
        </p:nvSpPr>
        <p:spPr>
          <a:xfrm>
            <a:off x="5139605" y="2053423"/>
            <a:ext cx="1612686" cy="646331"/>
          </a:xfrm>
          <a:prstGeom prst="rect">
            <a:avLst/>
          </a:prstGeom>
          <a:noFill/>
        </p:spPr>
        <p:txBody>
          <a:bodyPr wrap="none" rtlCol="0">
            <a:spAutoFit/>
          </a:bodyPr>
          <a:lstStyle/>
          <a:p>
            <a:r>
              <a:rPr lang="en-US" dirty="0" err="1">
                <a:solidFill>
                  <a:srgbClr val="0070C0"/>
                </a:solidFill>
              </a:rPr>
              <a:t>SeismicHorizon</a:t>
            </a:r>
            <a:endParaRPr lang="en-US" dirty="0">
              <a:solidFill>
                <a:srgbClr val="0070C0"/>
              </a:solidFill>
            </a:endParaRPr>
          </a:p>
          <a:p>
            <a:pPr algn="ctr"/>
            <a:r>
              <a:rPr lang="en-US" dirty="0">
                <a:solidFill>
                  <a:srgbClr val="0070C0"/>
                </a:solidFill>
              </a:rPr>
              <a:t>mapping</a:t>
            </a:r>
          </a:p>
        </p:txBody>
      </p:sp>
      <p:sp>
        <p:nvSpPr>
          <p:cNvPr id="83" name="TextBox 82">
            <a:extLst>
              <a:ext uri="{FF2B5EF4-FFF2-40B4-BE49-F238E27FC236}">
                <a16:creationId xmlns:a16="http://schemas.microsoft.com/office/drawing/2014/main" id="{38810B68-58A8-46BA-A3E5-F6B66F7D9D39}"/>
              </a:ext>
            </a:extLst>
          </p:cNvPr>
          <p:cNvSpPr txBox="1"/>
          <p:nvPr/>
        </p:nvSpPr>
        <p:spPr>
          <a:xfrm>
            <a:off x="4497955" y="5652356"/>
            <a:ext cx="1584088" cy="369332"/>
          </a:xfrm>
          <a:prstGeom prst="rect">
            <a:avLst/>
          </a:prstGeom>
          <a:noFill/>
        </p:spPr>
        <p:txBody>
          <a:bodyPr wrap="none" rtlCol="0">
            <a:spAutoFit/>
          </a:bodyPr>
          <a:lstStyle/>
          <a:p>
            <a:r>
              <a:rPr lang="en-US" dirty="0" err="1">
                <a:solidFill>
                  <a:srgbClr val="92D050"/>
                </a:solidFill>
              </a:rPr>
              <a:t>SeismicBinGrid</a:t>
            </a:r>
            <a:endParaRPr lang="en-US" dirty="0">
              <a:solidFill>
                <a:srgbClr val="92D050"/>
              </a:solidFill>
            </a:endParaRPr>
          </a:p>
        </p:txBody>
      </p:sp>
      <p:sp>
        <p:nvSpPr>
          <p:cNvPr id="84" name="Rectangle 83">
            <a:extLst>
              <a:ext uri="{FF2B5EF4-FFF2-40B4-BE49-F238E27FC236}">
                <a16:creationId xmlns:a16="http://schemas.microsoft.com/office/drawing/2014/main" id="{D5D0B2B6-7D59-48CD-B706-CCCD8F1C3FDB}"/>
              </a:ext>
            </a:extLst>
          </p:cNvPr>
          <p:cNvSpPr/>
          <p:nvPr/>
        </p:nvSpPr>
        <p:spPr>
          <a:xfrm>
            <a:off x="8115979" y="142079"/>
            <a:ext cx="4000515" cy="4768253"/>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err="1"/>
              <a:t>SeismicHorizon</a:t>
            </a:r>
            <a:r>
              <a:rPr lang="en-US" sz="1200" b="1" dirty="0"/>
              <a:t> WPC</a:t>
            </a:r>
          </a:p>
          <a:p>
            <a:endParaRPr lang="en-US" sz="1200" dirty="0"/>
          </a:p>
          <a:p>
            <a:r>
              <a:rPr lang="en-US" sz="1200" dirty="0" err="1"/>
              <a:t>InlineMin</a:t>
            </a:r>
            <a:endParaRPr lang="en-US" sz="1200" dirty="0"/>
          </a:p>
          <a:p>
            <a:r>
              <a:rPr lang="en-US" sz="1200" dirty="0" err="1"/>
              <a:t>InlineMax</a:t>
            </a:r>
            <a:endParaRPr lang="en-US" sz="1200" dirty="0"/>
          </a:p>
          <a:p>
            <a:r>
              <a:rPr lang="en-US" sz="1200" dirty="0" err="1"/>
              <a:t>CrosslineMin</a:t>
            </a:r>
            <a:endParaRPr lang="en-US" sz="1200" dirty="0"/>
          </a:p>
          <a:p>
            <a:r>
              <a:rPr lang="en-US" sz="1200" dirty="0" err="1"/>
              <a:t>CrosslineMax</a:t>
            </a:r>
            <a:endParaRPr lang="en-US" sz="1200" dirty="0"/>
          </a:p>
          <a:p>
            <a:r>
              <a:rPr lang="en-US" sz="1100" dirty="0" err="1"/>
              <a:t>SeismicPickingTypeID</a:t>
            </a:r>
            <a:endParaRPr lang="en-US" sz="1100" dirty="0"/>
          </a:p>
          <a:p>
            <a:r>
              <a:rPr lang="en-US" sz="1100" dirty="0" err="1"/>
              <a:t>SeismicDomainTypeID</a:t>
            </a:r>
            <a:endParaRPr lang="en-US" sz="1100" dirty="0"/>
          </a:p>
          <a:p>
            <a:r>
              <a:rPr lang="en-US" sz="1100" dirty="0" err="1"/>
              <a:t>SeismicDomainUOM</a:t>
            </a:r>
            <a:endParaRPr lang="en-US" sz="1100" dirty="0"/>
          </a:p>
          <a:p>
            <a:r>
              <a:rPr lang="en-US" sz="1100" dirty="0" err="1"/>
              <a:t>VerticalDatumOffset</a:t>
            </a:r>
            <a:endParaRPr lang="en-US" sz="1100" dirty="0"/>
          </a:p>
          <a:p>
            <a:r>
              <a:rPr lang="en-US" sz="1100" dirty="0" err="1"/>
              <a:t>VerticalDatumUOM</a:t>
            </a:r>
            <a:endParaRPr lang="en-US" sz="1100" dirty="0"/>
          </a:p>
          <a:p>
            <a:r>
              <a:rPr lang="en-US" sz="1200" dirty="0" err="1"/>
              <a:t>VerticalMeasurementTypeID</a:t>
            </a:r>
            <a:endParaRPr lang="en-US" sz="1200" dirty="0"/>
          </a:p>
          <a:p>
            <a:r>
              <a:rPr lang="en-US" sz="1200" dirty="0" err="1"/>
              <a:t>ReplacementVelocity</a:t>
            </a:r>
            <a:endParaRPr lang="en-US" sz="1200" dirty="0"/>
          </a:p>
          <a:p>
            <a:r>
              <a:rPr lang="en-US" sz="1200" dirty="0" err="1"/>
              <a:t>ReplacementVelocityUOM</a:t>
            </a:r>
            <a:endParaRPr lang="en-US" sz="1200" dirty="0"/>
          </a:p>
          <a:p>
            <a:r>
              <a:rPr lang="en-US" sz="1200" dirty="0" err="1"/>
              <a:t>SeismicHorizonTypeID</a:t>
            </a:r>
            <a:r>
              <a:rPr lang="en-US" sz="1200" dirty="0"/>
              <a:t> </a:t>
            </a:r>
            <a:r>
              <a:rPr lang="en-US" sz="1200" dirty="0">
                <a:highlight>
                  <a:srgbClr val="0000FF"/>
                </a:highlight>
              </a:rPr>
              <a:t>+</a:t>
            </a:r>
            <a:endParaRPr lang="en-US" sz="1200" dirty="0"/>
          </a:p>
          <a:p>
            <a:r>
              <a:rPr lang="en-US" sz="1200" dirty="0" err="1"/>
              <a:t>GeologicalUnitName</a:t>
            </a:r>
            <a:endParaRPr lang="en-US" sz="1200" dirty="0"/>
          </a:p>
          <a:p>
            <a:r>
              <a:rPr lang="en-US" sz="1200" dirty="0" err="1"/>
              <a:t>GeologicalUnitAgeYear</a:t>
            </a:r>
            <a:endParaRPr lang="en-US" sz="1200" dirty="0"/>
          </a:p>
          <a:p>
            <a:r>
              <a:rPr lang="en-US" sz="1200" dirty="0" err="1"/>
              <a:t>GeologicalUnitAgePeriod</a:t>
            </a:r>
            <a:endParaRPr lang="en-US" sz="1200" dirty="0"/>
          </a:p>
          <a:p>
            <a:r>
              <a:rPr lang="en-US" sz="1200" dirty="0" err="1"/>
              <a:t>PetroleumSystemElementTypeID</a:t>
            </a:r>
            <a:r>
              <a:rPr lang="en-US" sz="1200" dirty="0"/>
              <a:t> </a:t>
            </a:r>
            <a:r>
              <a:rPr lang="en-US" sz="1200" dirty="0">
                <a:highlight>
                  <a:srgbClr val="0000FF"/>
                </a:highlight>
              </a:rPr>
              <a:t>*link to feature?</a:t>
            </a:r>
            <a:endParaRPr lang="en-US" sz="1200" dirty="0">
              <a:highlight>
                <a:srgbClr val="0000FF"/>
              </a:highlight>
              <a:cs typeface="Calibri"/>
            </a:endParaRPr>
          </a:p>
          <a:p>
            <a:r>
              <a:rPr lang="en-US" sz="1200" dirty="0" err="1"/>
              <a:t>SeismicVelocityModelID</a:t>
            </a:r>
            <a:r>
              <a:rPr lang="en-US" sz="1200" dirty="0"/>
              <a:t> </a:t>
            </a:r>
            <a:r>
              <a:rPr lang="en-US" sz="1200" dirty="0">
                <a:highlight>
                  <a:srgbClr val="0000FF"/>
                </a:highlight>
              </a:rPr>
              <a:t>+</a:t>
            </a:r>
            <a:r>
              <a:rPr lang="en-US" sz="1200" dirty="0">
                <a:highlight>
                  <a:srgbClr val="0000FF"/>
                </a:highlight>
                <a:sym typeface="Wingdings" panose="05000000000000000000" pitchFamily="2" charset="2"/>
              </a:rPr>
              <a:t> activity model</a:t>
            </a:r>
            <a:endParaRPr lang="en-US" sz="1200" dirty="0"/>
          </a:p>
          <a:p>
            <a:r>
              <a:rPr lang="en-US" sz="1200" dirty="0" err="1"/>
              <a:t>BinGridCoveragePercent</a:t>
            </a:r>
            <a:r>
              <a:rPr lang="en-US" sz="1200" dirty="0">
                <a:highlight>
                  <a:srgbClr val="0000FF"/>
                </a:highlight>
              </a:rPr>
              <a:t>+</a:t>
            </a:r>
            <a:endParaRPr lang="en-US" sz="1200" dirty="0"/>
          </a:p>
          <a:p>
            <a:r>
              <a:rPr lang="en-US" sz="1200" dirty="0"/>
              <a:t>Remark</a:t>
            </a:r>
          </a:p>
          <a:p>
            <a:r>
              <a:rPr lang="en-US" sz="1200"/>
              <a:t>Interpreter </a:t>
            </a:r>
            <a:r>
              <a:rPr lang="en-US" sz="1200">
                <a:highlight>
                  <a:srgbClr val="0000FF"/>
                </a:highlight>
              </a:rPr>
              <a:t>Creator </a:t>
            </a:r>
            <a:endParaRPr lang="en-US" sz="1200" dirty="0"/>
          </a:p>
          <a:p>
            <a:r>
              <a:rPr lang="en-US" sz="1100" dirty="0" err="1"/>
              <a:t>SeismicTraceDataID</a:t>
            </a:r>
            <a:r>
              <a:rPr lang="en-US" sz="1100" dirty="0"/>
              <a:t> </a:t>
            </a:r>
            <a:r>
              <a:rPr lang="en-US" sz="1100" dirty="0">
                <a:highlight>
                  <a:srgbClr val="0000FF"/>
                </a:highlight>
              </a:rPr>
              <a:t>linked to Interpretation? </a:t>
            </a:r>
            <a:r>
              <a:rPr lang="en-US" sz="1100" dirty="0" err="1">
                <a:highlight>
                  <a:srgbClr val="0000FF"/>
                </a:highlight>
              </a:rPr>
              <a:t>SeismicLatticeFeature</a:t>
            </a:r>
            <a:endParaRPr lang="en-US" sz="1100" dirty="0">
              <a:highlight>
                <a:srgbClr val="0000FF"/>
              </a:highlight>
            </a:endParaRPr>
          </a:p>
          <a:p>
            <a:r>
              <a:rPr lang="en-US" sz="1100" dirty="0" err="1"/>
              <a:t>GeoContexts</a:t>
            </a:r>
            <a:r>
              <a:rPr lang="en-US" sz="1100" dirty="0"/>
              <a:t> </a:t>
            </a:r>
            <a:r>
              <a:rPr lang="en-US" sz="1100" dirty="0">
                <a:highlight>
                  <a:srgbClr val="0000FF"/>
                </a:highlight>
              </a:rPr>
              <a:t>?</a:t>
            </a:r>
            <a:endParaRPr lang="en-US" sz="900" dirty="0">
              <a:highlight>
                <a:srgbClr val="0000FF"/>
              </a:highlight>
            </a:endParaRPr>
          </a:p>
          <a:p>
            <a:r>
              <a:rPr lang="en-US" dirty="0" err="1"/>
              <a:t>SeismicAttributes</a:t>
            </a:r>
            <a:endParaRPr lang="en-US" dirty="0"/>
          </a:p>
          <a:p>
            <a:endParaRPr lang="en-US" sz="1200" dirty="0"/>
          </a:p>
          <a:p>
            <a:endParaRPr lang="en-US" sz="1200" dirty="0"/>
          </a:p>
          <a:p>
            <a:endParaRPr lang="en-US" dirty="0"/>
          </a:p>
          <a:p>
            <a:endParaRPr lang="en-US" sz="1100" dirty="0"/>
          </a:p>
          <a:p>
            <a:endParaRPr lang="en-US" sz="1100" dirty="0"/>
          </a:p>
          <a:p>
            <a:endParaRPr lang="en-US" sz="900" dirty="0"/>
          </a:p>
          <a:p>
            <a:endParaRPr lang="en-US" sz="900" dirty="0"/>
          </a:p>
        </p:txBody>
      </p:sp>
      <p:sp>
        <p:nvSpPr>
          <p:cNvPr id="91" name="Rectangle 90">
            <a:extLst>
              <a:ext uri="{FF2B5EF4-FFF2-40B4-BE49-F238E27FC236}">
                <a16:creationId xmlns:a16="http://schemas.microsoft.com/office/drawing/2014/main" id="{618B8491-6A22-4EA7-BD46-3E4B71E70D36}"/>
              </a:ext>
            </a:extLst>
          </p:cNvPr>
          <p:cNvSpPr/>
          <p:nvPr/>
        </p:nvSpPr>
        <p:spPr>
          <a:xfrm>
            <a:off x="8541389" y="5143735"/>
            <a:ext cx="2179741" cy="329446"/>
          </a:xfrm>
          <a:prstGeom prst="rect">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t>Seismic2DInterpretationProject</a:t>
            </a:r>
          </a:p>
          <a:p>
            <a:endParaRPr lang="en-US" sz="1200" dirty="0"/>
          </a:p>
          <a:p>
            <a:endParaRPr lang="en-US" sz="1200" dirty="0"/>
          </a:p>
        </p:txBody>
      </p:sp>
      <p:sp>
        <p:nvSpPr>
          <p:cNvPr id="92" name="Rectangle 91">
            <a:extLst>
              <a:ext uri="{FF2B5EF4-FFF2-40B4-BE49-F238E27FC236}">
                <a16:creationId xmlns:a16="http://schemas.microsoft.com/office/drawing/2014/main" id="{0234F07C-FA3B-4B7E-95A4-E156BEE831F0}"/>
              </a:ext>
            </a:extLst>
          </p:cNvPr>
          <p:cNvSpPr/>
          <p:nvPr/>
        </p:nvSpPr>
        <p:spPr>
          <a:xfrm>
            <a:off x="8541389" y="5722294"/>
            <a:ext cx="2179741" cy="1071782"/>
          </a:xfrm>
          <a:prstGeom prst="rect">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err="1"/>
              <a:t>SeismicBinGrid</a:t>
            </a:r>
            <a:endParaRPr lang="en-US" sz="1200" dirty="0"/>
          </a:p>
          <a:p>
            <a:pPr algn="ctr"/>
            <a:endParaRPr lang="en-US" sz="1200" dirty="0"/>
          </a:p>
          <a:p>
            <a:r>
              <a:rPr lang="en-US" sz="1200" dirty="0"/>
              <a:t>CRS</a:t>
            </a:r>
          </a:p>
          <a:p>
            <a:endParaRPr lang="en-US" sz="1200" dirty="0"/>
          </a:p>
          <a:p>
            <a:r>
              <a:rPr lang="en-US" sz="1200" dirty="0"/>
              <a:t>….</a:t>
            </a:r>
          </a:p>
          <a:p>
            <a:pPr algn="ctr"/>
            <a:endParaRPr lang="en-US" sz="1200" dirty="0"/>
          </a:p>
          <a:p>
            <a:endParaRPr lang="en-US" sz="1200" dirty="0"/>
          </a:p>
          <a:p>
            <a:r>
              <a:rPr lang="en-US" sz="1200" dirty="0"/>
              <a:t>P6Geometry</a:t>
            </a:r>
          </a:p>
        </p:txBody>
      </p:sp>
      <p:cxnSp>
        <p:nvCxnSpPr>
          <p:cNvPr id="93" name="Straight Arrow Connector 92">
            <a:extLst>
              <a:ext uri="{FF2B5EF4-FFF2-40B4-BE49-F238E27FC236}">
                <a16:creationId xmlns:a16="http://schemas.microsoft.com/office/drawing/2014/main" id="{29EBAFC8-B190-42F0-8E8E-4B41262CA71A}"/>
              </a:ext>
            </a:extLst>
          </p:cNvPr>
          <p:cNvCxnSpPr>
            <a:cxnSpLocks/>
            <a:stCxn id="91" idx="2"/>
            <a:endCxn id="92" idx="0"/>
          </p:cNvCxnSpPr>
          <p:nvPr/>
        </p:nvCxnSpPr>
        <p:spPr>
          <a:xfrm>
            <a:off x="9631260" y="5473181"/>
            <a:ext cx="0" cy="249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BDF0F758-FE9E-4CD9-BBC4-AE14878646BB}"/>
              </a:ext>
            </a:extLst>
          </p:cNvPr>
          <p:cNvCxnSpPr>
            <a:cxnSpLocks/>
            <a:stCxn id="84" idx="2"/>
            <a:endCxn id="91" idx="0"/>
          </p:cNvCxnSpPr>
          <p:nvPr/>
        </p:nvCxnSpPr>
        <p:spPr>
          <a:xfrm flipH="1">
            <a:off x="9631260" y="4910332"/>
            <a:ext cx="484977" cy="233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Rectangle: Rounded Corners 105">
            <a:extLst>
              <a:ext uri="{FF2B5EF4-FFF2-40B4-BE49-F238E27FC236}">
                <a16:creationId xmlns:a16="http://schemas.microsoft.com/office/drawing/2014/main" id="{284FAA8B-23DB-4DCA-96C5-AA5B6A98AE8B}"/>
              </a:ext>
            </a:extLst>
          </p:cNvPr>
          <p:cNvSpPr/>
          <p:nvPr/>
        </p:nvSpPr>
        <p:spPr>
          <a:xfrm>
            <a:off x="7894040" y="511728"/>
            <a:ext cx="1405830" cy="77178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1</a:t>
            </a:r>
          </a:p>
        </p:txBody>
      </p:sp>
      <p:sp>
        <p:nvSpPr>
          <p:cNvPr id="107" name="Rectangle: Rounded Corners 106">
            <a:extLst>
              <a:ext uri="{FF2B5EF4-FFF2-40B4-BE49-F238E27FC236}">
                <a16:creationId xmlns:a16="http://schemas.microsoft.com/office/drawing/2014/main" id="{43BA917B-65BB-4CC8-866C-93F1111B909F}"/>
              </a:ext>
            </a:extLst>
          </p:cNvPr>
          <p:cNvSpPr/>
          <p:nvPr/>
        </p:nvSpPr>
        <p:spPr>
          <a:xfrm>
            <a:off x="1711354" y="3422357"/>
            <a:ext cx="2843868" cy="55542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1</a:t>
            </a:r>
          </a:p>
        </p:txBody>
      </p:sp>
      <p:sp>
        <p:nvSpPr>
          <p:cNvPr id="108" name="Rectangle: Rounded Corners 107">
            <a:extLst>
              <a:ext uri="{FF2B5EF4-FFF2-40B4-BE49-F238E27FC236}">
                <a16:creationId xmlns:a16="http://schemas.microsoft.com/office/drawing/2014/main" id="{7A5FF188-CCBD-4474-B668-61848E8B7069}"/>
              </a:ext>
            </a:extLst>
          </p:cNvPr>
          <p:cNvSpPr/>
          <p:nvPr/>
        </p:nvSpPr>
        <p:spPr>
          <a:xfrm>
            <a:off x="7949265" y="1447213"/>
            <a:ext cx="1941347" cy="70939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2</a:t>
            </a:r>
          </a:p>
        </p:txBody>
      </p:sp>
      <p:sp>
        <p:nvSpPr>
          <p:cNvPr id="109" name="Rectangle: Rounded Corners 108">
            <a:extLst>
              <a:ext uri="{FF2B5EF4-FFF2-40B4-BE49-F238E27FC236}">
                <a16:creationId xmlns:a16="http://schemas.microsoft.com/office/drawing/2014/main" id="{D92A17FB-7BC1-4705-AA23-999F7B32F102}"/>
              </a:ext>
            </a:extLst>
          </p:cNvPr>
          <p:cNvSpPr/>
          <p:nvPr/>
        </p:nvSpPr>
        <p:spPr>
          <a:xfrm>
            <a:off x="11882" y="3235314"/>
            <a:ext cx="1710996" cy="70939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2</a:t>
            </a:r>
          </a:p>
        </p:txBody>
      </p:sp>
      <p:sp>
        <p:nvSpPr>
          <p:cNvPr id="110" name="Rectangle: Rounded Corners 109">
            <a:extLst>
              <a:ext uri="{FF2B5EF4-FFF2-40B4-BE49-F238E27FC236}">
                <a16:creationId xmlns:a16="http://schemas.microsoft.com/office/drawing/2014/main" id="{1B897009-83A4-4584-82A6-66DA9F46325E}"/>
              </a:ext>
            </a:extLst>
          </p:cNvPr>
          <p:cNvSpPr/>
          <p:nvPr/>
        </p:nvSpPr>
        <p:spPr>
          <a:xfrm>
            <a:off x="7823427" y="2849023"/>
            <a:ext cx="2327252" cy="57997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3</a:t>
            </a:r>
          </a:p>
        </p:txBody>
      </p:sp>
      <p:sp>
        <p:nvSpPr>
          <p:cNvPr id="111" name="Rectangle: Rounded Corners 110">
            <a:extLst>
              <a:ext uri="{FF2B5EF4-FFF2-40B4-BE49-F238E27FC236}">
                <a16:creationId xmlns:a16="http://schemas.microsoft.com/office/drawing/2014/main" id="{D9836C57-DFBD-4831-92C0-BE97BBB463BC}"/>
              </a:ext>
            </a:extLst>
          </p:cNvPr>
          <p:cNvSpPr/>
          <p:nvPr/>
        </p:nvSpPr>
        <p:spPr>
          <a:xfrm>
            <a:off x="11881" y="500324"/>
            <a:ext cx="4412619" cy="57997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3</a:t>
            </a:r>
          </a:p>
        </p:txBody>
      </p:sp>
      <p:sp>
        <p:nvSpPr>
          <p:cNvPr id="112" name="Rectangle: Rounded Corners 111">
            <a:extLst>
              <a:ext uri="{FF2B5EF4-FFF2-40B4-BE49-F238E27FC236}">
                <a16:creationId xmlns:a16="http://schemas.microsoft.com/office/drawing/2014/main" id="{D7A7AB3E-B60A-470A-BE99-3866295C9722}"/>
              </a:ext>
            </a:extLst>
          </p:cNvPr>
          <p:cNvSpPr/>
          <p:nvPr/>
        </p:nvSpPr>
        <p:spPr>
          <a:xfrm>
            <a:off x="8115650" y="5597737"/>
            <a:ext cx="2966181" cy="11963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5</a:t>
            </a:r>
          </a:p>
        </p:txBody>
      </p:sp>
      <p:sp>
        <p:nvSpPr>
          <p:cNvPr id="113" name="Rectangle: Rounded Corners 112">
            <a:extLst>
              <a:ext uri="{FF2B5EF4-FFF2-40B4-BE49-F238E27FC236}">
                <a16:creationId xmlns:a16="http://schemas.microsoft.com/office/drawing/2014/main" id="{D6571003-E110-4D9C-BFF4-55BD1D6DBC11}"/>
              </a:ext>
            </a:extLst>
          </p:cNvPr>
          <p:cNvSpPr/>
          <p:nvPr/>
        </p:nvSpPr>
        <p:spPr>
          <a:xfrm>
            <a:off x="0" y="4273939"/>
            <a:ext cx="4504622" cy="258406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5</a:t>
            </a:r>
          </a:p>
        </p:txBody>
      </p:sp>
      <p:sp>
        <p:nvSpPr>
          <p:cNvPr id="114" name="Rectangle: Rounded Corners 113">
            <a:extLst>
              <a:ext uri="{FF2B5EF4-FFF2-40B4-BE49-F238E27FC236}">
                <a16:creationId xmlns:a16="http://schemas.microsoft.com/office/drawing/2014/main" id="{74FA6ADB-553B-470B-8B5D-3525BD606806}"/>
              </a:ext>
            </a:extLst>
          </p:cNvPr>
          <p:cNvSpPr/>
          <p:nvPr/>
        </p:nvSpPr>
        <p:spPr>
          <a:xfrm>
            <a:off x="4773338" y="3781478"/>
            <a:ext cx="2018248" cy="79891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4</a:t>
            </a:r>
          </a:p>
        </p:txBody>
      </p:sp>
      <p:sp>
        <p:nvSpPr>
          <p:cNvPr id="115" name="Rectangle: Rounded Corners 114">
            <a:extLst>
              <a:ext uri="{FF2B5EF4-FFF2-40B4-BE49-F238E27FC236}">
                <a16:creationId xmlns:a16="http://schemas.microsoft.com/office/drawing/2014/main" id="{04F3BF53-6D42-4989-AFE3-6AFC7FA11F22}"/>
              </a:ext>
            </a:extLst>
          </p:cNvPr>
          <p:cNvSpPr/>
          <p:nvPr/>
        </p:nvSpPr>
        <p:spPr>
          <a:xfrm>
            <a:off x="7926201" y="4664279"/>
            <a:ext cx="2224477" cy="35489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4</a:t>
            </a:r>
          </a:p>
        </p:txBody>
      </p:sp>
      <p:sp>
        <p:nvSpPr>
          <p:cNvPr id="116" name="TextBox 115">
            <a:extLst>
              <a:ext uri="{FF2B5EF4-FFF2-40B4-BE49-F238E27FC236}">
                <a16:creationId xmlns:a16="http://schemas.microsoft.com/office/drawing/2014/main" id="{6B55F4BE-BDAA-44F1-A3BD-4F55255B0E92}"/>
              </a:ext>
            </a:extLst>
          </p:cNvPr>
          <p:cNvSpPr txBox="1"/>
          <p:nvPr/>
        </p:nvSpPr>
        <p:spPr>
          <a:xfrm>
            <a:off x="871573" y="104685"/>
            <a:ext cx="4663008" cy="369332"/>
          </a:xfrm>
          <a:prstGeom prst="rect">
            <a:avLst/>
          </a:prstGeom>
          <a:noFill/>
        </p:spPr>
        <p:txBody>
          <a:bodyPr wrap="none" rtlCol="0">
            <a:spAutoFit/>
          </a:bodyPr>
          <a:lstStyle/>
          <a:p>
            <a:r>
              <a:rPr lang="en-US" b="1" dirty="0"/>
              <a:t>RESQML </a:t>
            </a:r>
            <a:r>
              <a:rPr lang="en-US" dirty="0"/>
              <a:t>– a normalized view of </a:t>
            </a:r>
            <a:r>
              <a:rPr lang="en-US" dirty="0" err="1"/>
              <a:t>SeismicHorizon</a:t>
            </a:r>
            <a:endParaRPr lang="en-US" dirty="0"/>
          </a:p>
        </p:txBody>
      </p:sp>
      <p:cxnSp>
        <p:nvCxnSpPr>
          <p:cNvPr id="120" name="Straight Connector 119">
            <a:extLst>
              <a:ext uri="{FF2B5EF4-FFF2-40B4-BE49-F238E27FC236}">
                <a16:creationId xmlns:a16="http://schemas.microsoft.com/office/drawing/2014/main" id="{1A521E9C-63B7-4719-AC91-CE9DAE282529}"/>
              </a:ext>
            </a:extLst>
          </p:cNvPr>
          <p:cNvCxnSpPr/>
          <p:nvPr/>
        </p:nvCxnSpPr>
        <p:spPr>
          <a:xfrm>
            <a:off x="6838607" y="28707"/>
            <a:ext cx="0" cy="6829293"/>
          </a:xfrm>
          <a:prstGeom prst="line">
            <a:avLst/>
          </a:prstGeom>
        </p:spPr>
        <p:style>
          <a:lnRef idx="1">
            <a:schemeClr val="accent1"/>
          </a:lnRef>
          <a:fillRef idx="0">
            <a:schemeClr val="accent1"/>
          </a:fillRef>
          <a:effectRef idx="0">
            <a:schemeClr val="accent1"/>
          </a:effectRef>
          <a:fontRef idx="minor">
            <a:schemeClr val="tx1"/>
          </a:fontRef>
        </p:style>
      </p:cxnSp>
      <p:sp>
        <p:nvSpPr>
          <p:cNvPr id="121" name="Rectangle: Rounded Corners 120">
            <a:extLst>
              <a:ext uri="{FF2B5EF4-FFF2-40B4-BE49-F238E27FC236}">
                <a16:creationId xmlns:a16="http://schemas.microsoft.com/office/drawing/2014/main" id="{A8417B0E-C59A-4B75-942D-E9118F9FCB14}"/>
              </a:ext>
            </a:extLst>
          </p:cNvPr>
          <p:cNvSpPr/>
          <p:nvPr/>
        </p:nvSpPr>
        <p:spPr>
          <a:xfrm>
            <a:off x="1660754" y="2888921"/>
            <a:ext cx="2843868" cy="20971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6</a:t>
            </a:r>
          </a:p>
        </p:txBody>
      </p:sp>
      <p:sp>
        <p:nvSpPr>
          <p:cNvPr id="122" name="Rectangle: Rounded Corners 121">
            <a:extLst>
              <a:ext uri="{FF2B5EF4-FFF2-40B4-BE49-F238E27FC236}">
                <a16:creationId xmlns:a16="http://schemas.microsoft.com/office/drawing/2014/main" id="{03CD8EBA-4148-4200-8D9D-676A34AB046E}"/>
              </a:ext>
            </a:extLst>
          </p:cNvPr>
          <p:cNvSpPr/>
          <p:nvPr/>
        </p:nvSpPr>
        <p:spPr>
          <a:xfrm>
            <a:off x="7683368" y="1278543"/>
            <a:ext cx="2843868" cy="20971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6</a:t>
            </a:r>
          </a:p>
        </p:txBody>
      </p:sp>
      <p:sp>
        <p:nvSpPr>
          <p:cNvPr id="123" name="Rectangle 122">
            <a:extLst>
              <a:ext uri="{FF2B5EF4-FFF2-40B4-BE49-F238E27FC236}">
                <a16:creationId xmlns:a16="http://schemas.microsoft.com/office/drawing/2014/main" id="{196CE975-760D-41D2-A852-6DE3AC3835BF}"/>
              </a:ext>
            </a:extLst>
          </p:cNvPr>
          <p:cNvSpPr/>
          <p:nvPr/>
        </p:nvSpPr>
        <p:spPr>
          <a:xfrm>
            <a:off x="4810323" y="4746348"/>
            <a:ext cx="1434170" cy="329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err="1"/>
              <a:t>RepresentationSet</a:t>
            </a:r>
            <a:endParaRPr lang="en-US" sz="1200" dirty="0"/>
          </a:p>
          <a:p>
            <a:endParaRPr lang="en-US" sz="1200" dirty="0"/>
          </a:p>
          <a:p>
            <a:endParaRPr lang="en-US" sz="1200" dirty="0"/>
          </a:p>
        </p:txBody>
      </p:sp>
      <p:cxnSp>
        <p:nvCxnSpPr>
          <p:cNvPr id="125" name="Straight Arrow Connector 124">
            <a:extLst>
              <a:ext uri="{FF2B5EF4-FFF2-40B4-BE49-F238E27FC236}">
                <a16:creationId xmlns:a16="http://schemas.microsoft.com/office/drawing/2014/main" id="{1385E8C9-B7C3-45C3-A04A-E916C85888B6}"/>
              </a:ext>
            </a:extLst>
          </p:cNvPr>
          <p:cNvCxnSpPr>
            <a:cxnSpLocks/>
          </p:cNvCxnSpPr>
          <p:nvPr/>
        </p:nvCxnSpPr>
        <p:spPr>
          <a:xfrm flipH="1" flipV="1">
            <a:off x="4266768" y="4043843"/>
            <a:ext cx="543554" cy="752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Rectangle: Rounded Corners 128">
            <a:extLst>
              <a:ext uri="{FF2B5EF4-FFF2-40B4-BE49-F238E27FC236}">
                <a16:creationId xmlns:a16="http://schemas.microsoft.com/office/drawing/2014/main" id="{8101AC6B-B332-4E31-A027-6CD66197EF58}"/>
              </a:ext>
            </a:extLst>
          </p:cNvPr>
          <p:cNvSpPr/>
          <p:nvPr/>
        </p:nvSpPr>
        <p:spPr>
          <a:xfrm>
            <a:off x="4700398" y="4664280"/>
            <a:ext cx="2098987" cy="4391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7</a:t>
            </a:r>
          </a:p>
        </p:txBody>
      </p:sp>
      <p:sp>
        <p:nvSpPr>
          <p:cNvPr id="130" name="Rectangle: Rounded Corners 129">
            <a:extLst>
              <a:ext uri="{FF2B5EF4-FFF2-40B4-BE49-F238E27FC236}">
                <a16:creationId xmlns:a16="http://schemas.microsoft.com/office/drawing/2014/main" id="{2E991BBE-6C31-4CB4-9C4C-B301377787B3}"/>
              </a:ext>
            </a:extLst>
          </p:cNvPr>
          <p:cNvSpPr/>
          <p:nvPr/>
        </p:nvSpPr>
        <p:spPr>
          <a:xfrm>
            <a:off x="8412405" y="5058317"/>
            <a:ext cx="2749841" cy="5211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b="1" dirty="0">
                <a:solidFill>
                  <a:srgbClr val="FF0000"/>
                </a:solidFill>
              </a:rPr>
              <a:t>7</a:t>
            </a:r>
          </a:p>
        </p:txBody>
      </p:sp>
      <p:sp>
        <p:nvSpPr>
          <p:cNvPr id="8" name="TextBox 7">
            <a:extLst>
              <a:ext uri="{FF2B5EF4-FFF2-40B4-BE49-F238E27FC236}">
                <a16:creationId xmlns:a16="http://schemas.microsoft.com/office/drawing/2014/main" id="{216ED3AC-B909-444C-B483-62CF9E8440F3}"/>
              </a:ext>
            </a:extLst>
          </p:cNvPr>
          <p:cNvSpPr txBox="1"/>
          <p:nvPr/>
        </p:nvSpPr>
        <p:spPr>
          <a:xfrm>
            <a:off x="4648413" y="965749"/>
            <a:ext cx="1557002" cy="55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dirty="0" err="1"/>
              <a:t>StratigraphicColumn</a:t>
            </a:r>
            <a:r>
              <a:rPr lang="en-US" dirty="0"/>
              <a:t> WPC</a:t>
            </a:r>
          </a:p>
        </p:txBody>
      </p:sp>
      <p:sp>
        <p:nvSpPr>
          <p:cNvPr id="14" name="TextBox 13">
            <a:extLst>
              <a:ext uri="{FF2B5EF4-FFF2-40B4-BE49-F238E27FC236}">
                <a16:creationId xmlns:a16="http://schemas.microsoft.com/office/drawing/2014/main" id="{13175651-8BF6-4071-BDCE-1B6C0B8ED199}"/>
              </a:ext>
            </a:extLst>
          </p:cNvPr>
          <p:cNvSpPr txBox="1"/>
          <p:nvPr/>
        </p:nvSpPr>
        <p:spPr>
          <a:xfrm>
            <a:off x="11162246" y="5172642"/>
            <a:ext cx="636985" cy="230832"/>
          </a:xfrm>
          <a:prstGeom prst="rect">
            <a:avLst/>
          </a:prstGeom>
          <a:noFill/>
        </p:spPr>
        <p:txBody>
          <a:bodyPr wrap="square" rtlCol="0">
            <a:spAutoFit/>
          </a:bodyPr>
          <a:lstStyle/>
          <a:p>
            <a:r>
              <a:rPr lang="en-US" sz="900" dirty="0"/>
              <a:t>In master</a:t>
            </a:r>
          </a:p>
        </p:txBody>
      </p:sp>
      <p:cxnSp>
        <p:nvCxnSpPr>
          <p:cNvPr id="53" name="Straight Arrow Connector 52">
            <a:extLst>
              <a:ext uri="{FF2B5EF4-FFF2-40B4-BE49-F238E27FC236}">
                <a16:creationId xmlns:a16="http://schemas.microsoft.com/office/drawing/2014/main" id="{FFEB841A-5ECE-4567-B34E-B431EC3ECAD6}"/>
              </a:ext>
            </a:extLst>
          </p:cNvPr>
          <p:cNvCxnSpPr>
            <a:cxnSpLocks/>
            <a:stCxn id="8" idx="1"/>
            <a:endCxn id="6" idx="3"/>
          </p:cNvCxnSpPr>
          <p:nvPr/>
        </p:nvCxnSpPr>
        <p:spPr>
          <a:xfrm flipH="1" flipV="1">
            <a:off x="4068660" y="790313"/>
            <a:ext cx="579753" cy="450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96913DF-8C7D-444C-8810-CF059F067AEC}"/>
              </a:ext>
            </a:extLst>
          </p:cNvPr>
          <p:cNvCxnSpPr>
            <a:stCxn id="83" idx="3"/>
          </p:cNvCxnSpPr>
          <p:nvPr/>
        </p:nvCxnSpPr>
        <p:spPr>
          <a:xfrm>
            <a:off x="6082043" y="5837022"/>
            <a:ext cx="1982053" cy="2239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2DC3278-30E9-4048-96C0-48312ACD6131}"/>
              </a:ext>
            </a:extLst>
          </p:cNvPr>
          <p:cNvCxnSpPr>
            <a:cxnSpLocks/>
            <a:stCxn id="82" idx="3"/>
          </p:cNvCxnSpPr>
          <p:nvPr/>
        </p:nvCxnSpPr>
        <p:spPr>
          <a:xfrm flipV="1">
            <a:off x="6752291" y="961292"/>
            <a:ext cx="977124" cy="14152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958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111CC6-8F55-079A-D8FB-D5A2505E0DDA}"/>
              </a:ext>
            </a:extLst>
          </p:cNvPr>
          <p:cNvSpPr>
            <a:spLocks noGrp="1"/>
          </p:cNvSpPr>
          <p:nvPr>
            <p:ph type="sldNum" sz="quarter" idx="12"/>
          </p:nvPr>
        </p:nvSpPr>
        <p:spPr/>
        <p:txBody>
          <a:bodyPr/>
          <a:lstStyle/>
          <a:p>
            <a:fld id="{4BBDA901-AC44-DA44-B86F-73C28EB4CF87}" type="slidenum">
              <a:rPr lang="en-GB" smtClean="0"/>
              <a:pPr/>
              <a:t>9</a:t>
            </a:fld>
            <a:endParaRPr lang="en-GB" dirty="0"/>
          </a:p>
        </p:txBody>
      </p:sp>
      <p:pic>
        <p:nvPicPr>
          <p:cNvPr id="1026" name="Picture 2">
            <a:extLst>
              <a:ext uri="{FF2B5EF4-FFF2-40B4-BE49-F238E27FC236}">
                <a16:creationId xmlns:a16="http://schemas.microsoft.com/office/drawing/2014/main" id="{118971DF-4872-CD45-20DC-F236FEF3CC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59925" y="601885"/>
            <a:ext cx="9045481" cy="5501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91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1A0E2-DC77-32E1-88D4-6D4A6307EC10}"/>
              </a:ext>
            </a:extLst>
          </p:cNvPr>
          <p:cNvSpPr>
            <a:spLocks noGrp="1"/>
          </p:cNvSpPr>
          <p:nvPr>
            <p:ph type="title"/>
          </p:nvPr>
        </p:nvSpPr>
        <p:spPr/>
        <p:txBody>
          <a:bodyPr>
            <a:normAutofit/>
          </a:bodyPr>
          <a:lstStyle/>
          <a:p>
            <a:r>
              <a:rPr lang="nb-NO" sz="2400" dirty="0"/>
              <a:t>Demo </a:t>
            </a:r>
            <a:r>
              <a:rPr lang="nb-NO" sz="2400" dirty="0" err="1"/>
              <a:t>Interoperability</a:t>
            </a:r>
            <a:r>
              <a:rPr lang="nb-NO" sz="2400" dirty="0"/>
              <a:t> (F2F Edinburgh 2024)</a:t>
            </a:r>
          </a:p>
        </p:txBody>
      </p:sp>
      <p:sp>
        <p:nvSpPr>
          <p:cNvPr id="3" name="Content Placeholder 2">
            <a:extLst>
              <a:ext uri="{FF2B5EF4-FFF2-40B4-BE49-F238E27FC236}">
                <a16:creationId xmlns:a16="http://schemas.microsoft.com/office/drawing/2014/main" id="{37E65DD7-4043-CE0F-7FEC-1806E79DD89C}"/>
              </a:ext>
            </a:extLst>
          </p:cNvPr>
          <p:cNvSpPr>
            <a:spLocks noGrp="1"/>
          </p:cNvSpPr>
          <p:nvPr>
            <p:ph idx="1"/>
          </p:nvPr>
        </p:nvSpPr>
        <p:spPr/>
        <p:txBody>
          <a:bodyPr>
            <a:normAutofit fontScale="25000" lnSpcReduction="20000"/>
          </a:bodyPr>
          <a:lstStyle/>
          <a:p>
            <a:r>
              <a:rPr lang="nb-NO" sz="6400" dirty="0" err="1"/>
              <a:t>Generated</a:t>
            </a:r>
            <a:r>
              <a:rPr lang="nb-NO" sz="6400" dirty="0"/>
              <a:t> WPC </a:t>
            </a:r>
            <a:r>
              <a:rPr lang="nb-NO" sz="6400" dirty="0" err="1"/>
              <a:t>SeismicHorizon</a:t>
            </a:r>
            <a:r>
              <a:rPr lang="nb-NO" sz="6400" dirty="0"/>
              <a:t> manifest from RESQML 2.0.1 </a:t>
            </a:r>
            <a:r>
              <a:rPr lang="nb-NO" sz="6400" dirty="0" err="1"/>
              <a:t>HorizonInterpretation</a:t>
            </a:r>
            <a:r>
              <a:rPr lang="nb-NO" sz="6400" dirty="0"/>
              <a:t>, </a:t>
            </a:r>
            <a:r>
              <a:rPr lang="nb-NO" sz="6400" dirty="0" err="1"/>
              <a:t>BinGrid</a:t>
            </a:r>
            <a:r>
              <a:rPr lang="nb-NO" sz="6400" dirty="0"/>
              <a:t> data</a:t>
            </a:r>
          </a:p>
          <a:p>
            <a:endParaRPr lang="nb-NO" sz="3600" dirty="0">
              <a:solidFill>
                <a:schemeClr val="tx1"/>
              </a:solidFill>
            </a:endParaRPr>
          </a:p>
          <a:p>
            <a:pPr marL="0" indent="0">
              <a:buNone/>
            </a:pPr>
            <a:r>
              <a:rPr lang="nb-NO" b="0" dirty="0">
                <a:solidFill>
                  <a:schemeClr val="tx1"/>
                </a:solidFill>
                <a:effectLst/>
                <a:latin typeface="Consolas" panose="020B0609020204030204" pitchFamily="49" charset="0"/>
              </a:rPr>
              <a:t>                </a:t>
            </a:r>
            <a:r>
              <a:rPr lang="nb-NO" sz="3600" b="0" dirty="0">
                <a:solidFill>
                  <a:schemeClr val="tx1"/>
                </a:solidFill>
                <a:effectLst/>
                <a:latin typeface="Consolas" panose="020B0609020204030204" pitchFamily="49" charset="0"/>
              </a:rPr>
              <a:t>{ …</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kind</a:t>
            </a: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osdu:wks:work-product-component</a:t>
            </a:r>
            <a:r>
              <a:rPr lang="nb-NO" sz="3600" b="0" dirty="0">
                <a:solidFill>
                  <a:schemeClr val="tx1"/>
                </a:solidFill>
                <a:effectLst/>
                <a:latin typeface="Consolas" panose="020B0609020204030204" pitchFamily="49" charset="0"/>
              </a:rPr>
              <a:t>--SeismicHorizon:1.2.0",</a:t>
            </a:r>
          </a:p>
          <a:p>
            <a:pPr marL="0" indent="0">
              <a:buNone/>
            </a:pPr>
            <a:r>
              <a:rPr lang="nb-NO" sz="3600" b="0" dirty="0">
                <a:solidFill>
                  <a:schemeClr val="tx1"/>
                </a:solidFill>
                <a:effectLst/>
                <a:latin typeface="Consolas" panose="020B0609020204030204" pitchFamily="49" charset="0"/>
              </a:rPr>
              <a:t>                    "id": "</a:t>
            </a:r>
            <a:r>
              <a:rPr lang="nb-NO" sz="3600" b="0" dirty="0" err="1">
                <a:solidFill>
                  <a:schemeClr val="tx1"/>
                </a:solidFill>
                <a:effectLst/>
                <a:latin typeface="Consolas" panose="020B0609020204030204" pitchFamily="49" charset="0"/>
              </a:rPr>
              <a:t>npequinor-dev:work-product-component</a:t>
            </a:r>
            <a:r>
              <a:rPr lang="nb-NO" sz="3600" b="0" dirty="0">
                <a:solidFill>
                  <a:schemeClr val="tx1"/>
                </a:solidFill>
                <a:effectLst/>
                <a:latin typeface="Consolas" panose="020B0609020204030204" pitchFamily="49" charset="0"/>
              </a:rPr>
              <a:t>--SeismicHorizon:098bbfc0-d892-4fb8-b99d-994038a706d8",</a:t>
            </a:r>
          </a:p>
          <a:p>
            <a:pPr marL="0" indent="0">
              <a:buNone/>
            </a:pPr>
            <a:r>
              <a:rPr lang="nb-NO" sz="3600" b="0" dirty="0">
                <a:solidFill>
                  <a:schemeClr val="tx1"/>
                </a:solidFill>
                <a:effectLst/>
                <a:latin typeface="Consolas" panose="020B0609020204030204" pitchFamily="49" charset="0"/>
              </a:rPr>
              <a:t>                    "data": {</a:t>
            </a:r>
          </a:p>
          <a:p>
            <a:pPr marL="0" indent="0">
              <a:buNone/>
            </a:pPr>
            <a:r>
              <a:rPr lang="nb-NO" sz="3600" b="0" dirty="0">
                <a:solidFill>
                  <a:schemeClr val="tx1"/>
                </a:solidFill>
                <a:effectLst/>
                <a:latin typeface="Consolas" panose="020B0609020204030204" pitchFamily="49" charset="0"/>
              </a:rPr>
              <a:t>                       …</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Datasets</a:t>
            </a: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npequinor-dev:dataset</a:t>
            </a:r>
            <a:r>
              <a:rPr lang="nb-NO" sz="3600" b="0" dirty="0">
                <a:solidFill>
                  <a:schemeClr val="tx1"/>
                </a:solidFill>
                <a:effectLst/>
                <a:latin typeface="Consolas" panose="020B0609020204030204" pitchFamily="49" charset="0"/>
              </a:rPr>
              <a:t>--</a:t>
            </a:r>
            <a:r>
              <a:rPr lang="nb-NO" sz="3600" b="0" dirty="0" err="1">
                <a:solidFill>
                  <a:schemeClr val="tx1"/>
                </a:solidFill>
                <a:effectLst/>
                <a:latin typeface="Consolas" panose="020B0609020204030204" pitchFamily="49" charset="0"/>
              </a:rPr>
              <a:t>ETPDataspace:demo-volve-sh</a:t>
            </a:r>
            <a:r>
              <a:rPr lang="nb-NO" sz="3600" b="0" dirty="0">
                <a:solidFill>
                  <a:schemeClr val="tx1"/>
                </a:solidFill>
                <a:effectLst/>
                <a:latin typeface="Consolas" panose="020B0609020204030204" pitchFamily="49" charset="0"/>
              </a:rPr>
              <a:t>:"],</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DDMSDatasets</a:t>
            </a: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eml</a:t>
            </a:r>
            <a:r>
              <a:rPr lang="nb-NO" sz="3600" b="0" dirty="0">
                <a:solidFill>
                  <a:schemeClr val="tx1"/>
                </a:solidFill>
                <a:effectLst/>
                <a:latin typeface="Consolas" panose="020B0609020204030204" pitchFamily="49" charset="0"/>
              </a:rPr>
              <a:t>://reservoir-ddms1/</a:t>
            </a:r>
            <a:r>
              <a:rPr lang="nb-NO" sz="3600" b="0" dirty="0" err="1">
                <a:solidFill>
                  <a:schemeClr val="tx1"/>
                </a:solidFill>
                <a:effectLst/>
                <a:latin typeface="Consolas" panose="020B0609020204030204" pitchFamily="49" charset="0"/>
              </a:rPr>
              <a:t>dataspace</a:t>
            </a:r>
            <a:r>
              <a:rPr lang="nb-NO" sz="3600" b="0" dirty="0">
                <a:solidFill>
                  <a:schemeClr val="tx1"/>
                </a:solidFill>
                <a:effectLst/>
                <a:latin typeface="Consolas" panose="020B0609020204030204" pitchFamily="49" charset="0"/>
              </a:rPr>
              <a:t>('demo/volve-</a:t>
            </a:r>
            <a:r>
              <a:rPr lang="nb-NO" sz="3600" b="0" dirty="0" err="1">
                <a:solidFill>
                  <a:schemeClr val="tx1"/>
                </a:solidFill>
                <a:effectLst/>
                <a:latin typeface="Consolas" panose="020B0609020204030204" pitchFamily="49" charset="0"/>
              </a:rPr>
              <a:t>sh</a:t>
            </a:r>
            <a:r>
              <a:rPr lang="nb-NO" sz="3600" b="0" dirty="0">
                <a:solidFill>
                  <a:schemeClr val="tx1"/>
                </a:solidFill>
                <a:effectLst/>
                <a:latin typeface="Consolas" panose="020B0609020204030204" pitchFamily="49" charset="0"/>
              </a:rPr>
              <a:t>')/resqml20.obj_Grid2dRepresentation(098bbfc0-d892-4fb8-b99d-994038a706d8)«],</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IsDiscoverable</a:t>
            </a:r>
            <a:r>
              <a:rPr lang="nb-NO" sz="3600" b="0" dirty="0">
                <a:solidFill>
                  <a:schemeClr val="tx1"/>
                </a:solidFill>
                <a:effectLst/>
                <a:latin typeface="Consolas" panose="020B0609020204030204" pitchFamily="49" charset="0"/>
              </a:rPr>
              <a:t>": true, </a:t>
            </a:r>
          </a:p>
          <a:p>
            <a:pPr marL="0" indent="0">
              <a:buNone/>
            </a:pPr>
            <a:endParaRPr lang="nb-NO" sz="3600" dirty="0">
              <a:solidFill>
                <a:schemeClr val="tx1"/>
              </a:solidFill>
              <a:latin typeface="Consolas" panose="020B0609020204030204" pitchFamily="49" charset="0"/>
            </a:endParaRPr>
          </a:p>
          <a:p>
            <a:pPr marL="0" indent="0">
              <a:buNone/>
            </a:pPr>
            <a:r>
              <a:rPr lang="nb-NO" sz="3600" b="0" dirty="0">
                <a:solidFill>
                  <a:schemeClr val="tx1"/>
                </a:solidFill>
                <a:effectLst/>
                <a:latin typeface="Consolas" panose="020B0609020204030204" pitchFamily="49" charset="0"/>
              </a:rPr>
              <a:t>		…</a:t>
            </a:r>
          </a:p>
          <a:p>
            <a:pPr marL="0" indent="0">
              <a:buNone/>
            </a:pPr>
            <a:endParaRPr lang="nb-NO" sz="3600" b="0" dirty="0">
              <a:solidFill>
                <a:schemeClr val="tx1"/>
              </a:solidFill>
              <a:effectLst/>
              <a:latin typeface="Consolas" panose="020B0609020204030204" pitchFamily="49" charset="0"/>
            </a:endParaRP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BinGridID</a:t>
            </a: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npequinor-dev:work-product-component</a:t>
            </a:r>
            <a:r>
              <a:rPr lang="nb-NO" sz="3600" b="0" dirty="0">
                <a:solidFill>
                  <a:schemeClr val="tx1"/>
                </a:solidFill>
                <a:effectLst/>
                <a:latin typeface="Consolas" panose="020B0609020204030204" pitchFamily="49" charset="0"/>
              </a:rPr>
              <a:t>--SeismicBinGrid:975c6d8d-6eed-4025-a3a7-7078380f4695:",</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CrosslineMin</a:t>
            </a:r>
            <a:r>
              <a:rPr lang="nb-NO" sz="3600" b="0" dirty="0">
                <a:solidFill>
                  <a:schemeClr val="tx1"/>
                </a:solidFill>
                <a:effectLst/>
                <a:latin typeface="Consolas" panose="020B0609020204030204" pitchFamily="49" charset="0"/>
              </a:rPr>
              <a:t>": 0,</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CrosslineMax</a:t>
            </a:r>
            <a:r>
              <a:rPr lang="nb-NO" sz="3600" b="0" dirty="0">
                <a:solidFill>
                  <a:schemeClr val="tx1"/>
                </a:solidFill>
                <a:effectLst/>
                <a:latin typeface="Consolas" panose="020B0609020204030204" pitchFamily="49" charset="0"/>
              </a:rPr>
              <a:t>": 761,</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GeologicalUnitName</a:t>
            </a:r>
            <a:r>
              <a:rPr lang="nb-NO" sz="3600" b="0" dirty="0">
                <a:solidFill>
                  <a:schemeClr val="tx1"/>
                </a:solidFill>
                <a:effectLst/>
                <a:latin typeface="Consolas" panose="020B0609020204030204" pitchFamily="49" charset="0"/>
              </a:rPr>
              <a:t>": "TY",</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IndexableElementCount</a:t>
            </a:r>
            <a:r>
              <a:rPr lang="nb-NO" sz="3600" b="0" dirty="0">
                <a:solidFill>
                  <a:schemeClr val="tx1"/>
                </a:solidFill>
                <a:effectLst/>
                <a:latin typeface="Consolas" panose="020B0609020204030204" pitchFamily="49" charset="0"/>
              </a:rPr>
              <a:t>": [</a:t>
            </a:r>
          </a:p>
          <a:p>
            <a:pPr marL="0" indent="0">
              <a:buNone/>
            </a:pPr>
            <a:r>
              <a:rPr lang="nb-NO" sz="3600" b="0" dirty="0">
                <a:solidFill>
                  <a:schemeClr val="tx1"/>
                </a:solidFill>
                <a:effectLst/>
                <a:latin typeface="Consolas" panose="020B0609020204030204" pitchFamily="49" charset="0"/>
              </a:rPr>
              <a:t>                            {</a:t>
            </a:r>
          </a:p>
          <a:p>
            <a:pPr marL="0" indent="0">
              <a:buNone/>
            </a:pPr>
            <a:r>
              <a:rPr lang="nb-NO" sz="3600" b="0" dirty="0">
                <a:solidFill>
                  <a:schemeClr val="tx1"/>
                </a:solidFill>
                <a:effectLst/>
                <a:latin typeface="Consolas" panose="020B0609020204030204" pitchFamily="49" charset="0"/>
              </a:rPr>
              <a:t>                                "Count": 329513,</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IndexableElementID</a:t>
            </a: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npequinor-dev:reference-data</a:t>
            </a:r>
            <a:r>
              <a:rPr lang="nb-NO" sz="3600" b="0" dirty="0">
                <a:solidFill>
                  <a:schemeClr val="tx1"/>
                </a:solidFill>
                <a:effectLst/>
                <a:latin typeface="Consolas" panose="020B0609020204030204" pitchFamily="49" charset="0"/>
              </a:rPr>
              <a:t>--</a:t>
            </a:r>
            <a:r>
              <a:rPr lang="nb-NO" sz="3600" b="0" dirty="0" err="1">
                <a:solidFill>
                  <a:schemeClr val="tx1"/>
                </a:solidFill>
                <a:effectLst/>
                <a:latin typeface="Consolas" panose="020B0609020204030204" pitchFamily="49" charset="0"/>
              </a:rPr>
              <a:t>IndexableElement:Nodes</a:t>
            </a:r>
            <a:r>
              <a:rPr lang="nb-NO" sz="3600" b="0" dirty="0">
                <a:solidFill>
                  <a:schemeClr val="tx1"/>
                </a:solidFill>
                <a:effectLst/>
                <a:latin typeface="Consolas" panose="020B0609020204030204" pitchFamily="49" charset="0"/>
              </a:rPr>
              <a:t>:"</a:t>
            </a:r>
          </a:p>
          <a:p>
            <a:pPr marL="0" indent="0">
              <a:buNone/>
            </a:pPr>
            <a:r>
              <a:rPr lang="nb-NO" sz="3600" b="0" dirty="0">
                <a:solidFill>
                  <a:schemeClr val="tx1"/>
                </a:solidFill>
                <a:effectLst/>
                <a:latin typeface="Consolas" panose="020B0609020204030204" pitchFamily="49" charset="0"/>
              </a:rPr>
              <a:t>                            }</a:t>
            </a:r>
          </a:p>
          <a:p>
            <a:pPr marL="0" indent="0">
              <a:buNone/>
            </a:pPr>
            <a:r>
              <a:rPr lang="nb-NO" sz="3600" b="0" dirty="0">
                <a:solidFill>
                  <a:schemeClr val="tx1"/>
                </a:solidFill>
                <a:effectLst/>
                <a:latin typeface="Consolas" panose="020B0609020204030204" pitchFamily="49" charset="0"/>
              </a:rPr>
              <a:t>                        ],</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InlineMax</a:t>
            </a:r>
            <a:r>
              <a:rPr lang="nb-NO" sz="3600" b="0" dirty="0">
                <a:solidFill>
                  <a:schemeClr val="tx1"/>
                </a:solidFill>
                <a:effectLst/>
                <a:latin typeface="Consolas" panose="020B0609020204030204" pitchFamily="49" charset="0"/>
              </a:rPr>
              <a:t>": 433,</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InlineMin</a:t>
            </a:r>
            <a:r>
              <a:rPr lang="nb-NO" sz="3600" b="0" dirty="0">
                <a:solidFill>
                  <a:schemeClr val="tx1"/>
                </a:solidFill>
                <a:effectLst/>
                <a:latin typeface="Consolas" panose="020B0609020204030204" pitchFamily="49" charset="0"/>
              </a:rPr>
              <a:t>": 0,</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InterpretationID</a:t>
            </a: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npequinor-dev:work-product-component</a:t>
            </a:r>
            <a:r>
              <a:rPr lang="nb-NO" sz="3600" b="0" dirty="0">
                <a:solidFill>
                  <a:schemeClr val="tx1"/>
                </a:solidFill>
                <a:effectLst/>
                <a:latin typeface="Consolas" panose="020B0609020204030204" pitchFamily="49" charset="0"/>
              </a:rPr>
              <a:t>--HorizonInterpretation:6dbd45f3-82cb-4b7b-a9dc-f9a671c8939f:",</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InterpretationName</a:t>
            </a:r>
            <a:r>
              <a:rPr lang="nb-NO" sz="3600" b="0" dirty="0">
                <a:solidFill>
                  <a:schemeClr val="tx1"/>
                </a:solidFill>
                <a:effectLst/>
                <a:latin typeface="Consolas" panose="020B0609020204030204" pitchFamily="49" charset="0"/>
              </a:rPr>
              <a:t>": «volve",</a:t>
            </a:r>
          </a:p>
          <a:p>
            <a:pPr marL="0" indent="0">
              <a:buNone/>
            </a:pP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LocalModelCompoundCrsID</a:t>
            </a:r>
            <a:r>
              <a:rPr lang="nb-NO" sz="3600" b="0" dirty="0">
                <a:solidFill>
                  <a:schemeClr val="tx1"/>
                </a:solidFill>
                <a:effectLst/>
                <a:latin typeface="Consolas" panose="020B0609020204030204" pitchFamily="49" charset="0"/>
              </a:rPr>
              <a:t>": "</a:t>
            </a:r>
            <a:r>
              <a:rPr lang="nb-NO" sz="3600" b="0" dirty="0" err="1">
                <a:solidFill>
                  <a:schemeClr val="tx1"/>
                </a:solidFill>
                <a:effectLst/>
                <a:latin typeface="Consolas" panose="020B0609020204030204" pitchFamily="49" charset="0"/>
              </a:rPr>
              <a:t>npequinor-dev:work-product-component</a:t>
            </a:r>
            <a:r>
              <a:rPr lang="nb-NO" sz="3600" b="0" dirty="0">
                <a:solidFill>
                  <a:schemeClr val="tx1"/>
                </a:solidFill>
                <a:effectLst/>
                <a:latin typeface="Consolas" panose="020B0609020204030204" pitchFamily="49" charset="0"/>
              </a:rPr>
              <a:t>--LocalModelCompoundCrs:aab87b9e-32c1-4949-811f-6b72a55462ea:"</a:t>
            </a:r>
          </a:p>
          <a:p>
            <a:pPr marL="0" indent="0">
              <a:buNone/>
            </a:pPr>
            <a:r>
              <a:rPr lang="nb-NO" sz="3600" b="0" dirty="0">
                <a:solidFill>
                  <a:schemeClr val="tx1"/>
                </a:solidFill>
                <a:effectLst/>
                <a:latin typeface="Consolas" panose="020B0609020204030204" pitchFamily="49" charset="0"/>
              </a:rPr>
              <a:t>                    }</a:t>
            </a:r>
          </a:p>
          <a:p>
            <a:pPr marL="0" indent="0">
              <a:buNone/>
            </a:pPr>
            <a:r>
              <a:rPr lang="nb-NO" sz="3600" b="0" dirty="0">
                <a:solidFill>
                  <a:schemeClr val="tx1"/>
                </a:solidFill>
                <a:effectLst/>
                <a:latin typeface="Consolas" panose="020B0609020204030204" pitchFamily="49" charset="0"/>
              </a:rPr>
              <a:t>                },</a:t>
            </a:r>
          </a:p>
          <a:p>
            <a:pPr marL="0" indent="0">
              <a:buNone/>
            </a:pPr>
            <a:r>
              <a:rPr lang="nb-NO" sz="4000" dirty="0">
                <a:solidFill>
                  <a:schemeClr val="tx1"/>
                </a:solidFill>
              </a:rPr>
              <a:t>                        …</a:t>
            </a:r>
          </a:p>
          <a:p>
            <a:endParaRPr lang="nb-NO" dirty="0"/>
          </a:p>
        </p:txBody>
      </p:sp>
      <p:sp>
        <p:nvSpPr>
          <p:cNvPr id="4" name="Slide Number Placeholder 3">
            <a:extLst>
              <a:ext uri="{FF2B5EF4-FFF2-40B4-BE49-F238E27FC236}">
                <a16:creationId xmlns:a16="http://schemas.microsoft.com/office/drawing/2014/main" id="{258E8683-6326-10B6-7B4E-70E41B98A15D}"/>
              </a:ext>
            </a:extLst>
          </p:cNvPr>
          <p:cNvSpPr>
            <a:spLocks noGrp="1"/>
          </p:cNvSpPr>
          <p:nvPr>
            <p:ph type="sldNum" sz="quarter" idx="12"/>
          </p:nvPr>
        </p:nvSpPr>
        <p:spPr/>
        <p:txBody>
          <a:bodyPr/>
          <a:lstStyle/>
          <a:p>
            <a:fld id="{4BBDA901-AC44-DA44-B86F-73C28EB4CF87}" type="slidenum">
              <a:rPr lang="en-GB" smtClean="0"/>
              <a:pPr/>
              <a:t>10</a:t>
            </a:fld>
            <a:endParaRPr lang="en-GB" dirty="0"/>
          </a:p>
        </p:txBody>
      </p:sp>
    </p:spTree>
    <p:extLst>
      <p:ext uri="{BB962C8B-B14F-4D97-AF65-F5344CB8AC3E}">
        <p14:creationId xmlns:p14="http://schemas.microsoft.com/office/powerpoint/2010/main" val="2954038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987C-C99E-7173-138B-E5763CBCC983}"/>
              </a:ext>
            </a:extLst>
          </p:cNvPr>
          <p:cNvSpPr>
            <a:spLocks noGrp="1"/>
          </p:cNvSpPr>
          <p:nvPr>
            <p:ph type="title"/>
          </p:nvPr>
        </p:nvSpPr>
        <p:spPr/>
        <p:txBody>
          <a:bodyPr>
            <a:normAutofit/>
          </a:bodyPr>
          <a:lstStyle/>
          <a:p>
            <a:r>
              <a:rPr lang="en-US" sz="2400" dirty="0"/>
              <a:t>Demo: </a:t>
            </a:r>
            <a:r>
              <a:rPr lang="en-US" sz="2400" dirty="0" err="1"/>
              <a:t>SeismicHorizons</a:t>
            </a:r>
            <a:r>
              <a:rPr lang="en-US" sz="2400" dirty="0"/>
              <a:t> in RDDMS, RESQML2.2 </a:t>
            </a:r>
            <a:r>
              <a:rPr lang="en-US" sz="2400" dirty="0" err="1"/>
              <a:t>json</a:t>
            </a:r>
            <a:r>
              <a:rPr lang="en-US" sz="2400" dirty="0"/>
              <a:t>, 3 options</a:t>
            </a:r>
            <a:endParaRPr lang="nb-NO" sz="2400" dirty="0"/>
          </a:p>
        </p:txBody>
      </p:sp>
      <p:sp>
        <p:nvSpPr>
          <p:cNvPr id="3" name="Content Placeholder 2">
            <a:extLst>
              <a:ext uri="{FF2B5EF4-FFF2-40B4-BE49-F238E27FC236}">
                <a16:creationId xmlns:a16="http://schemas.microsoft.com/office/drawing/2014/main" id="{D562C448-A5FC-7854-FE05-41A3E405DAF5}"/>
              </a:ext>
            </a:extLst>
          </p:cNvPr>
          <p:cNvSpPr>
            <a:spLocks noGrp="1"/>
          </p:cNvSpPr>
          <p:nvPr>
            <p:ph idx="1"/>
          </p:nvPr>
        </p:nvSpPr>
        <p:spPr>
          <a:xfrm>
            <a:off x="475593" y="1324304"/>
            <a:ext cx="10972800" cy="4525963"/>
          </a:xfrm>
        </p:spPr>
        <p:txBody>
          <a:bodyPr>
            <a:normAutofit fontScale="77500" lnSpcReduction="20000"/>
          </a:bodyPr>
          <a:lstStyle/>
          <a:p>
            <a:r>
              <a:rPr lang="en-US" sz="2000" dirty="0"/>
              <a:t>Horizon defined as a set of Z values on top of a regular grid of X and Y values. But, the same flexibility of the </a:t>
            </a:r>
            <a:r>
              <a:rPr lang="en-US" sz="2000" dirty="0" err="1"/>
              <a:t>Resqml</a:t>
            </a:r>
            <a:r>
              <a:rPr lang="en-US" sz="2000" dirty="0"/>
              <a:t> data model applies to arbitrary set of points (with no XY structures), 2d lines. It also applies to faults and includes triangles, </a:t>
            </a:r>
            <a:r>
              <a:rPr lang="en-US" sz="2000" dirty="0" err="1"/>
              <a:t>polyhedra</a:t>
            </a:r>
            <a:r>
              <a:rPr lang="en-US" sz="2000" dirty="0"/>
              <a:t>, etc.</a:t>
            </a:r>
          </a:p>
          <a:p>
            <a:endParaRPr lang="en-US" sz="2000" dirty="0"/>
          </a:p>
          <a:p>
            <a:pPr marL="457200" indent="-457200">
              <a:buFont typeface="+mj-lt"/>
              <a:buAutoNum type="arabicPeriod"/>
            </a:pPr>
            <a:r>
              <a:rPr lang="en-US" sz="2000" dirty="0"/>
              <a:t>Horizon with inline X, Y, Z Values.</a:t>
            </a:r>
            <a:br>
              <a:rPr lang="en-US" sz="2000" dirty="0"/>
            </a:br>
            <a:r>
              <a:rPr lang="en-US" sz="1700" dirty="0"/>
              <a:t>The first file </a:t>
            </a:r>
            <a:r>
              <a:rPr lang="en-US" sz="1700" dirty="0" err="1"/>
              <a:t>testHorizonEverythingIncluded.json</a:t>
            </a:r>
            <a:r>
              <a:rPr lang="en-US" sz="1700" dirty="0"/>
              <a:t> contains an array of objects, the first object is the horizon itself, and the other ones are the objects this horizons may be referencing. Note that these objects (Coordinate Reference System, Interpretation and Features) are links so they are typically sent one time, then horizons can attach to them. Besides the coordinate system information, everything in references is optional. The horizon itself is a simple one, with a single patch. The patch is defined using two vectors for X and Y coordinates.</a:t>
            </a:r>
          </a:p>
          <a:p>
            <a:pPr marL="457200" indent="-457200">
              <a:buFont typeface="+mj-lt"/>
              <a:buAutoNum type="arabicPeriod"/>
            </a:pPr>
            <a:r>
              <a:rPr lang="en-US" sz="2000" dirty="0"/>
              <a:t>Horizon referencing a </a:t>
            </a:r>
            <a:r>
              <a:rPr lang="en-US" sz="2000" dirty="0" err="1"/>
              <a:t>BinGrid</a:t>
            </a:r>
            <a:br>
              <a:rPr lang="en-US" sz="2000" dirty="0"/>
            </a:br>
            <a:r>
              <a:rPr lang="en-US" sz="1700" dirty="0"/>
              <a:t>The second file </a:t>
            </a:r>
            <a:r>
              <a:rPr lang="en-US" sz="1700" dirty="0" err="1"/>
              <a:t>testHorizonReferencingBinGrid.json</a:t>
            </a:r>
            <a:r>
              <a:rPr lang="en-US" sz="1700" dirty="0"/>
              <a:t> shows a horizon that references an external grid. Unlike the previous geometry where the X and Y are vector based, this defines the supporting geometry X an Y coordinates as a window inside an existing </a:t>
            </a:r>
            <a:r>
              <a:rPr lang="en-US" sz="1700" dirty="0" err="1"/>
              <a:t>BinGrid</a:t>
            </a:r>
            <a:r>
              <a:rPr lang="en-US" sz="1700" dirty="0"/>
              <a:t>. It contains just the horizon.</a:t>
            </a:r>
          </a:p>
          <a:p>
            <a:pPr marL="457200" indent="-457200">
              <a:buFont typeface="+mj-lt"/>
              <a:buAutoNum type="arabicPeriod"/>
            </a:pPr>
            <a:r>
              <a:rPr lang="en-US" sz="2000" dirty="0"/>
              <a:t>Horizon referencing data inside an Excel spreadsheet</a:t>
            </a:r>
            <a:br>
              <a:rPr lang="en-US" sz="2000" dirty="0"/>
            </a:br>
            <a:r>
              <a:rPr lang="en-US" sz="1700" dirty="0"/>
              <a:t>In order to demonstrate how we can reuse an existing file, the third file </a:t>
            </a:r>
            <a:r>
              <a:rPr lang="en-US" sz="1700" dirty="0" err="1"/>
              <a:t>testHorizonReferencingXL.json</a:t>
            </a:r>
            <a:r>
              <a:rPr lang="en-US" sz="1700" dirty="0"/>
              <a:t> shows a horizon that references an external Excel file. The Z coordinates are defined using a given column in a given sheet of a spreadsheet. Other file types can be used, such as CSV, SEGY but the principle is the same, we just need to define the rule of how to extract the data from the file (</a:t>
            </a:r>
            <a:r>
              <a:rPr lang="en-US" sz="1700" dirty="0" err="1"/>
              <a:t>e.g</a:t>
            </a:r>
            <a:r>
              <a:rPr lang="en-US" sz="1700" dirty="0"/>
              <a:t> sheet name, column and row indices, etc.)</a:t>
            </a:r>
          </a:p>
          <a:p>
            <a:pPr marL="457200" indent="-457200">
              <a:buFont typeface="+mj-lt"/>
              <a:buAutoNum type="arabicPeriod"/>
            </a:pPr>
            <a:endParaRPr lang="en-US" sz="2000" dirty="0"/>
          </a:p>
          <a:p>
            <a:pPr marL="0" indent="0">
              <a:buNone/>
            </a:pPr>
            <a:r>
              <a:rPr lang="en-US" sz="2000" dirty="0">
                <a:hlinkClick r:id="rId3"/>
              </a:rPr>
              <a:t>Sources: https://gitlab.opengroup.org/osdu/subcommittees/data-def/projects/reservoir/docs/-/blob/e3200f7f453246a4fd7ab1caa6ae41fe6d5b507b/Presentations/Seismic%20Horizon%20presentations/testSeismicHorizonResqml.zip</a:t>
            </a:r>
            <a:endParaRPr lang="en-US" sz="2000" dirty="0"/>
          </a:p>
          <a:p>
            <a:pPr marL="457200" indent="-457200">
              <a:buFont typeface="+mj-lt"/>
              <a:buAutoNum type="arabicPeriod"/>
            </a:pPr>
            <a:endParaRPr lang="en-US" sz="2000" dirty="0"/>
          </a:p>
        </p:txBody>
      </p:sp>
      <p:sp>
        <p:nvSpPr>
          <p:cNvPr id="4" name="Slide Number Placeholder 3">
            <a:extLst>
              <a:ext uri="{FF2B5EF4-FFF2-40B4-BE49-F238E27FC236}">
                <a16:creationId xmlns:a16="http://schemas.microsoft.com/office/drawing/2014/main" id="{BC8FBF92-BB67-9196-1C2A-A77F3D0B54F6}"/>
              </a:ext>
            </a:extLst>
          </p:cNvPr>
          <p:cNvSpPr>
            <a:spLocks noGrp="1"/>
          </p:cNvSpPr>
          <p:nvPr>
            <p:ph type="sldNum" sz="quarter" idx="12"/>
          </p:nvPr>
        </p:nvSpPr>
        <p:spPr/>
        <p:txBody>
          <a:bodyPr/>
          <a:lstStyle/>
          <a:p>
            <a:fld id="{4BBDA901-AC44-DA44-B86F-73C28EB4CF87}" type="slidenum">
              <a:rPr lang="en-GB" smtClean="0"/>
              <a:pPr/>
              <a:t>11</a:t>
            </a:fld>
            <a:endParaRPr lang="en-GB" dirty="0"/>
          </a:p>
        </p:txBody>
      </p:sp>
    </p:spTree>
    <p:extLst>
      <p:ext uri="{BB962C8B-B14F-4D97-AF65-F5344CB8AC3E}">
        <p14:creationId xmlns:p14="http://schemas.microsoft.com/office/powerpoint/2010/main" val="156787245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E89CC5-4086-43FC-9BCB-12442EB6F82E}"/>
              </a:ext>
            </a:extLst>
          </p:cNvPr>
          <p:cNvSpPr>
            <a:spLocks noGrp="1"/>
          </p:cNvSpPr>
          <p:nvPr>
            <p:ph type="title"/>
          </p:nvPr>
        </p:nvSpPr>
        <p:spPr/>
        <p:txBody>
          <a:bodyPr vert="horz" lIns="91440" tIns="45720" rIns="91440" bIns="45720" rtlCol="0" anchor="ctr">
            <a:normAutofit/>
          </a:bodyPr>
          <a:lstStyle/>
          <a:p>
            <a:r>
              <a:rPr lang="en-US" dirty="0"/>
              <a:t>Multi-survey picking</a:t>
            </a:r>
          </a:p>
        </p:txBody>
      </p:sp>
      <p:pic>
        <p:nvPicPr>
          <p:cNvPr id="9" name="Picture 5" descr="image005">
            <a:extLst>
              <a:ext uri="{FF2B5EF4-FFF2-40B4-BE49-F238E27FC236}">
                <a16:creationId xmlns:a16="http://schemas.microsoft.com/office/drawing/2014/main" id="{00927BAE-5AF4-4228-A057-AE6A145A6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1731" y="2368766"/>
            <a:ext cx="4856872" cy="2904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Connector: Elbow 10">
            <a:extLst>
              <a:ext uri="{FF2B5EF4-FFF2-40B4-BE49-F238E27FC236}">
                <a16:creationId xmlns:a16="http://schemas.microsoft.com/office/drawing/2014/main" id="{8828FE08-EE5F-4C4D-A0D7-B677D82E3D70}"/>
              </a:ext>
            </a:extLst>
          </p:cNvPr>
          <p:cNvCxnSpPr/>
          <p:nvPr/>
        </p:nvCxnSpPr>
        <p:spPr>
          <a:xfrm flipV="1">
            <a:off x="5871411" y="2868328"/>
            <a:ext cx="2473692" cy="1174283"/>
          </a:xfrm>
          <a:prstGeom prst="bentConnector3">
            <a:avLst>
              <a:gd name="adj1" fmla="val 39105"/>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C07C57A-0964-4227-AF8D-C6B85B377601}"/>
              </a:ext>
            </a:extLst>
          </p:cNvPr>
          <p:cNvCxnSpPr>
            <a:cxnSpLocks/>
          </p:cNvCxnSpPr>
          <p:nvPr/>
        </p:nvCxnSpPr>
        <p:spPr>
          <a:xfrm flipV="1">
            <a:off x="5862820" y="3667226"/>
            <a:ext cx="4214831" cy="375385"/>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3AE4EDA-20AB-41DD-81B5-B6DCB2FDEEBB}"/>
              </a:ext>
            </a:extLst>
          </p:cNvPr>
          <p:cNvSpPr txBox="1"/>
          <p:nvPr/>
        </p:nvSpPr>
        <p:spPr>
          <a:xfrm>
            <a:off x="7062553" y="2527872"/>
            <a:ext cx="1321728" cy="369332"/>
          </a:xfrm>
          <a:prstGeom prst="rect">
            <a:avLst/>
          </a:prstGeom>
          <a:noFill/>
        </p:spPr>
        <p:txBody>
          <a:bodyPr wrap="square" rtlCol="0">
            <a:spAutoFit/>
          </a:bodyPr>
          <a:lstStyle/>
          <a:p>
            <a:r>
              <a:rPr lang="en-US" dirty="0">
                <a:solidFill>
                  <a:srgbClr val="FF0000"/>
                </a:solidFill>
              </a:rPr>
              <a:t>3D Survey 1 </a:t>
            </a:r>
          </a:p>
        </p:txBody>
      </p:sp>
      <p:sp>
        <p:nvSpPr>
          <p:cNvPr id="18" name="TextBox 17">
            <a:extLst>
              <a:ext uri="{FF2B5EF4-FFF2-40B4-BE49-F238E27FC236}">
                <a16:creationId xmlns:a16="http://schemas.microsoft.com/office/drawing/2014/main" id="{CDE7D286-D97E-4DE3-8944-36A83089C221}"/>
              </a:ext>
            </a:extLst>
          </p:cNvPr>
          <p:cNvSpPr txBox="1"/>
          <p:nvPr/>
        </p:nvSpPr>
        <p:spPr>
          <a:xfrm>
            <a:off x="7062553" y="4043299"/>
            <a:ext cx="1436554" cy="369332"/>
          </a:xfrm>
          <a:prstGeom prst="rect">
            <a:avLst/>
          </a:prstGeom>
          <a:noFill/>
        </p:spPr>
        <p:txBody>
          <a:bodyPr wrap="square" rtlCol="0">
            <a:spAutoFit/>
          </a:bodyPr>
          <a:lstStyle/>
          <a:p>
            <a:r>
              <a:rPr lang="en-US" dirty="0">
                <a:solidFill>
                  <a:srgbClr val="FF0000"/>
                </a:solidFill>
              </a:rPr>
              <a:t>3D Survey 2 </a:t>
            </a:r>
          </a:p>
        </p:txBody>
      </p:sp>
      <p:cxnSp>
        <p:nvCxnSpPr>
          <p:cNvPr id="20" name="Connector: Elbow 19">
            <a:extLst>
              <a:ext uri="{FF2B5EF4-FFF2-40B4-BE49-F238E27FC236}">
                <a16:creationId xmlns:a16="http://schemas.microsoft.com/office/drawing/2014/main" id="{F284EEB4-55CD-4064-9A9D-7EF766F91211}"/>
              </a:ext>
            </a:extLst>
          </p:cNvPr>
          <p:cNvCxnSpPr/>
          <p:nvPr/>
        </p:nvCxnSpPr>
        <p:spPr>
          <a:xfrm>
            <a:off x="5871411" y="4043299"/>
            <a:ext cx="3060833" cy="798210"/>
          </a:xfrm>
          <a:prstGeom prst="bentConnector3">
            <a:avLst>
              <a:gd name="adj1" fmla="val 31447"/>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0900120-CB55-47CB-AE95-66EDECDB4A62}"/>
              </a:ext>
            </a:extLst>
          </p:cNvPr>
          <p:cNvSpPr txBox="1"/>
          <p:nvPr/>
        </p:nvSpPr>
        <p:spPr>
          <a:xfrm>
            <a:off x="7062553" y="4812633"/>
            <a:ext cx="1436554" cy="369332"/>
          </a:xfrm>
          <a:prstGeom prst="rect">
            <a:avLst/>
          </a:prstGeom>
          <a:noFill/>
        </p:spPr>
        <p:txBody>
          <a:bodyPr wrap="square" rtlCol="0">
            <a:spAutoFit/>
          </a:bodyPr>
          <a:lstStyle/>
          <a:p>
            <a:r>
              <a:rPr lang="en-US" dirty="0">
                <a:solidFill>
                  <a:srgbClr val="FF0000"/>
                </a:solidFill>
              </a:rPr>
              <a:t>2D Survey  </a:t>
            </a:r>
          </a:p>
        </p:txBody>
      </p:sp>
      <p:sp>
        <p:nvSpPr>
          <p:cNvPr id="15" name="Content Placeholder 14">
            <a:extLst>
              <a:ext uri="{FF2B5EF4-FFF2-40B4-BE49-F238E27FC236}">
                <a16:creationId xmlns:a16="http://schemas.microsoft.com/office/drawing/2014/main" id="{F6B5C89D-B6FC-46A0-ACDF-E2314ABAB302}"/>
              </a:ext>
            </a:extLst>
          </p:cNvPr>
          <p:cNvSpPr>
            <a:spLocks noGrp="1"/>
          </p:cNvSpPr>
          <p:nvPr>
            <p:ph idx="1"/>
          </p:nvPr>
        </p:nvSpPr>
        <p:spPr/>
        <p:txBody>
          <a:bodyPr>
            <a:normAutofit/>
          </a:bodyPr>
          <a:lstStyle/>
          <a:p>
            <a:r>
              <a:rPr lang="en-US" sz="2400" dirty="0"/>
              <a:t>Example of multi-survey picking</a:t>
            </a:r>
          </a:p>
          <a:p>
            <a:r>
              <a:rPr lang="en-US" sz="2400" dirty="0"/>
              <a:t>In RESQML: in Grid2DRepresentation</a:t>
            </a:r>
          </a:p>
          <a:p>
            <a:pPr lvl="1"/>
            <a:r>
              <a:rPr lang="en-US" sz="2000" dirty="0"/>
              <a:t>Patch1 </a:t>
            </a:r>
            <a:r>
              <a:rPr lang="en-US" sz="2000" dirty="0">
                <a:sym typeface="Wingdings" panose="05000000000000000000" pitchFamily="2" charset="2"/>
              </a:rPr>
              <a:t> 3D Survey1</a:t>
            </a:r>
          </a:p>
          <a:p>
            <a:pPr lvl="1"/>
            <a:r>
              <a:rPr lang="en-US" sz="2000" dirty="0">
                <a:sym typeface="Wingdings" panose="05000000000000000000" pitchFamily="2" charset="2"/>
              </a:rPr>
              <a:t>Patch2  3D Survey2</a:t>
            </a:r>
          </a:p>
          <a:p>
            <a:pPr lvl="1"/>
            <a:r>
              <a:rPr lang="en-US" sz="2000" dirty="0">
                <a:sym typeface="Wingdings" panose="05000000000000000000" pitchFamily="2" charset="2"/>
              </a:rPr>
              <a:t>Patch3  2D Survey</a:t>
            </a:r>
          </a:p>
          <a:p>
            <a:pPr lvl="1"/>
            <a:endParaRPr lang="en-US" sz="2000" dirty="0">
              <a:sym typeface="Wingdings" panose="05000000000000000000" pitchFamily="2" charset="2"/>
            </a:endParaRPr>
          </a:p>
          <a:p>
            <a:pPr lvl="1"/>
            <a:endParaRPr lang="en-US" sz="2000" dirty="0">
              <a:sym typeface="Wingdings" panose="05000000000000000000" pitchFamily="2" charset="2"/>
            </a:endParaRPr>
          </a:p>
          <a:p>
            <a:pPr lvl="1"/>
            <a:endParaRPr lang="en-US" sz="2000" dirty="0">
              <a:sym typeface="Wingdings" panose="05000000000000000000" pitchFamily="2" charset="2"/>
            </a:endParaRPr>
          </a:p>
          <a:p>
            <a:endParaRPr lang="en-US" sz="2533" dirty="0">
              <a:sym typeface="Wingdings" panose="05000000000000000000" pitchFamily="2" charset="2"/>
            </a:endParaRPr>
          </a:p>
          <a:p>
            <a:r>
              <a:rPr lang="en-US" sz="2533" dirty="0">
                <a:sym typeface="Wingdings" panose="05000000000000000000" pitchFamily="2" charset="2"/>
              </a:rPr>
              <a:t>Example of attribute common to all picking is </a:t>
            </a:r>
            <a:r>
              <a:rPr lang="en-US" sz="2533" dirty="0" err="1">
                <a:sym typeface="Wingdings" panose="05000000000000000000" pitchFamily="2" charset="2"/>
              </a:rPr>
              <a:t>SeismicHorizonPickingTypeID</a:t>
            </a:r>
            <a:endParaRPr lang="en-US" sz="2533" dirty="0">
              <a:sym typeface="Wingdings" panose="05000000000000000000" pitchFamily="2" charset="2"/>
            </a:endParaRPr>
          </a:p>
          <a:p>
            <a:pPr marL="0" indent="0">
              <a:buNone/>
            </a:pPr>
            <a:endParaRPr lang="en-US" sz="2000" dirty="0">
              <a:sym typeface="Wingdings" panose="05000000000000000000" pitchFamily="2" charset="2"/>
            </a:endParaRPr>
          </a:p>
          <a:p>
            <a:pPr lvl="1"/>
            <a:endParaRPr lang="en-US" sz="2000" dirty="0">
              <a:sym typeface="Wingdings" panose="05000000000000000000" pitchFamily="2" charset="2"/>
            </a:endParaRPr>
          </a:p>
        </p:txBody>
      </p:sp>
      <p:sp>
        <p:nvSpPr>
          <p:cNvPr id="16" name="TextBox 15">
            <a:extLst>
              <a:ext uri="{FF2B5EF4-FFF2-40B4-BE49-F238E27FC236}">
                <a16:creationId xmlns:a16="http://schemas.microsoft.com/office/drawing/2014/main" id="{FC7CBED8-CC4B-4C4D-9C3F-5026AD674367}"/>
              </a:ext>
            </a:extLst>
          </p:cNvPr>
          <p:cNvSpPr txBox="1"/>
          <p:nvPr/>
        </p:nvSpPr>
        <p:spPr>
          <a:xfrm>
            <a:off x="5024582" y="3843507"/>
            <a:ext cx="1700946" cy="646331"/>
          </a:xfrm>
          <a:prstGeom prst="rect">
            <a:avLst/>
          </a:prstGeom>
          <a:noFill/>
        </p:spPr>
        <p:txBody>
          <a:bodyPr wrap="square" rtlCol="0">
            <a:spAutoFit/>
          </a:bodyPr>
          <a:lstStyle/>
          <a:p>
            <a:r>
              <a:rPr lang="en-US" dirty="0"/>
              <a:t>Horizon</a:t>
            </a:r>
          </a:p>
          <a:p>
            <a:r>
              <a:rPr lang="en-US" dirty="0" err="1"/>
              <a:t>TopCretaceous</a:t>
            </a:r>
            <a:endParaRPr lang="en-US" dirty="0"/>
          </a:p>
        </p:txBody>
      </p:sp>
    </p:spTree>
    <p:extLst>
      <p:ext uri="{BB962C8B-B14F-4D97-AF65-F5344CB8AC3E}">
        <p14:creationId xmlns:p14="http://schemas.microsoft.com/office/powerpoint/2010/main" val="601724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E89CC5-4086-43FC-9BCB-12442EB6F82E}"/>
              </a:ext>
            </a:extLst>
          </p:cNvPr>
          <p:cNvSpPr>
            <a:spLocks noGrp="1"/>
          </p:cNvSpPr>
          <p:nvPr>
            <p:ph type="title"/>
          </p:nvPr>
        </p:nvSpPr>
        <p:spPr/>
        <p:txBody>
          <a:bodyPr vert="horz" lIns="91440" tIns="45720" rIns="91440" bIns="45720" rtlCol="0" anchor="ctr">
            <a:normAutofit fontScale="90000"/>
          </a:bodyPr>
          <a:lstStyle/>
          <a:p>
            <a:r>
              <a:rPr lang="en-US" dirty="0"/>
              <a:t>Multi-survey picking and link to stratigraphic column</a:t>
            </a:r>
          </a:p>
        </p:txBody>
      </p:sp>
      <p:graphicFrame>
        <p:nvGraphicFramePr>
          <p:cNvPr id="7" name="Content Placeholder 6">
            <a:extLst>
              <a:ext uri="{FF2B5EF4-FFF2-40B4-BE49-F238E27FC236}">
                <a16:creationId xmlns:a16="http://schemas.microsoft.com/office/drawing/2014/main" id="{13921505-4C81-4491-8BB1-A850266904E4}"/>
              </a:ext>
            </a:extLst>
          </p:cNvPr>
          <p:cNvGraphicFramePr>
            <a:graphicFrameLocks noGrp="1"/>
          </p:cNvGraphicFramePr>
          <p:nvPr>
            <p:ph idx="1"/>
          </p:nvPr>
        </p:nvGraphicFramePr>
        <p:xfrm>
          <a:off x="358947" y="3015749"/>
          <a:ext cx="6724318" cy="1721744"/>
        </p:xfrm>
        <a:graphic>
          <a:graphicData uri="http://schemas.openxmlformats.org/drawingml/2006/table">
            <a:tbl>
              <a:tblPr/>
              <a:tblGrid>
                <a:gridCol w="1063169">
                  <a:extLst>
                    <a:ext uri="{9D8B030D-6E8A-4147-A177-3AD203B41FA5}">
                      <a16:colId xmlns:a16="http://schemas.microsoft.com/office/drawing/2014/main" val="1492275682"/>
                    </a:ext>
                  </a:extLst>
                </a:gridCol>
                <a:gridCol w="933157">
                  <a:extLst>
                    <a:ext uri="{9D8B030D-6E8A-4147-A177-3AD203B41FA5}">
                      <a16:colId xmlns:a16="http://schemas.microsoft.com/office/drawing/2014/main" val="1234722848"/>
                    </a:ext>
                  </a:extLst>
                </a:gridCol>
                <a:gridCol w="4727992">
                  <a:extLst>
                    <a:ext uri="{9D8B030D-6E8A-4147-A177-3AD203B41FA5}">
                      <a16:colId xmlns:a16="http://schemas.microsoft.com/office/drawing/2014/main" val="4197829009"/>
                    </a:ext>
                  </a:extLst>
                </a:gridCol>
              </a:tblGrid>
              <a:tr h="338308">
                <a:tc gridSpan="2">
                  <a:txBody>
                    <a:bodyPr/>
                    <a:lstStyle/>
                    <a:p>
                      <a:pPr algn="l" fontAlgn="b"/>
                      <a:r>
                        <a:rPr lang="en-US" sz="1400" b="1" i="0" u="none" strike="noStrike" dirty="0">
                          <a:solidFill>
                            <a:schemeClr val="accent1"/>
                          </a:solidFill>
                          <a:effectLst/>
                          <a:latin typeface="Calibri" panose="020F0502020204030204" pitchFamily="34" charset="0"/>
                        </a:rPr>
                        <a:t>STRATIGRAPHIC COLUMN</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r>
                        <a:rPr lang="en-US" sz="1400" b="0" i="0" u="none" strike="noStrike" dirty="0" err="1">
                          <a:solidFill>
                            <a:srgbClr val="000000"/>
                          </a:solidFill>
                          <a:effectLst/>
                          <a:latin typeface="Calibri" panose="020F0502020204030204" pitchFamily="34" charset="0"/>
                        </a:rPr>
                        <a:t>StratigraphicColumn</a:t>
                      </a:r>
                      <a:endParaRPr lang="en-US" sz="1400" b="0" i="0" u="none" strike="noStrike" dirty="0">
                        <a:solidFill>
                          <a:srgbClr val="000000"/>
                        </a:solidFill>
                        <a:effectLst/>
                        <a:latin typeface="Calibri" panose="020F0502020204030204" pitchFamily="34" charset="0"/>
                      </a:endParaRP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9745372"/>
                  </a:ext>
                </a:extLst>
              </a:tr>
              <a:tr h="345859">
                <a:tc>
                  <a:txBody>
                    <a:bodyPr/>
                    <a:lstStyle/>
                    <a:p>
                      <a:pPr algn="l" fontAlgn="b"/>
                      <a:r>
                        <a:rPr lang="en-US" sz="1400" b="1" i="0" u="none" strike="noStrike" dirty="0">
                          <a:solidFill>
                            <a:schemeClr val="accent1"/>
                          </a:solidFill>
                          <a:effectLst/>
                          <a:latin typeface="Calibri" panose="020F0502020204030204" pitchFamily="34" charset="0"/>
                        </a:rPr>
                        <a:t>RANK1</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chemeClr val="accent1"/>
                          </a:solidFill>
                          <a:effectLst/>
                          <a:latin typeface="Calibri" panose="020F0502020204030204" pitchFamily="34" charset="0"/>
                        </a:rPr>
                        <a:t>RANK2</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err="1">
                          <a:solidFill>
                            <a:srgbClr val="000000"/>
                          </a:solidFill>
                          <a:effectLst/>
                          <a:latin typeface="Calibri" panose="020F0502020204030204" pitchFamily="34" charset="0"/>
                        </a:rPr>
                        <a:t>StratigraphicColumnRankInterpretation</a:t>
                      </a:r>
                      <a:endParaRPr lang="en-US" sz="1400" b="0" i="0" u="none" strike="noStrike" dirty="0">
                        <a:solidFill>
                          <a:srgbClr val="000000"/>
                        </a:solidFill>
                        <a:effectLst/>
                        <a:latin typeface="Calibri" panose="020F0502020204030204" pitchFamily="34" charset="0"/>
                      </a:endParaRP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976091"/>
                  </a:ext>
                </a:extLst>
              </a:tr>
              <a:tr h="345859">
                <a:tc>
                  <a:txBody>
                    <a:bodyPr/>
                    <a:lstStyle/>
                    <a:p>
                      <a:pPr algn="l" fontAlgn="b"/>
                      <a:r>
                        <a:rPr lang="en-US" sz="1400" b="1" i="0" u="none" strike="noStrike">
                          <a:solidFill>
                            <a:schemeClr val="accent1"/>
                          </a:solidFill>
                          <a:effectLst/>
                          <a:latin typeface="Calibri" panose="020F0502020204030204" pitchFamily="34" charset="0"/>
                        </a:rPr>
                        <a:t>UNIT A</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chemeClr val="accent1"/>
                          </a:solidFill>
                          <a:effectLst/>
                          <a:latin typeface="Calibri" panose="020F0502020204030204" pitchFamily="34" charset="0"/>
                        </a:rPr>
                        <a:t>UNIT A</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err="1">
                          <a:solidFill>
                            <a:srgbClr val="000000"/>
                          </a:solidFill>
                          <a:effectLst/>
                          <a:latin typeface="Calibri" panose="020F0502020204030204" pitchFamily="34" charset="0"/>
                        </a:rPr>
                        <a:t>StratigraphicUnitInterpretation</a:t>
                      </a:r>
                      <a:endParaRPr lang="en-US" sz="1400" b="0" i="0" u="none" strike="noStrike" dirty="0">
                        <a:solidFill>
                          <a:srgbClr val="000000"/>
                        </a:solidFill>
                        <a:effectLst/>
                        <a:latin typeface="Calibri" panose="020F0502020204030204" pitchFamily="34" charset="0"/>
                      </a:endParaRP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9585481"/>
                  </a:ext>
                </a:extLst>
              </a:tr>
              <a:tr h="345859">
                <a:tc rowSpan="2">
                  <a:txBody>
                    <a:bodyPr/>
                    <a:lstStyle/>
                    <a:p>
                      <a:pPr algn="l" fontAlgn="ctr"/>
                      <a:r>
                        <a:rPr lang="en-US" sz="1400" b="1" i="0" u="none" strike="noStrike">
                          <a:solidFill>
                            <a:schemeClr val="accent1"/>
                          </a:solidFill>
                          <a:effectLst/>
                          <a:latin typeface="Calibri" panose="020F0502020204030204" pitchFamily="34" charset="0"/>
                        </a:rPr>
                        <a:t>UNIT B</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chemeClr val="accent1"/>
                          </a:solidFill>
                          <a:effectLst/>
                          <a:latin typeface="Calibri" panose="020F0502020204030204" pitchFamily="34" charset="0"/>
                        </a:rPr>
                        <a:t>UNIT B1</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err="1">
                          <a:solidFill>
                            <a:srgbClr val="000000"/>
                          </a:solidFill>
                          <a:effectLst/>
                          <a:latin typeface="Calibri" panose="020F0502020204030204" pitchFamily="34" charset="0"/>
                        </a:rPr>
                        <a:t>StratigraphicUnitInterpretation</a:t>
                      </a:r>
                      <a:endParaRPr lang="en-US" sz="1400" b="0" i="0" u="none" strike="noStrike" dirty="0">
                        <a:solidFill>
                          <a:srgbClr val="000000"/>
                        </a:solidFill>
                        <a:effectLst/>
                        <a:latin typeface="Calibri" panose="020F0502020204030204" pitchFamily="34" charset="0"/>
                      </a:endParaRP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7897553"/>
                  </a:ext>
                </a:extLst>
              </a:tr>
              <a:tr h="345859">
                <a:tc vMerge="1">
                  <a:txBody>
                    <a:bodyPr/>
                    <a:lstStyle/>
                    <a:p>
                      <a:endParaRPr lang="en-US"/>
                    </a:p>
                  </a:txBody>
                  <a:tcPr/>
                </a:tc>
                <a:tc>
                  <a:txBody>
                    <a:bodyPr/>
                    <a:lstStyle/>
                    <a:p>
                      <a:pPr algn="l" fontAlgn="b"/>
                      <a:r>
                        <a:rPr lang="en-US" sz="1400" b="1" i="0" u="none" strike="noStrike" dirty="0">
                          <a:solidFill>
                            <a:schemeClr val="accent1"/>
                          </a:solidFill>
                          <a:effectLst/>
                          <a:latin typeface="Calibri" panose="020F0502020204030204" pitchFamily="34" charset="0"/>
                        </a:rPr>
                        <a:t>UNIT B2</a:t>
                      </a: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err="1">
                          <a:solidFill>
                            <a:srgbClr val="000000"/>
                          </a:solidFill>
                          <a:effectLst/>
                          <a:latin typeface="Calibri" panose="020F0502020204030204" pitchFamily="34" charset="0"/>
                        </a:rPr>
                        <a:t>StratigraphicUnitInterpretation</a:t>
                      </a:r>
                      <a:endParaRPr lang="en-US" sz="1400" b="0" i="0" u="none" strike="noStrike" dirty="0">
                        <a:solidFill>
                          <a:srgbClr val="000000"/>
                        </a:solidFill>
                        <a:effectLst/>
                        <a:latin typeface="Calibri" panose="020F0502020204030204" pitchFamily="34" charset="0"/>
                      </a:endParaRPr>
                    </a:p>
                  </a:txBody>
                  <a:tcPr marL="21515" marR="2151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0692485"/>
                  </a:ext>
                </a:extLst>
              </a:tr>
            </a:tbl>
          </a:graphicData>
        </a:graphic>
      </p:graphicFrame>
      <p:pic>
        <p:nvPicPr>
          <p:cNvPr id="9" name="Picture 5" descr="image005">
            <a:extLst>
              <a:ext uri="{FF2B5EF4-FFF2-40B4-BE49-F238E27FC236}">
                <a16:creationId xmlns:a16="http://schemas.microsoft.com/office/drawing/2014/main" id="{00927BAE-5AF4-4228-A057-AE6A145A6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1731" y="2368766"/>
            <a:ext cx="4856872" cy="2904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Connector: Elbow 10">
            <a:extLst>
              <a:ext uri="{FF2B5EF4-FFF2-40B4-BE49-F238E27FC236}">
                <a16:creationId xmlns:a16="http://schemas.microsoft.com/office/drawing/2014/main" id="{8828FE08-EE5F-4C4D-A0D7-B677D82E3D70}"/>
              </a:ext>
            </a:extLst>
          </p:cNvPr>
          <p:cNvCxnSpPr/>
          <p:nvPr/>
        </p:nvCxnSpPr>
        <p:spPr>
          <a:xfrm flipV="1">
            <a:off x="5871411" y="2868328"/>
            <a:ext cx="2473692" cy="1174283"/>
          </a:xfrm>
          <a:prstGeom prst="bentConnector3">
            <a:avLst>
              <a:gd name="adj1" fmla="val 39105"/>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C07C57A-0964-4227-AF8D-C6B85B377601}"/>
              </a:ext>
            </a:extLst>
          </p:cNvPr>
          <p:cNvCxnSpPr>
            <a:cxnSpLocks/>
          </p:cNvCxnSpPr>
          <p:nvPr/>
        </p:nvCxnSpPr>
        <p:spPr>
          <a:xfrm flipV="1">
            <a:off x="5862820" y="3667226"/>
            <a:ext cx="4214831" cy="375385"/>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3AE4EDA-20AB-41DD-81B5-B6DCB2FDEEBB}"/>
              </a:ext>
            </a:extLst>
          </p:cNvPr>
          <p:cNvSpPr txBox="1"/>
          <p:nvPr/>
        </p:nvSpPr>
        <p:spPr>
          <a:xfrm>
            <a:off x="7062553" y="2527872"/>
            <a:ext cx="1321728" cy="369332"/>
          </a:xfrm>
          <a:prstGeom prst="rect">
            <a:avLst/>
          </a:prstGeom>
          <a:noFill/>
        </p:spPr>
        <p:txBody>
          <a:bodyPr wrap="square" rtlCol="0">
            <a:spAutoFit/>
          </a:bodyPr>
          <a:lstStyle/>
          <a:p>
            <a:r>
              <a:rPr lang="en-US" dirty="0">
                <a:solidFill>
                  <a:srgbClr val="FF0000"/>
                </a:solidFill>
              </a:rPr>
              <a:t>3D Survey 1 </a:t>
            </a:r>
          </a:p>
        </p:txBody>
      </p:sp>
      <p:sp>
        <p:nvSpPr>
          <p:cNvPr id="18" name="TextBox 17">
            <a:extLst>
              <a:ext uri="{FF2B5EF4-FFF2-40B4-BE49-F238E27FC236}">
                <a16:creationId xmlns:a16="http://schemas.microsoft.com/office/drawing/2014/main" id="{CDE7D286-D97E-4DE3-8944-36A83089C221}"/>
              </a:ext>
            </a:extLst>
          </p:cNvPr>
          <p:cNvSpPr txBox="1"/>
          <p:nvPr/>
        </p:nvSpPr>
        <p:spPr>
          <a:xfrm>
            <a:off x="7062553" y="4043299"/>
            <a:ext cx="1436554" cy="369332"/>
          </a:xfrm>
          <a:prstGeom prst="rect">
            <a:avLst/>
          </a:prstGeom>
          <a:noFill/>
        </p:spPr>
        <p:txBody>
          <a:bodyPr wrap="square" rtlCol="0">
            <a:spAutoFit/>
          </a:bodyPr>
          <a:lstStyle/>
          <a:p>
            <a:r>
              <a:rPr lang="en-US" dirty="0">
                <a:solidFill>
                  <a:srgbClr val="FF0000"/>
                </a:solidFill>
              </a:rPr>
              <a:t>3D Survey 2 </a:t>
            </a:r>
          </a:p>
        </p:txBody>
      </p:sp>
      <p:cxnSp>
        <p:nvCxnSpPr>
          <p:cNvPr id="20" name="Connector: Elbow 19">
            <a:extLst>
              <a:ext uri="{FF2B5EF4-FFF2-40B4-BE49-F238E27FC236}">
                <a16:creationId xmlns:a16="http://schemas.microsoft.com/office/drawing/2014/main" id="{F284EEB4-55CD-4064-9A9D-7EF766F91211}"/>
              </a:ext>
            </a:extLst>
          </p:cNvPr>
          <p:cNvCxnSpPr/>
          <p:nvPr/>
        </p:nvCxnSpPr>
        <p:spPr>
          <a:xfrm>
            <a:off x="5871411" y="4043299"/>
            <a:ext cx="3060833" cy="798210"/>
          </a:xfrm>
          <a:prstGeom prst="bentConnector3">
            <a:avLst>
              <a:gd name="adj1" fmla="val 31447"/>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0900120-CB55-47CB-AE95-66EDECDB4A62}"/>
              </a:ext>
            </a:extLst>
          </p:cNvPr>
          <p:cNvSpPr txBox="1"/>
          <p:nvPr/>
        </p:nvSpPr>
        <p:spPr>
          <a:xfrm>
            <a:off x="7062553" y="4812633"/>
            <a:ext cx="1436554" cy="369332"/>
          </a:xfrm>
          <a:prstGeom prst="rect">
            <a:avLst/>
          </a:prstGeom>
          <a:noFill/>
        </p:spPr>
        <p:txBody>
          <a:bodyPr wrap="square" rtlCol="0">
            <a:spAutoFit/>
          </a:bodyPr>
          <a:lstStyle/>
          <a:p>
            <a:r>
              <a:rPr lang="en-US" dirty="0">
                <a:solidFill>
                  <a:srgbClr val="FF0000"/>
                </a:solidFill>
              </a:rPr>
              <a:t>2D Survey  </a:t>
            </a:r>
          </a:p>
        </p:txBody>
      </p:sp>
      <p:sp>
        <p:nvSpPr>
          <p:cNvPr id="3" name="TextBox 2">
            <a:extLst>
              <a:ext uri="{FF2B5EF4-FFF2-40B4-BE49-F238E27FC236}">
                <a16:creationId xmlns:a16="http://schemas.microsoft.com/office/drawing/2014/main" id="{680C0041-DFB2-48E7-8849-315CFE7F632F}"/>
              </a:ext>
            </a:extLst>
          </p:cNvPr>
          <p:cNvSpPr txBox="1"/>
          <p:nvPr/>
        </p:nvSpPr>
        <p:spPr>
          <a:xfrm>
            <a:off x="5220778" y="3876621"/>
            <a:ext cx="696367" cy="307777"/>
          </a:xfrm>
          <a:prstGeom prst="rect">
            <a:avLst/>
          </a:prstGeom>
          <a:solidFill>
            <a:schemeClr val="bg1"/>
          </a:solidFill>
          <a:ln>
            <a:solidFill>
              <a:schemeClr val="accent1"/>
            </a:solidFill>
          </a:ln>
        </p:spPr>
        <p:txBody>
          <a:bodyPr wrap="square" rtlCol="0">
            <a:spAutoFit/>
          </a:bodyPr>
          <a:lstStyle/>
          <a:p>
            <a:pPr algn="ctr"/>
            <a:r>
              <a:rPr lang="en-US" sz="1400" b="1" dirty="0">
                <a:solidFill>
                  <a:schemeClr val="accent1"/>
                </a:solidFill>
                <a:latin typeface="Calibri" panose="020F0502020204030204" pitchFamily="34" charset="0"/>
              </a:rPr>
              <a:t>TopB1</a:t>
            </a:r>
          </a:p>
        </p:txBody>
      </p:sp>
      <p:cxnSp>
        <p:nvCxnSpPr>
          <p:cNvPr id="6" name="Connector: Elbow 5">
            <a:extLst>
              <a:ext uri="{FF2B5EF4-FFF2-40B4-BE49-F238E27FC236}">
                <a16:creationId xmlns:a16="http://schemas.microsoft.com/office/drawing/2014/main" id="{2F5A7B3C-0E17-4C8D-ADC0-B1A6159D8154}"/>
              </a:ext>
            </a:extLst>
          </p:cNvPr>
          <p:cNvCxnSpPr>
            <a:cxnSpLocks/>
          </p:cNvCxnSpPr>
          <p:nvPr/>
        </p:nvCxnSpPr>
        <p:spPr>
          <a:xfrm flipV="1">
            <a:off x="4726004" y="4042612"/>
            <a:ext cx="494774" cy="22458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908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E0D776-AF34-4EC5-8D14-D74FAB17E6B5}"/>
              </a:ext>
            </a:extLst>
          </p:cNvPr>
          <p:cNvPicPr>
            <a:picLocks noChangeAspect="1"/>
          </p:cNvPicPr>
          <p:nvPr/>
        </p:nvPicPr>
        <p:blipFill>
          <a:blip r:embed="rId2"/>
          <a:stretch>
            <a:fillRect/>
          </a:stretch>
        </p:blipFill>
        <p:spPr>
          <a:xfrm>
            <a:off x="1276517" y="878828"/>
            <a:ext cx="2224776" cy="4752975"/>
          </a:xfrm>
          <a:prstGeom prst="rect">
            <a:avLst/>
          </a:prstGeom>
        </p:spPr>
      </p:pic>
      <p:pic>
        <p:nvPicPr>
          <p:cNvPr id="8" name="Picture 7">
            <a:extLst>
              <a:ext uri="{FF2B5EF4-FFF2-40B4-BE49-F238E27FC236}">
                <a16:creationId xmlns:a16="http://schemas.microsoft.com/office/drawing/2014/main" id="{A90E3C56-2A27-4891-B543-22F252B4AC5B}"/>
              </a:ext>
            </a:extLst>
          </p:cNvPr>
          <p:cNvPicPr>
            <a:picLocks noChangeAspect="1"/>
          </p:cNvPicPr>
          <p:nvPr/>
        </p:nvPicPr>
        <p:blipFill>
          <a:blip r:embed="rId3"/>
          <a:stretch>
            <a:fillRect/>
          </a:stretch>
        </p:blipFill>
        <p:spPr>
          <a:xfrm>
            <a:off x="3989449" y="407217"/>
            <a:ext cx="7781925" cy="6238875"/>
          </a:xfrm>
          <a:prstGeom prst="rect">
            <a:avLst/>
          </a:prstGeom>
        </p:spPr>
      </p:pic>
    </p:spTree>
    <p:extLst>
      <p:ext uri="{BB962C8B-B14F-4D97-AF65-F5344CB8AC3E}">
        <p14:creationId xmlns:p14="http://schemas.microsoft.com/office/powerpoint/2010/main" val="4262761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109D-FFC8-4A72-94B6-00991C3B98BE}"/>
              </a:ext>
            </a:extLst>
          </p:cNvPr>
          <p:cNvSpPr>
            <a:spLocks noGrp="1"/>
          </p:cNvSpPr>
          <p:nvPr>
            <p:ph type="title"/>
          </p:nvPr>
        </p:nvSpPr>
        <p:spPr/>
        <p:txBody>
          <a:bodyPr/>
          <a:lstStyle/>
          <a:p>
            <a:r>
              <a:rPr lang="en-US" dirty="0"/>
              <a:t>Remarks</a:t>
            </a:r>
          </a:p>
        </p:txBody>
      </p:sp>
      <p:sp>
        <p:nvSpPr>
          <p:cNvPr id="3" name="Content Placeholder 2">
            <a:extLst>
              <a:ext uri="{FF2B5EF4-FFF2-40B4-BE49-F238E27FC236}">
                <a16:creationId xmlns:a16="http://schemas.microsoft.com/office/drawing/2014/main" id="{2C8C980C-BC58-4B85-8D14-D6742910C6D0}"/>
              </a:ext>
            </a:extLst>
          </p:cNvPr>
          <p:cNvSpPr>
            <a:spLocks noGrp="1"/>
          </p:cNvSpPr>
          <p:nvPr>
            <p:ph idx="1"/>
          </p:nvPr>
        </p:nvSpPr>
        <p:spPr/>
        <p:txBody>
          <a:bodyPr>
            <a:normAutofit/>
          </a:bodyPr>
          <a:lstStyle/>
          <a:p>
            <a:r>
              <a:rPr lang="en-US" sz="1800" dirty="0"/>
              <a:t>OSDU </a:t>
            </a:r>
            <a:r>
              <a:rPr lang="en-US" sz="1800" dirty="0" err="1"/>
              <a:t>SeismicHorizon</a:t>
            </a:r>
            <a:r>
              <a:rPr lang="en-US" sz="1800" dirty="0"/>
              <a:t> is a single very specific object vs. RESQML equivalent is made of a composition of several generic parts</a:t>
            </a:r>
          </a:p>
          <a:p>
            <a:r>
              <a:rPr lang="en-US" sz="1800" dirty="0"/>
              <a:t>OSDU seismic attributes has no seismic specific attribute and is contained by horizon vs RESQML part is a generic property that can be added after horizon creation</a:t>
            </a:r>
          </a:p>
          <a:p>
            <a:r>
              <a:rPr lang="en-US" sz="1800" dirty="0" err="1"/>
              <a:t>SeismicInterpretationProject</a:t>
            </a:r>
            <a:r>
              <a:rPr lang="en-US" sz="1800" dirty="0"/>
              <a:t> is intermediate step between Horizon and </a:t>
            </a:r>
            <a:r>
              <a:rPr lang="en-US" sz="1800" dirty="0" err="1"/>
              <a:t>BinGrid</a:t>
            </a:r>
            <a:r>
              <a:rPr lang="en-US" sz="1800" dirty="0"/>
              <a:t> vs RESQML </a:t>
            </a:r>
            <a:r>
              <a:rPr lang="en-US" sz="1800" dirty="0" err="1"/>
              <a:t>RepresentationSet</a:t>
            </a:r>
            <a:r>
              <a:rPr lang="en-US" sz="1800" dirty="0"/>
              <a:t> which is generic</a:t>
            </a:r>
          </a:p>
          <a:p>
            <a:r>
              <a:rPr lang="en-US" sz="1800" dirty="0"/>
              <a:t>OSDU </a:t>
            </a:r>
            <a:r>
              <a:rPr lang="en-US" sz="1800" dirty="0" err="1"/>
              <a:t>SeismicHorizon</a:t>
            </a:r>
            <a:r>
              <a:rPr lang="en-US" sz="1800" dirty="0"/>
              <a:t> is associated with a </a:t>
            </a:r>
            <a:r>
              <a:rPr lang="en-US" sz="1800" dirty="0" err="1"/>
              <a:t>GeologicUnit</a:t>
            </a:r>
            <a:r>
              <a:rPr lang="en-US" sz="1800" dirty="0"/>
              <a:t> while RESQML is associated to </a:t>
            </a:r>
            <a:r>
              <a:rPr lang="en-US" sz="1800" dirty="0" err="1"/>
              <a:t>GeologicHorizon</a:t>
            </a:r>
            <a:endParaRPr lang="en-US" sz="1800" dirty="0"/>
          </a:p>
        </p:txBody>
      </p:sp>
    </p:spTree>
    <p:extLst>
      <p:ext uri="{BB962C8B-B14F-4D97-AF65-F5344CB8AC3E}">
        <p14:creationId xmlns:p14="http://schemas.microsoft.com/office/powerpoint/2010/main" val="3292975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8D1BE-52D8-A2B0-06AA-CCE858FE33F6}"/>
              </a:ext>
            </a:extLst>
          </p:cNvPr>
          <p:cNvSpPr>
            <a:spLocks noGrp="1"/>
          </p:cNvSpPr>
          <p:nvPr>
            <p:ph type="title"/>
          </p:nvPr>
        </p:nvSpPr>
        <p:spPr/>
        <p:txBody>
          <a:bodyPr/>
          <a:lstStyle/>
          <a:p>
            <a:r>
              <a:rPr lang="nb-NO" dirty="0"/>
              <a:t>Links</a:t>
            </a:r>
          </a:p>
        </p:txBody>
      </p:sp>
      <p:sp>
        <p:nvSpPr>
          <p:cNvPr id="3" name="Content Placeholder 2">
            <a:extLst>
              <a:ext uri="{FF2B5EF4-FFF2-40B4-BE49-F238E27FC236}">
                <a16:creationId xmlns:a16="http://schemas.microsoft.com/office/drawing/2014/main" id="{EFB218EC-8816-B9C5-48F8-D83482AEB4A2}"/>
              </a:ext>
            </a:extLst>
          </p:cNvPr>
          <p:cNvSpPr>
            <a:spLocks noGrp="1"/>
          </p:cNvSpPr>
          <p:nvPr>
            <p:ph idx="1"/>
          </p:nvPr>
        </p:nvSpPr>
        <p:spPr/>
        <p:txBody>
          <a:bodyPr>
            <a:normAutofit/>
          </a:bodyPr>
          <a:lstStyle/>
          <a:p>
            <a:r>
              <a:rPr lang="nb-NO" dirty="0">
                <a:hlinkClick r:id="rId2"/>
              </a:rPr>
              <a:t>SeismicProjectsAndRelatedData.md#98-seismic-interpretation-representations</a:t>
            </a:r>
            <a:endParaRPr lang="nb-NO" dirty="0"/>
          </a:p>
          <a:p>
            <a:r>
              <a:rPr lang="nb-NO" dirty="0">
                <a:hlinkClick r:id="rId3"/>
              </a:rPr>
              <a:t>SeismicHorizon.2.0.0.md</a:t>
            </a:r>
            <a:endParaRPr lang="nb-NO" dirty="0"/>
          </a:p>
          <a:p>
            <a:r>
              <a:rPr lang="nb-NO" dirty="0">
                <a:hlinkClick r:id="rId4"/>
              </a:rPr>
              <a:t>HorizonInterpretation.1.2.0.md</a:t>
            </a:r>
            <a:endParaRPr lang="nb-NO" dirty="0"/>
          </a:p>
        </p:txBody>
      </p:sp>
      <p:sp>
        <p:nvSpPr>
          <p:cNvPr id="4" name="Slide Number Placeholder 3">
            <a:extLst>
              <a:ext uri="{FF2B5EF4-FFF2-40B4-BE49-F238E27FC236}">
                <a16:creationId xmlns:a16="http://schemas.microsoft.com/office/drawing/2014/main" id="{B31C4998-94F1-3CFD-17A8-81DE791663E4}"/>
              </a:ext>
            </a:extLst>
          </p:cNvPr>
          <p:cNvSpPr>
            <a:spLocks noGrp="1"/>
          </p:cNvSpPr>
          <p:nvPr>
            <p:ph type="sldNum" sz="quarter" idx="12"/>
          </p:nvPr>
        </p:nvSpPr>
        <p:spPr/>
        <p:txBody>
          <a:bodyPr/>
          <a:lstStyle/>
          <a:p>
            <a:fld id="{4BBDA901-AC44-DA44-B86F-73C28EB4CF87}" type="slidenum">
              <a:rPr lang="en-GB" smtClean="0"/>
              <a:pPr/>
              <a:t>16</a:t>
            </a:fld>
            <a:endParaRPr lang="en-GB" dirty="0"/>
          </a:p>
        </p:txBody>
      </p:sp>
    </p:spTree>
    <p:extLst>
      <p:ext uri="{BB962C8B-B14F-4D97-AF65-F5344CB8AC3E}">
        <p14:creationId xmlns:p14="http://schemas.microsoft.com/office/powerpoint/2010/main" val="3727406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Custom 2">
      <a:dk1>
        <a:srgbClr val="000000"/>
      </a:dk1>
      <a:lt1>
        <a:sysClr val="window" lastClr="FFFFFF"/>
      </a:lt1>
      <a:dk2>
        <a:srgbClr val="465052"/>
      </a:dk2>
      <a:lt2>
        <a:srgbClr val="C3C2C2"/>
      </a:lt2>
      <a:accent1>
        <a:srgbClr val="00667F"/>
      </a:accent1>
      <a:accent2>
        <a:srgbClr val="00A6DE"/>
      </a:accent2>
      <a:accent3>
        <a:srgbClr val="007C66"/>
      </a:accent3>
      <a:accent4>
        <a:srgbClr val="DD7D28"/>
      </a:accent4>
      <a:accent5>
        <a:srgbClr val="79447B"/>
      </a:accent5>
      <a:accent6>
        <a:srgbClr val="009959"/>
      </a:accent6>
      <a:hlink>
        <a:srgbClr val="00667F"/>
      </a:hlink>
      <a:folHlink>
        <a:srgbClr val="006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4_Office Theme">
  <a:themeElements>
    <a:clrScheme name="Custom 2">
      <a:dk1>
        <a:srgbClr val="000000"/>
      </a:dk1>
      <a:lt1>
        <a:sysClr val="window" lastClr="FFFFFF"/>
      </a:lt1>
      <a:dk2>
        <a:srgbClr val="465052"/>
      </a:dk2>
      <a:lt2>
        <a:srgbClr val="C3C2C2"/>
      </a:lt2>
      <a:accent1>
        <a:srgbClr val="00667F"/>
      </a:accent1>
      <a:accent2>
        <a:srgbClr val="00A6DE"/>
      </a:accent2>
      <a:accent3>
        <a:srgbClr val="007C66"/>
      </a:accent3>
      <a:accent4>
        <a:srgbClr val="DD7D28"/>
      </a:accent4>
      <a:accent5>
        <a:srgbClr val="79447B"/>
      </a:accent5>
      <a:accent6>
        <a:srgbClr val="009959"/>
      </a:accent6>
      <a:hlink>
        <a:srgbClr val="00667F"/>
      </a:hlink>
      <a:folHlink>
        <a:srgbClr val="006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rgbClr val="000000"/>
    </a:dk1>
    <a:lt1>
      <a:sysClr val="window" lastClr="FFFFFF"/>
    </a:lt1>
    <a:dk2>
      <a:srgbClr val="465052"/>
    </a:dk2>
    <a:lt2>
      <a:srgbClr val="C3C2C2"/>
    </a:lt2>
    <a:accent1>
      <a:srgbClr val="00667F"/>
    </a:accent1>
    <a:accent2>
      <a:srgbClr val="00A6DE"/>
    </a:accent2>
    <a:accent3>
      <a:srgbClr val="007C66"/>
    </a:accent3>
    <a:accent4>
      <a:srgbClr val="DD7D28"/>
    </a:accent4>
    <a:accent5>
      <a:srgbClr val="79447B"/>
    </a:accent5>
    <a:accent6>
      <a:srgbClr val="009959"/>
    </a:accent6>
    <a:hlink>
      <a:srgbClr val="00667F"/>
    </a:hlink>
    <a:folHlink>
      <a:srgbClr val="0066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D7D6F0EA4A5B41AD43F4405045C85C" ma:contentTypeVersion="13" ma:contentTypeDescription="Create a new document." ma:contentTypeScope="" ma:versionID="7a553dd55396c324bc1ffc8e1c0c02c6">
  <xsd:schema xmlns:xsd="http://www.w3.org/2001/XMLSchema" xmlns:xs="http://www.w3.org/2001/XMLSchema" xmlns:p="http://schemas.microsoft.com/office/2006/metadata/properties" xmlns:ns3="55f54621-e0f3-4a5a-838d-9c12e27dc34b" xmlns:ns4="f1aa95e6-0ab8-49c5-902c-8a5f0fb8db9a" targetNamespace="http://schemas.microsoft.com/office/2006/metadata/properties" ma:root="true" ma:fieldsID="a695edad869ef37ca0ff664142222881" ns3:_="" ns4:_="">
    <xsd:import namespace="55f54621-e0f3-4a5a-838d-9c12e27dc34b"/>
    <xsd:import namespace="f1aa95e6-0ab8-49c5-902c-8a5f0fb8db9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f54621-e0f3-4a5a-838d-9c12e27dc3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1aa95e6-0ab8-49c5-902c-8a5f0fb8db9a"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BC7D8C-083D-402F-9644-04D86D9C6939}">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55f54621-e0f3-4a5a-838d-9c12e27dc34b"/>
    <ds:schemaRef ds:uri="http://purl.org/dc/elements/1.1/"/>
    <ds:schemaRef ds:uri="http://schemas.microsoft.com/office/2006/metadata/properties"/>
    <ds:schemaRef ds:uri="f1aa95e6-0ab8-49c5-902c-8a5f0fb8db9a"/>
    <ds:schemaRef ds:uri="http://www.w3.org/XML/1998/namespace"/>
  </ds:schemaRefs>
</ds:datastoreItem>
</file>

<file path=customXml/itemProps2.xml><?xml version="1.0" encoding="utf-8"?>
<ds:datastoreItem xmlns:ds="http://schemas.openxmlformats.org/officeDocument/2006/customXml" ds:itemID="{8784EB76-A5FD-4D33-86E3-520FA266AE57}">
  <ds:schemaRefs>
    <ds:schemaRef ds:uri="http://schemas.microsoft.com/sharepoint/v3/contenttype/forms"/>
  </ds:schemaRefs>
</ds:datastoreItem>
</file>

<file path=customXml/itemProps3.xml><?xml version="1.0" encoding="utf-8"?>
<ds:datastoreItem xmlns:ds="http://schemas.openxmlformats.org/officeDocument/2006/customXml" ds:itemID="{E784EF08-63C1-4025-BD87-AD4FBE8947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f54621-e0f3-4a5a-838d-9c12e27dc34b"/>
    <ds:schemaRef ds:uri="f1aa95e6-0ab8-49c5-902c-8a5f0fb8db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aa4a235-b6e2-48d5-9195-7fcf05b459b0}" enabled="0" method="" siteId="{3aa4a235-b6e2-48d5-9195-7fcf05b459b0}" removed="1"/>
</clbl:labelList>
</file>

<file path=docProps/app.xml><?xml version="1.0" encoding="utf-8"?>
<Properties xmlns="http://schemas.openxmlformats.org/officeDocument/2006/extended-properties" xmlns:vt="http://schemas.openxmlformats.org/officeDocument/2006/docPropsVTypes">
  <TotalTime>10204</TotalTime>
  <Words>2098</Words>
  <Application>Microsoft Office PowerPoint</Application>
  <PresentationFormat>Widescreen</PresentationFormat>
  <Paragraphs>393</Paragraphs>
  <Slides>16</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16</vt:i4>
      </vt:variant>
    </vt:vector>
  </HeadingPairs>
  <TitlesOfParts>
    <vt:vector size="26" baseType="lpstr">
      <vt:lpstr>Amazon Ember Display</vt:lpstr>
      <vt:lpstr>Arial</vt:lpstr>
      <vt:lpstr>Calibri</vt:lpstr>
      <vt:lpstr>Calibri Light</vt:lpstr>
      <vt:lpstr>Consolas</vt:lpstr>
      <vt:lpstr>Segoe UI</vt:lpstr>
      <vt:lpstr>Wingdings</vt:lpstr>
      <vt:lpstr>Office Theme</vt:lpstr>
      <vt:lpstr>3_Office Theme</vt:lpstr>
      <vt:lpstr>4_Office Theme</vt:lpstr>
      <vt:lpstr> SeismicHorizon and  HorizonInterpretation WPC   ? which to use ? where to store  </vt:lpstr>
      <vt:lpstr>Reservoir Data Interoperability use case - details</vt:lpstr>
      <vt:lpstr>Business Capability User Story – Actual (1)</vt:lpstr>
      <vt:lpstr>Business Capability User Story – Actual (2)</vt:lpstr>
      <vt:lpstr>Reservoir DDMS Solution</vt:lpstr>
      <vt:lpstr>Example of seismic horizon </vt:lpstr>
      <vt:lpstr>SeismicHorizon components - definitions</vt:lpstr>
      <vt:lpstr>PowerPoint Presentation</vt:lpstr>
      <vt:lpstr>PowerPoint Presentation</vt:lpstr>
      <vt:lpstr>Demo Interoperability (F2F Edinburgh 2024)</vt:lpstr>
      <vt:lpstr>Demo: SeismicHorizons in RDDMS, RESQML2.2 json, 3 options</vt:lpstr>
      <vt:lpstr>Multi-survey picking</vt:lpstr>
      <vt:lpstr>Multi-survey picking and link to stratigraphic column</vt:lpstr>
      <vt:lpstr>PowerPoint Presentation</vt:lpstr>
      <vt:lpstr>Remarks</vt:lpstr>
      <vt:lpstr>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Laurent Deny</dc:creator>
  <cp:lastModifiedBy>Marcus Apel</cp:lastModifiedBy>
  <cp:revision>22</cp:revision>
  <cp:lastPrinted>2020-06-04T09:11:35Z</cp:lastPrinted>
  <dcterms:created xsi:type="dcterms:W3CDTF">2020-06-04T03:00:24Z</dcterms:created>
  <dcterms:modified xsi:type="dcterms:W3CDTF">2025-02-06T12:53:36Z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0x010100F5D7D6F0EA4A5B41AD43F4405045C85C</vt:lpwstr>
  </property>
</Properties>
</file>